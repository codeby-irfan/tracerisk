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Our project is TraceRisk, a travel-awareness tool for India. It brings local reports and weather into one briefing for a chosen destination and travel dates. The goal is to make trip research easier and help travellers prepare. I will briefly explain the problem, show how the product works and share our proposed hotel-ad business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planning a trip, people check several websites for local news, transport problems and weather. It takes time to decide which updates apply to the exact place and dates. TraceRisk brings that information into one trip briefing. It includes source links and shows what information is missing, so an empty result is not mistaken for an all-clear.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the product takes three steps. Enter a destination and travel dates. Confirm the correct city and state. Then run the check and read the findings and their sources. This is the actual planning screen. Users can also save trip plans in their browser and download a briefing. For a demo, show this flow and discuss collection coverage before individual findings. A live scan depends on working provider access; if it fails, explain the message honestly.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TinyFish searches for and extracts travel-relevant reports. Open-Meteo supplies location and forecast data. Gemini reviews the evidence, with optional Groq or a labelled rules-based fallback. The app presents findings, source links and coverage gaps. React and Vite power the interface, and Node with Express powers the backend. The key idea is transparent travel context: a score is a planning signal, not a probability of harm or a safety guarantee.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proposed business model is sponsored hotel listings. Hotels could pay a monthly placement fee to reach travellers planning that destination. Promotions should appear only after fresh and adequate evidence checks, and be hidden when information is weak or warning signals appear. This eligibility policy needs validation before launch; it cannot certify a destination or hotel as safe. Every ad must be labelled, and payment must never affect findings. As hypothetical gross revenue, ten hotels paying one thousand rupees per month would bring ten thousand rupees before API, hosting and other costs. Ads and bookings are not implemented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step is to test usefulness with travellers, improve local-language reporting and source freshness, and explore a small hotel-ad pilot. These are plans, not existing customers or partnerships. TraceRisk is a working travel-awareness prototype, and we want feedback on both its usefulness and its business model. Thank you. I am happy to answer questions or show the product. Presenter preparation: official Azinhack 2026 slide requirements were not supplied or independently verified; this short explanation follows the repository project brief.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4ED"/>
        </a:solidFill>
        <a:effectLst/>
      </p:bgPr>
    </p:bg>
    <p:spTree>
      <p:nvGrpSpPr>
        <p:cNvPr id="1" name=""/>
        <p:cNvGrpSpPr/>
        <p:nvPr/>
      </p:nvGrpSpPr>
      <p:grpSpPr/>
      <p:sp>
        <p:nvSpPr>
          <p:cNvPr id="2" name="TextBox 1"/>
          <p:cNvSpPr txBox="1"/>
          <p:nvPr/>
        </p:nvSpPr>
        <p:spPr>
          <a:xfrm>
            <a:off x="731520" y="329184"/>
            <a:ext cx="9144000" cy="274320"/>
          </a:xfrm>
          <a:prstGeom prst="rect">
            <a:avLst/>
          </a:prstGeom>
          <a:noFill/>
        </p:spPr>
        <p:txBody>
          <a:bodyPr wrap="square" lIns="9144" rIns="9144" tIns="9144" bIns="9144">
            <a:spAutoFit/>
          </a:bodyPr>
          <a:lstStyle/>
          <a:p>
            <a:pPr>
              <a:lnSpc>
                <a:spcPct val="108000"/>
              </a:lnSpc>
              <a:spcAft>
                <a:spcPts val="0"/>
              </a:spcAft>
              <a:defRPr sz="1200" b="0">
                <a:solidFill>
                  <a:srgbClr val="657268"/>
                </a:solidFill>
                <a:latin typeface="Liberation Sans"/>
              </a:defRPr>
            </a:pPr>
            <a:r>
              <a:t>TraceRisk  /  Azinhack 2026</a:t>
            </a:r>
          </a:p>
        </p:txBody>
      </p:sp>
      <p:cxnSp>
        <p:nvCxnSpPr>
          <p:cNvPr id="3" name="Connector 2"/>
          <p:cNvCxnSpPr/>
          <p:nvPr/>
        </p:nvCxnSpPr>
        <p:spPr>
          <a:xfrm>
            <a:off x="749808" y="6345936"/>
            <a:ext cx="10698480" cy="0"/>
          </a:xfrm>
          <a:prstGeom prst="line">
            <a:avLst/>
          </a:prstGeom>
          <a:ln w="12700">
            <a:solidFill>
              <a:srgbClr val="DADDCE"/>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749808" y="6473952"/>
            <a:ext cx="914400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The travel field guide for India</a:t>
            </a:r>
          </a:p>
        </p:txBody>
      </p:sp>
      <p:sp>
        <p:nvSpPr>
          <p:cNvPr id="5" name="TextBox 4"/>
          <p:cNvSpPr txBox="1"/>
          <p:nvPr/>
        </p:nvSpPr>
        <p:spPr>
          <a:xfrm>
            <a:off x="10917936" y="6473952"/>
            <a:ext cx="64008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1 / 6</a:t>
            </a:r>
          </a:p>
        </p:txBody>
      </p:sp>
      <p:sp>
        <p:nvSpPr>
          <p:cNvPr id="6" name="TextBox 5"/>
          <p:cNvSpPr txBox="1"/>
          <p:nvPr/>
        </p:nvSpPr>
        <p:spPr>
          <a:xfrm>
            <a:off x="731520" y="1828800"/>
            <a:ext cx="10607040" cy="1051560"/>
          </a:xfrm>
          <a:prstGeom prst="rect">
            <a:avLst/>
          </a:prstGeom>
          <a:noFill/>
        </p:spPr>
        <p:txBody>
          <a:bodyPr wrap="square" lIns="9144" rIns="9144" tIns="9144" bIns="9144">
            <a:spAutoFit/>
          </a:bodyPr>
          <a:lstStyle/>
          <a:p>
            <a:pPr>
              <a:lnSpc>
                <a:spcPct val="108000"/>
              </a:lnSpc>
              <a:spcAft>
                <a:spcPts val="0"/>
              </a:spcAft>
              <a:defRPr sz="6800" b="0">
                <a:solidFill>
                  <a:srgbClr val="23392F"/>
                </a:solidFill>
                <a:latin typeface="Liberation Serif"/>
              </a:defRPr>
            </a:pPr>
            <a:r>
              <a:t>TraceRisk</a:t>
            </a:r>
          </a:p>
        </p:txBody>
      </p:sp>
      <p:sp>
        <p:nvSpPr>
          <p:cNvPr id="7" name="TextBox 6"/>
          <p:cNvSpPr txBox="1"/>
          <p:nvPr/>
        </p:nvSpPr>
        <p:spPr>
          <a:xfrm>
            <a:off x="768096" y="3182112"/>
            <a:ext cx="10424160" cy="731520"/>
          </a:xfrm>
          <a:prstGeom prst="rect">
            <a:avLst/>
          </a:prstGeom>
          <a:noFill/>
        </p:spPr>
        <p:txBody>
          <a:bodyPr wrap="square" lIns="9144" rIns="9144" tIns="9144" bIns="9144">
            <a:spAutoFit/>
          </a:bodyPr>
          <a:lstStyle/>
          <a:p>
            <a:pPr>
              <a:lnSpc>
                <a:spcPct val="108000"/>
              </a:lnSpc>
              <a:spcAft>
                <a:spcPts val="0"/>
              </a:spcAft>
              <a:defRPr sz="3700" b="0">
                <a:solidFill>
                  <a:srgbClr val="264B3A"/>
                </a:solidFill>
                <a:latin typeface="Liberation Serif"/>
              </a:defRPr>
            </a:pPr>
            <a:r>
              <a:t>Know before you go.</a:t>
            </a:r>
          </a:p>
        </p:txBody>
      </p:sp>
      <p:sp>
        <p:nvSpPr>
          <p:cNvPr id="8" name="TextBox 7"/>
          <p:cNvSpPr txBox="1"/>
          <p:nvPr/>
        </p:nvSpPr>
        <p:spPr>
          <a:xfrm>
            <a:off x="777240" y="4343400"/>
            <a:ext cx="10424160" cy="731520"/>
          </a:xfrm>
          <a:prstGeom prst="rect">
            <a:avLst/>
          </a:prstGeom>
          <a:noFill/>
        </p:spPr>
        <p:txBody>
          <a:bodyPr wrap="square" lIns="9144" rIns="9144" tIns="9144" bIns="9144">
            <a:spAutoFit/>
          </a:bodyPr>
          <a:lstStyle/>
          <a:p>
            <a:pPr>
              <a:lnSpc>
                <a:spcPct val="108000"/>
              </a:lnSpc>
              <a:spcAft>
                <a:spcPts val="0"/>
              </a:spcAft>
              <a:defRPr sz="2600" b="0">
                <a:solidFill>
                  <a:srgbClr val="657268"/>
                </a:solidFill>
                <a:latin typeface="Liberation Sans"/>
              </a:defRPr>
            </a:pPr>
            <a:r>
              <a:t>Local reports and weather for your next trip in India.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D"/>
        </a:solidFill>
        <a:effectLst/>
      </p:bgPr>
    </p:bg>
    <p:spTree>
      <p:nvGrpSpPr>
        <p:cNvPr id="1" name=""/>
        <p:cNvGrpSpPr/>
        <p:nvPr/>
      </p:nvGrpSpPr>
      <p:grpSpPr/>
      <p:sp>
        <p:nvSpPr>
          <p:cNvPr id="2" name="TextBox 1"/>
          <p:cNvSpPr txBox="1"/>
          <p:nvPr/>
        </p:nvSpPr>
        <p:spPr>
          <a:xfrm>
            <a:off x="731520" y="329184"/>
            <a:ext cx="9144000" cy="274320"/>
          </a:xfrm>
          <a:prstGeom prst="rect">
            <a:avLst/>
          </a:prstGeom>
          <a:noFill/>
        </p:spPr>
        <p:txBody>
          <a:bodyPr wrap="square" lIns="9144" rIns="9144" tIns="9144" bIns="9144">
            <a:spAutoFit/>
          </a:bodyPr>
          <a:lstStyle/>
          <a:p>
            <a:pPr>
              <a:lnSpc>
                <a:spcPct val="108000"/>
              </a:lnSpc>
              <a:spcAft>
                <a:spcPts val="0"/>
              </a:spcAft>
              <a:defRPr sz="1200" b="0">
                <a:solidFill>
                  <a:srgbClr val="657268"/>
                </a:solidFill>
                <a:latin typeface="Liberation Sans"/>
              </a:defRPr>
            </a:pPr>
            <a:r>
              <a:t>TraceRisk  /  Azinhack 2026</a:t>
            </a:r>
          </a:p>
        </p:txBody>
      </p:sp>
      <p:sp>
        <p:nvSpPr>
          <p:cNvPr id="3" name="TextBox 2"/>
          <p:cNvSpPr txBox="1"/>
          <p:nvPr/>
        </p:nvSpPr>
        <p:spPr>
          <a:xfrm>
            <a:off x="731520" y="987552"/>
            <a:ext cx="10698480" cy="722376"/>
          </a:xfrm>
          <a:prstGeom prst="rect">
            <a:avLst/>
          </a:prstGeom>
          <a:noFill/>
        </p:spPr>
        <p:txBody>
          <a:bodyPr wrap="square" lIns="9144" rIns="9144" tIns="9144" bIns="9144">
            <a:spAutoFit/>
          </a:bodyPr>
          <a:lstStyle/>
          <a:p>
            <a:pPr>
              <a:lnSpc>
                <a:spcPct val="108000"/>
              </a:lnSpc>
              <a:spcAft>
                <a:spcPts val="0"/>
              </a:spcAft>
              <a:defRPr sz="3900" b="0">
                <a:solidFill>
                  <a:srgbClr val="23392F"/>
                </a:solidFill>
                <a:latin typeface="Liberation Serif"/>
              </a:defRPr>
            </a:pPr>
            <a:r>
              <a:t>The problem and our solution</a:t>
            </a:r>
          </a:p>
        </p:txBody>
      </p:sp>
      <p:cxnSp>
        <p:nvCxnSpPr>
          <p:cNvPr id="4" name="Connector 3"/>
          <p:cNvCxnSpPr/>
          <p:nvPr/>
        </p:nvCxnSpPr>
        <p:spPr>
          <a:xfrm>
            <a:off x="749808" y="1856231"/>
            <a:ext cx="594360" cy="0"/>
          </a:xfrm>
          <a:prstGeom prst="line">
            <a:avLst/>
          </a:prstGeom>
          <a:ln w="25400">
            <a:solidFill>
              <a:srgbClr val="A8472E"/>
            </a:solidFill>
          </a:ln>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749808" y="6345936"/>
            <a:ext cx="10698480" cy="0"/>
          </a:xfrm>
          <a:prstGeom prst="line">
            <a:avLst/>
          </a:prstGeom>
          <a:ln w="12700">
            <a:solidFill>
              <a:srgbClr val="DADDCE"/>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749808" y="6473952"/>
            <a:ext cx="914400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The travel field guide for India</a:t>
            </a:r>
          </a:p>
        </p:txBody>
      </p:sp>
      <p:sp>
        <p:nvSpPr>
          <p:cNvPr id="7" name="TextBox 6"/>
          <p:cNvSpPr txBox="1"/>
          <p:nvPr/>
        </p:nvSpPr>
        <p:spPr>
          <a:xfrm>
            <a:off x="10917936" y="6473952"/>
            <a:ext cx="64008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2 / 6</a:t>
            </a:r>
          </a:p>
        </p:txBody>
      </p:sp>
      <p:sp>
        <p:nvSpPr>
          <p:cNvPr id="8" name="TextBox 7"/>
          <p:cNvSpPr txBox="1"/>
          <p:nvPr/>
        </p:nvSpPr>
        <p:spPr>
          <a:xfrm>
            <a:off x="777240" y="2395728"/>
            <a:ext cx="10515600" cy="438912"/>
          </a:xfrm>
          <a:prstGeom prst="rect">
            <a:avLst/>
          </a:prstGeom>
          <a:noFill/>
        </p:spPr>
        <p:txBody>
          <a:bodyPr wrap="square" lIns="9144" rIns="9144" tIns="9144" bIns="9144">
            <a:spAutoFit/>
          </a:bodyPr>
          <a:lstStyle/>
          <a:p>
            <a:pPr>
              <a:lnSpc>
                <a:spcPct val="108000"/>
              </a:lnSpc>
              <a:spcAft>
                <a:spcPts val="0"/>
              </a:spcAft>
              <a:defRPr sz="2500" b="1">
                <a:solidFill>
                  <a:srgbClr val="A8472E"/>
                </a:solidFill>
                <a:latin typeface="Liberation Sans"/>
              </a:defRPr>
            </a:pPr>
            <a:r>
              <a:t>The problem</a:t>
            </a:r>
          </a:p>
        </p:txBody>
      </p:sp>
      <p:sp>
        <p:nvSpPr>
          <p:cNvPr id="9" name="TextBox 8"/>
          <p:cNvSpPr txBox="1"/>
          <p:nvPr/>
        </p:nvSpPr>
        <p:spPr>
          <a:xfrm>
            <a:off x="777240" y="2971800"/>
            <a:ext cx="10515600" cy="1033271"/>
          </a:xfrm>
          <a:prstGeom prst="rect">
            <a:avLst/>
          </a:prstGeom>
          <a:noFill/>
        </p:spPr>
        <p:txBody>
          <a:bodyPr wrap="square" lIns="9144" rIns="9144" tIns="9144" bIns="9144">
            <a:spAutoFit/>
          </a:bodyPr>
          <a:lstStyle/>
          <a:p>
            <a:pPr>
              <a:lnSpc>
                <a:spcPct val="108000"/>
              </a:lnSpc>
              <a:spcAft>
                <a:spcPts val="0"/>
              </a:spcAft>
              <a:defRPr sz="2900" b="0">
                <a:solidFill>
                  <a:srgbClr val="23392F"/>
                </a:solidFill>
                <a:latin typeface="Liberation Sans"/>
              </a:defRPr>
            </a:pPr>
            <a:r>
              <a:t>Travel updates are scattered across news,</a:t>
            </a:r>
          </a:p>
          <a:p>
            <a:pPr>
              <a:lnSpc>
                <a:spcPct val="108000"/>
              </a:lnSpc>
              <a:spcAft>
                <a:spcPts val="0"/>
              </a:spcAft>
              <a:defRPr sz="2900" b="0">
                <a:solidFill>
                  <a:srgbClr val="23392F"/>
                </a:solidFill>
                <a:latin typeface="Liberation Sans"/>
              </a:defRPr>
            </a:pPr>
            <a:r>
              <a:t>weather sites and official notices.</a:t>
            </a:r>
          </a:p>
        </p:txBody>
      </p:sp>
      <p:sp>
        <p:nvSpPr>
          <p:cNvPr id="10" name="TextBox 9"/>
          <p:cNvSpPr txBox="1"/>
          <p:nvPr/>
        </p:nvSpPr>
        <p:spPr>
          <a:xfrm>
            <a:off x="777240" y="4416552"/>
            <a:ext cx="10515600" cy="438912"/>
          </a:xfrm>
          <a:prstGeom prst="rect">
            <a:avLst/>
          </a:prstGeom>
          <a:noFill/>
        </p:spPr>
        <p:txBody>
          <a:bodyPr wrap="square" lIns="9144" rIns="9144" tIns="9144" bIns="9144">
            <a:spAutoFit/>
          </a:bodyPr>
          <a:lstStyle/>
          <a:p>
            <a:pPr>
              <a:lnSpc>
                <a:spcPct val="108000"/>
              </a:lnSpc>
              <a:spcAft>
                <a:spcPts val="0"/>
              </a:spcAft>
              <a:defRPr sz="2500" b="1">
                <a:solidFill>
                  <a:srgbClr val="264B3A"/>
                </a:solidFill>
                <a:latin typeface="Liberation Sans"/>
              </a:defRPr>
            </a:pPr>
            <a:r>
              <a:t>Our solution</a:t>
            </a:r>
          </a:p>
        </p:txBody>
      </p:sp>
      <p:sp>
        <p:nvSpPr>
          <p:cNvPr id="11" name="TextBox 10"/>
          <p:cNvSpPr txBox="1"/>
          <p:nvPr/>
        </p:nvSpPr>
        <p:spPr>
          <a:xfrm>
            <a:off x="777240" y="5010912"/>
            <a:ext cx="10515600" cy="786384"/>
          </a:xfrm>
          <a:prstGeom prst="rect">
            <a:avLst/>
          </a:prstGeom>
          <a:noFill/>
        </p:spPr>
        <p:txBody>
          <a:bodyPr wrap="square" lIns="9144" rIns="9144" tIns="9144" bIns="9144">
            <a:spAutoFit/>
          </a:bodyPr>
          <a:lstStyle/>
          <a:p>
            <a:pPr>
              <a:lnSpc>
                <a:spcPct val="108000"/>
              </a:lnSpc>
              <a:spcAft>
                <a:spcPts val="0"/>
              </a:spcAft>
              <a:defRPr sz="2900" b="0">
                <a:solidFill>
                  <a:srgbClr val="23392F"/>
                </a:solidFill>
                <a:latin typeface="Liberation Sans"/>
              </a:defRPr>
            </a:pPr>
            <a:r>
              <a:t>One trip briefing—with sources and information gaps.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D"/>
        </a:solidFill>
        <a:effectLst/>
      </p:bgPr>
    </p:bg>
    <p:spTree>
      <p:nvGrpSpPr>
        <p:cNvPr id="1" name=""/>
        <p:cNvGrpSpPr/>
        <p:nvPr/>
      </p:nvGrpSpPr>
      <p:grpSpPr/>
      <p:sp>
        <p:nvSpPr>
          <p:cNvPr id="2" name="TextBox 1"/>
          <p:cNvSpPr txBox="1"/>
          <p:nvPr/>
        </p:nvSpPr>
        <p:spPr>
          <a:xfrm>
            <a:off x="731520" y="329184"/>
            <a:ext cx="9144000" cy="274320"/>
          </a:xfrm>
          <a:prstGeom prst="rect">
            <a:avLst/>
          </a:prstGeom>
          <a:noFill/>
        </p:spPr>
        <p:txBody>
          <a:bodyPr wrap="square" lIns="9144" rIns="9144" tIns="9144" bIns="9144">
            <a:spAutoFit/>
          </a:bodyPr>
          <a:lstStyle/>
          <a:p>
            <a:pPr>
              <a:lnSpc>
                <a:spcPct val="108000"/>
              </a:lnSpc>
              <a:spcAft>
                <a:spcPts val="0"/>
              </a:spcAft>
              <a:defRPr sz="1200" b="0">
                <a:solidFill>
                  <a:srgbClr val="657268"/>
                </a:solidFill>
                <a:latin typeface="Liberation Sans"/>
              </a:defRPr>
            </a:pPr>
            <a:r>
              <a:t>TraceRisk  /  Azinhack 2026</a:t>
            </a:r>
          </a:p>
        </p:txBody>
      </p:sp>
      <p:sp>
        <p:nvSpPr>
          <p:cNvPr id="3" name="TextBox 2"/>
          <p:cNvSpPr txBox="1"/>
          <p:nvPr/>
        </p:nvSpPr>
        <p:spPr>
          <a:xfrm>
            <a:off x="731520" y="987552"/>
            <a:ext cx="10698480" cy="722376"/>
          </a:xfrm>
          <a:prstGeom prst="rect">
            <a:avLst/>
          </a:prstGeom>
          <a:noFill/>
        </p:spPr>
        <p:txBody>
          <a:bodyPr wrap="square" lIns="9144" rIns="9144" tIns="9144" bIns="9144">
            <a:spAutoFit/>
          </a:bodyPr>
          <a:lstStyle/>
          <a:p>
            <a:pPr>
              <a:lnSpc>
                <a:spcPct val="108000"/>
              </a:lnSpc>
              <a:spcAft>
                <a:spcPts val="0"/>
              </a:spcAft>
              <a:defRPr sz="3900" b="0">
                <a:solidFill>
                  <a:srgbClr val="23392F"/>
                </a:solidFill>
                <a:latin typeface="Liberation Serif"/>
              </a:defRPr>
            </a:pPr>
            <a:r>
              <a:t>How a traveller uses it</a:t>
            </a:r>
          </a:p>
        </p:txBody>
      </p:sp>
      <p:cxnSp>
        <p:nvCxnSpPr>
          <p:cNvPr id="4" name="Connector 3"/>
          <p:cNvCxnSpPr/>
          <p:nvPr/>
        </p:nvCxnSpPr>
        <p:spPr>
          <a:xfrm>
            <a:off x="749808" y="1856231"/>
            <a:ext cx="594360" cy="0"/>
          </a:xfrm>
          <a:prstGeom prst="line">
            <a:avLst/>
          </a:prstGeom>
          <a:ln w="25400">
            <a:solidFill>
              <a:srgbClr val="A8472E"/>
            </a:solidFill>
          </a:ln>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749808" y="6345936"/>
            <a:ext cx="10698480" cy="0"/>
          </a:xfrm>
          <a:prstGeom prst="line">
            <a:avLst/>
          </a:prstGeom>
          <a:ln w="12700">
            <a:solidFill>
              <a:srgbClr val="DADDCE"/>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749808" y="6473952"/>
            <a:ext cx="914400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The travel field guide for India</a:t>
            </a:r>
          </a:p>
        </p:txBody>
      </p:sp>
      <p:sp>
        <p:nvSpPr>
          <p:cNvPr id="7" name="TextBox 6"/>
          <p:cNvSpPr txBox="1"/>
          <p:nvPr/>
        </p:nvSpPr>
        <p:spPr>
          <a:xfrm>
            <a:off x="10917936" y="6473952"/>
            <a:ext cx="64008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3 / 6</a:t>
            </a:r>
          </a:p>
        </p:txBody>
      </p:sp>
      <p:sp>
        <p:nvSpPr>
          <p:cNvPr id="8" name="Rectangle 7"/>
          <p:cNvSpPr/>
          <p:nvPr/>
        </p:nvSpPr>
        <p:spPr>
          <a:xfrm>
            <a:off x="777240" y="2423160"/>
            <a:ext cx="6473952" cy="3218688"/>
          </a:xfrm>
          <a:prstGeom prst="rect">
            <a:avLst/>
          </a:prstGeom>
          <a:noFill/>
          <a:ln>
            <a:solidFill>
              <a:srgbClr val="DADDCE"/>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desktop-light.png"/>
          <p:cNvPicPr>
            <a:picLocks noChangeAspect="1"/>
          </p:cNvPicPr>
          <p:nvPr/>
        </p:nvPicPr>
        <p:blipFill>
          <a:blip r:embed="rId2"/>
          <a:srcRect l="4000" r="4000" t="34500" b="22500"/>
          <a:stretch>
            <a:fillRect/>
          </a:stretch>
        </p:blipFill>
        <p:spPr>
          <a:xfrm>
            <a:off x="804672" y="2450592"/>
            <a:ext cx="6419088" cy="3163824"/>
          </a:xfrm>
          <a:prstGeom prst="rect">
            <a:avLst/>
          </a:prstGeom>
        </p:spPr>
      </p:pic>
      <p:sp>
        <p:nvSpPr>
          <p:cNvPr id="10" name="TextBox 9"/>
          <p:cNvSpPr txBox="1"/>
          <p:nvPr/>
        </p:nvSpPr>
        <p:spPr>
          <a:xfrm>
            <a:off x="7680960" y="2423160"/>
            <a:ext cx="3657600" cy="438912"/>
          </a:xfrm>
          <a:prstGeom prst="rect">
            <a:avLst/>
          </a:prstGeom>
          <a:noFill/>
        </p:spPr>
        <p:txBody>
          <a:bodyPr wrap="square" lIns="9144" rIns="9144" tIns="9144" bIns="9144">
            <a:spAutoFit/>
          </a:bodyPr>
          <a:lstStyle/>
          <a:p>
            <a:pPr>
              <a:lnSpc>
                <a:spcPct val="108000"/>
              </a:lnSpc>
              <a:spcAft>
                <a:spcPts val="0"/>
              </a:spcAft>
              <a:defRPr sz="2700" b="0">
                <a:solidFill>
                  <a:srgbClr val="264B3A"/>
                </a:solidFill>
                <a:latin typeface="Liberation Serif"/>
              </a:defRPr>
            </a:pPr>
            <a:r>
              <a:t>1. Plan</a:t>
            </a:r>
          </a:p>
        </p:txBody>
      </p:sp>
      <p:sp>
        <p:nvSpPr>
          <p:cNvPr id="11" name="TextBox 10"/>
          <p:cNvSpPr txBox="1"/>
          <p:nvPr/>
        </p:nvSpPr>
        <p:spPr>
          <a:xfrm>
            <a:off x="7680960" y="2980944"/>
            <a:ext cx="3657600" cy="603504"/>
          </a:xfrm>
          <a:prstGeom prst="rect">
            <a:avLst/>
          </a:prstGeom>
          <a:noFill/>
        </p:spPr>
        <p:txBody>
          <a:bodyPr wrap="square" lIns="9144" rIns="9144" tIns="9144" bIns="9144">
            <a:spAutoFit/>
          </a:bodyPr>
          <a:lstStyle/>
          <a:p>
            <a:pPr>
              <a:lnSpc>
                <a:spcPct val="108000"/>
              </a:lnSpc>
              <a:spcAft>
                <a:spcPts val="0"/>
              </a:spcAft>
              <a:defRPr sz="2100" b="0">
                <a:solidFill>
                  <a:srgbClr val="657268"/>
                </a:solidFill>
                <a:latin typeface="Liberation Sans"/>
              </a:defRPr>
            </a:pPr>
            <a:r>
              <a:t>Choose a place and dates.</a:t>
            </a:r>
          </a:p>
        </p:txBody>
      </p:sp>
      <p:sp>
        <p:nvSpPr>
          <p:cNvPr id="12" name="TextBox 11"/>
          <p:cNvSpPr txBox="1"/>
          <p:nvPr/>
        </p:nvSpPr>
        <p:spPr>
          <a:xfrm>
            <a:off x="7680960" y="3520439"/>
            <a:ext cx="3657600" cy="438912"/>
          </a:xfrm>
          <a:prstGeom prst="rect">
            <a:avLst/>
          </a:prstGeom>
          <a:noFill/>
        </p:spPr>
        <p:txBody>
          <a:bodyPr wrap="square" lIns="9144" rIns="9144" tIns="9144" bIns="9144">
            <a:spAutoFit/>
          </a:bodyPr>
          <a:lstStyle/>
          <a:p>
            <a:pPr>
              <a:lnSpc>
                <a:spcPct val="108000"/>
              </a:lnSpc>
              <a:spcAft>
                <a:spcPts val="0"/>
              </a:spcAft>
              <a:defRPr sz="2700" b="0">
                <a:solidFill>
                  <a:srgbClr val="264B3A"/>
                </a:solidFill>
                <a:latin typeface="Liberation Serif"/>
              </a:defRPr>
            </a:pPr>
            <a:r>
              <a:t>2. Confirm</a:t>
            </a:r>
          </a:p>
        </p:txBody>
      </p:sp>
      <p:sp>
        <p:nvSpPr>
          <p:cNvPr id="13" name="TextBox 12"/>
          <p:cNvSpPr txBox="1"/>
          <p:nvPr/>
        </p:nvSpPr>
        <p:spPr>
          <a:xfrm>
            <a:off x="7680960" y="4078224"/>
            <a:ext cx="3657600" cy="603504"/>
          </a:xfrm>
          <a:prstGeom prst="rect">
            <a:avLst/>
          </a:prstGeom>
          <a:noFill/>
        </p:spPr>
        <p:txBody>
          <a:bodyPr wrap="square" lIns="9144" rIns="9144" tIns="9144" bIns="9144">
            <a:spAutoFit/>
          </a:bodyPr>
          <a:lstStyle/>
          <a:p>
            <a:pPr>
              <a:lnSpc>
                <a:spcPct val="108000"/>
              </a:lnSpc>
              <a:spcAft>
                <a:spcPts val="0"/>
              </a:spcAft>
              <a:defRPr sz="2100" b="0">
                <a:solidFill>
                  <a:srgbClr val="657268"/>
                </a:solidFill>
                <a:latin typeface="Liberation Sans"/>
              </a:defRPr>
            </a:pPr>
            <a:r>
              <a:t>Select the correct city/state.</a:t>
            </a:r>
          </a:p>
        </p:txBody>
      </p:sp>
      <p:sp>
        <p:nvSpPr>
          <p:cNvPr id="14" name="TextBox 13"/>
          <p:cNvSpPr txBox="1"/>
          <p:nvPr/>
        </p:nvSpPr>
        <p:spPr>
          <a:xfrm>
            <a:off x="7680960" y="4617720"/>
            <a:ext cx="3657600" cy="438912"/>
          </a:xfrm>
          <a:prstGeom prst="rect">
            <a:avLst/>
          </a:prstGeom>
          <a:noFill/>
        </p:spPr>
        <p:txBody>
          <a:bodyPr wrap="square" lIns="9144" rIns="9144" tIns="9144" bIns="9144">
            <a:spAutoFit/>
          </a:bodyPr>
          <a:lstStyle/>
          <a:p>
            <a:pPr>
              <a:lnSpc>
                <a:spcPct val="108000"/>
              </a:lnSpc>
              <a:spcAft>
                <a:spcPts val="0"/>
              </a:spcAft>
              <a:defRPr sz="2700" b="0">
                <a:solidFill>
                  <a:srgbClr val="264B3A"/>
                </a:solidFill>
                <a:latin typeface="Liberation Serif"/>
              </a:defRPr>
            </a:pPr>
            <a:r>
              <a:t>3. Review</a:t>
            </a:r>
          </a:p>
        </p:txBody>
      </p:sp>
      <p:sp>
        <p:nvSpPr>
          <p:cNvPr id="15" name="TextBox 14"/>
          <p:cNvSpPr txBox="1"/>
          <p:nvPr/>
        </p:nvSpPr>
        <p:spPr>
          <a:xfrm>
            <a:off x="7680960" y="5175504"/>
            <a:ext cx="3657600" cy="603504"/>
          </a:xfrm>
          <a:prstGeom prst="rect">
            <a:avLst/>
          </a:prstGeom>
          <a:noFill/>
        </p:spPr>
        <p:txBody>
          <a:bodyPr wrap="square" lIns="9144" rIns="9144" tIns="9144" bIns="9144">
            <a:spAutoFit/>
          </a:bodyPr>
          <a:lstStyle/>
          <a:p>
            <a:pPr>
              <a:lnSpc>
                <a:spcPct val="108000"/>
              </a:lnSpc>
              <a:spcAft>
                <a:spcPts val="0"/>
              </a:spcAft>
              <a:defRPr sz="2100" b="0">
                <a:solidFill>
                  <a:srgbClr val="657268"/>
                </a:solidFill>
                <a:latin typeface="Liberation Sans"/>
              </a:defRPr>
            </a:pPr>
            <a:r>
              <a:t>Read findings and sources.</a:t>
            </a:r>
          </a:p>
        </p:txBody>
      </p:sp>
      <p:sp>
        <p:nvSpPr>
          <p:cNvPr id="16" name="TextBox 15"/>
          <p:cNvSpPr txBox="1"/>
          <p:nvPr/>
        </p:nvSpPr>
        <p:spPr>
          <a:xfrm>
            <a:off x="786384" y="5806440"/>
            <a:ext cx="9144000" cy="274320"/>
          </a:xfrm>
          <a:prstGeom prst="rect">
            <a:avLst/>
          </a:prstGeom>
          <a:noFill/>
        </p:spPr>
        <p:txBody>
          <a:bodyPr wrap="square" lIns="9144" rIns="9144" tIns="9144" bIns="9144">
            <a:spAutoFit/>
          </a:bodyPr>
          <a:lstStyle/>
          <a:p>
            <a:pPr>
              <a:lnSpc>
                <a:spcPct val="108000"/>
              </a:lnSpc>
              <a:spcAft>
                <a:spcPts val="0"/>
              </a:spcAft>
              <a:defRPr sz="1200" b="0">
                <a:solidFill>
                  <a:srgbClr val="657268"/>
                </a:solidFill>
                <a:latin typeface="Liberation Sans"/>
              </a:defRPr>
            </a:pPr>
            <a:r>
              <a:t>Actual planning screen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D"/>
        </a:solidFill>
        <a:effectLst/>
      </p:bgPr>
    </p:bg>
    <p:spTree>
      <p:nvGrpSpPr>
        <p:cNvPr id="1" name=""/>
        <p:cNvGrpSpPr/>
        <p:nvPr/>
      </p:nvGrpSpPr>
      <p:grpSpPr/>
      <p:sp>
        <p:nvSpPr>
          <p:cNvPr id="2" name="TextBox 1"/>
          <p:cNvSpPr txBox="1"/>
          <p:nvPr/>
        </p:nvSpPr>
        <p:spPr>
          <a:xfrm>
            <a:off x="731520" y="329184"/>
            <a:ext cx="9144000" cy="274320"/>
          </a:xfrm>
          <a:prstGeom prst="rect">
            <a:avLst/>
          </a:prstGeom>
          <a:noFill/>
        </p:spPr>
        <p:txBody>
          <a:bodyPr wrap="square" lIns="9144" rIns="9144" tIns="9144" bIns="9144">
            <a:spAutoFit/>
          </a:bodyPr>
          <a:lstStyle/>
          <a:p>
            <a:pPr>
              <a:lnSpc>
                <a:spcPct val="108000"/>
              </a:lnSpc>
              <a:spcAft>
                <a:spcPts val="0"/>
              </a:spcAft>
              <a:defRPr sz="1200" b="0">
                <a:solidFill>
                  <a:srgbClr val="657268"/>
                </a:solidFill>
                <a:latin typeface="Liberation Sans"/>
              </a:defRPr>
            </a:pPr>
            <a:r>
              <a:t>TraceRisk  /  Azinhack 2026</a:t>
            </a:r>
          </a:p>
        </p:txBody>
      </p:sp>
      <p:sp>
        <p:nvSpPr>
          <p:cNvPr id="3" name="TextBox 2"/>
          <p:cNvSpPr txBox="1"/>
          <p:nvPr/>
        </p:nvSpPr>
        <p:spPr>
          <a:xfrm>
            <a:off x="731520" y="987552"/>
            <a:ext cx="10698480" cy="722376"/>
          </a:xfrm>
          <a:prstGeom prst="rect">
            <a:avLst/>
          </a:prstGeom>
          <a:noFill/>
        </p:spPr>
        <p:txBody>
          <a:bodyPr wrap="square" lIns="9144" rIns="9144" tIns="9144" bIns="9144">
            <a:spAutoFit/>
          </a:bodyPr>
          <a:lstStyle/>
          <a:p>
            <a:pPr>
              <a:lnSpc>
                <a:spcPct val="108000"/>
              </a:lnSpc>
              <a:spcAft>
                <a:spcPts val="0"/>
              </a:spcAft>
              <a:defRPr sz="3900" b="0">
                <a:solidFill>
                  <a:srgbClr val="23392F"/>
                </a:solidFill>
                <a:latin typeface="Liberation Serif"/>
              </a:defRPr>
            </a:pPr>
            <a:r>
              <a:t>How it works</a:t>
            </a:r>
          </a:p>
        </p:txBody>
      </p:sp>
      <p:cxnSp>
        <p:nvCxnSpPr>
          <p:cNvPr id="4" name="Connector 3"/>
          <p:cNvCxnSpPr/>
          <p:nvPr/>
        </p:nvCxnSpPr>
        <p:spPr>
          <a:xfrm>
            <a:off x="749808" y="1856231"/>
            <a:ext cx="594360" cy="0"/>
          </a:xfrm>
          <a:prstGeom prst="line">
            <a:avLst/>
          </a:prstGeom>
          <a:ln w="25400">
            <a:solidFill>
              <a:srgbClr val="A8472E"/>
            </a:solidFill>
          </a:ln>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749808" y="6345936"/>
            <a:ext cx="10698480" cy="0"/>
          </a:xfrm>
          <a:prstGeom prst="line">
            <a:avLst/>
          </a:prstGeom>
          <a:ln w="12700">
            <a:solidFill>
              <a:srgbClr val="DADDCE"/>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749808" y="6473952"/>
            <a:ext cx="914400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The travel field guide for India</a:t>
            </a:r>
          </a:p>
        </p:txBody>
      </p:sp>
      <p:sp>
        <p:nvSpPr>
          <p:cNvPr id="7" name="TextBox 6"/>
          <p:cNvSpPr txBox="1"/>
          <p:nvPr/>
        </p:nvSpPr>
        <p:spPr>
          <a:xfrm>
            <a:off x="10917936" y="6473952"/>
            <a:ext cx="64008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4 / 6</a:t>
            </a:r>
          </a:p>
        </p:txBody>
      </p:sp>
      <p:sp>
        <p:nvSpPr>
          <p:cNvPr id="8" name="TextBox 7"/>
          <p:cNvSpPr txBox="1"/>
          <p:nvPr/>
        </p:nvSpPr>
        <p:spPr>
          <a:xfrm>
            <a:off x="786384" y="2331720"/>
            <a:ext cx="1828800" cy="502920"/>
          </a:xfrm>
          <a:prstGeom prst="rect">
            <a:avLst/>
          </a:prstGeom>
          <a:noFill/>
        </p:spPr>
        <p:txBody>
          <a:bodyPr wrap="square" lIns="9144" rIns="9144" tIns="9144" bIns="9144">
            <a:spAutoFit/>
          </a:bodyPr>
          <a:lstStyle/>
          <a:p>
            <a:pPr>
              <a:lnSpc>
                <a:spcPct val="108000"/>
              </a:lnSpc>
              <a:spcAft>
                <a:spcPts val="0"/>
              </a:spcAft>
              <a:defRPr sz="2800" b="0">
                <a:solidFill>
                  <a:srgbClr val="264B3A"/>
                </a:solidFill>
                <a:latin typeface="Liberation Serif"/>
              </a:defRPr>
            </a:pPr>
            <a:r>
              <a:t>Collect</a:t>
            </a:r>
          </a:p>
        </p:txBody>
      </p:sp>
      <p:sp>
        <p:nvSpPr>
          <p:cNvPr id="9" name="TextBox 8"/>
          <p:cNvSpPr txBox="1"/>
          <p:nvPr/>
        </p:nvSpPr>
        <p:spPr>
          <a:xfrm>
            <a:off x="2761488" y="2368296"/>
            <a:ext cx="8503920" cy="676656"/>
          </a:xfrm>
          <a:prstGeom prst="rect">
            <a:avLst/>
          </a:prstGeom>
          <a:noFill/>
        </p:spPr>
        <p:txBody>
          <a:bodyPr wrap="square" lIns="9144" rIns="9144" tIns="9144" bIns="9144">
            <a:spAutoFit/>
          </a:bodyPr>
          <a:lstStyle/>
          <a:p>
            <a:pPr>
              <a:lnSpc>
                <a:spcPct val="108000"/>
              </a:lnSpc>
              <a:spcAft>
                <a:spcPts val="0"/>
              </a:spcAft>
              <a:defRPr sz="2400" b="0">
                <a:solidFill>
                  <a:srgbClr val="23392F"/>
                </a:solidFill>
                <a:latin typeface="Liberation Sans"/>
              </a:defRPr>
            </a:pPr>
            <a:r>
              <a:t>TinyFish collects reports; Open-Meteo supplies forecasts.</a:t>
            </a:r>
          </a:p>
        </p:txBody>
      </p:sp>
      <p:sp>
        <p:nvSpPr>
          <p:cNvPr id="10" name="TextBox 9"/>
          <p:cNvSpPr txBox="1"/>
          <p:nvPr/>
        </p:nvSpPr>
        <p:spPr>
          <a:xfrm>
            <a:off x="786384" y="3319272"/>
            <a:ext cx="1828800" cy="502920"/>
          </a:xfrm>
          <a:prstGeom prst="rect">
            <a:avLst/>
          </a:prstGeom>
          <a:noFill/>
        </p:spPr>
        <p:txBody>
          <a:bodyPr wrap="square" lIns="9144" rIns="9144" tIns="9144" bIns="9144">
            <a:spAutoFit/>
          </a:bodyPr>
          <a:lstStyle/>
          <a:p>
            <a:pPr>
              <a:lnSpc>
                <a:spcPct val="108000"/>
              </a:lnSpc>
              <a:spcAft>
                <a:spcPts val="0"/>
              </a:spcAft>
              <a:defRPr sz="2800" b="0">
                <a:solidFill>
                  <a:srgbClr val="264B3A"/>
                </a:solidFill>
                <a:latin typeface="Liberation Serif"/>
              </a:defRPr>
            </a:pPr>
            <a:r>
              <a:t>Review</a:t>
            </a:r>
          </a:p>
        </p:txBody>
      </p:sp>
      <p:sp>
        <p:nvSpPr>
          <p:cNvPr id="11" name="TextBox 10"/>
          <p:cNvSpPr txBox="1"/>
          <p:nvPr/>
        </p:nvSpPr>
        <p:spPr>
          <a:xfrm>
            <a:off x="2761488" y="3355848"/>
            <a:ext cx="8503920" cy="676656"/>
          </a:xfrm>
          <a:prstGeom prst="rect">
            <a:avLst/>
          </a:prstGeom>
          <a:noFill/>
        </p:spPr>
        <p:txBody>
          <a:bodyPr wrap="square" lIns="9144" rIns="9144" tIns="9144" bIns="9144">
            <a:spAutoFit/>
          </a:bodyPr>
          <a:lstStyle/>
          <a:p>
            <a:pPr>
              <a:lnSpc>
                <a:spcPct val="108000"/>
              </a:lnSpc>
              <a:spcAft>
                <a:spcPts val="0"/>
              </a:spcAft>
              <a:defRPr sz="2400" b="0">
                <a:solidFill>
                  <a:srgbClr val="23392F"/>
                </a:solidFill>
                <a:latin typeface="Liberation Sans"/>
              </a:defRPr>
            </a:pPr>
            <a:r>
              <a:t>Gemini reviews reports, with a labelled fallback.</a:t>
            </a:r>
          </a:p>
        </p:txBody>
      </p:sp>
      <p:sp>
        <p:nvSpPr>
          <p:cNvPr id="12" name="TextBox 11"/>
          <p:cNvSpPr txBox="1"/>
          <p:nvPr/>
        </p:nvSpPr>
        <p:spPr>
          <a:xfrm>
            <a:off x="786384" y="4306824"/>
            <a:ext cx="1828800" cy="502920"/>
          </a:xfrm>
          <a:prstGeom prst="rect">
            <a:avLst/>
          </a:prstGeom>
          <a:noFill/>
        </p:spPr>
        <p:txBody>
          <a:bodyPr wrap="square" lIns="9144" rIns="9144" tIns="9144" bIns="9144">
            <a:spAutoFit/>
          </a:bodyPr>
          <a:lstStyle/>
          <a:p>
            <a:pPr>
              <a:lnSpc>
                <a:spcPct val="108000"/>
              </a:lnSpc>
              <a:spcAft>
                <a:spcPts val="0"/>
              </a:spcAft>
              <a:defRPr sz="2800" b="0">
                <a:solidFill>
                  <a:srgbClr val="264B3A"/>
                </a:solidFill>
                <a:latin typeface="Liberation Serif"/>
              </a:defRPr>
            </a:pPr>
            <a:r>
              <a:t>Explain</a:t>
            </a:r>
          </a:p>
        </p:txBody>
      </p:sp>
      <p:sp>
        <p:nvSpPr>
          <p:cNvPr id="13" name="TextBox 12"/>
          <p:cNvSpPr txBox="1"/>
          <p:nvPr/>
        </p:nvSpPr>
        <p:spPr>
          <a:xfrm>
            <a:off x="2761488" y="4343400"/>
            <a:ext cx="8503920" cy="676656"/>
          </a:xfrm>
          <a:prstGeom prst="rect">
            <a:avLst/>
          </a:prstGeom>
          <a:noFill/>
        </p:spPr>
        <p:txBody>
          <a:bodyPr wrap="square" lIns="9144" rIns="9144" tIns="9144" bIns="9144">
            <a:spAutoFit/>
          </a:bodyPr>
          <a:lstStyle/>
          <a:p>
            <a:pPr>
              <a:lnSpc>
                <a:spcPct val="108000"/>
              </a:lnSpc>
              <a:spcAft>
                <a:spcPts val="0"/>
              </a:spcAft>
              <a:defRPr sz="2400" b="0">
                <a:solidFill>
                  <a:srgbClr val="23392F"/>
                </a:solidFill>
                <a:latin typeface="Liberation Sans"/>
              </a:defRPr>
            </a:pPr>
            <a:r>
              <a:t>Show findings, source links and missing information.</a:t>
            </a:r>
          </a:p>
        </p:txBody>
      </p:sp>
      <p:sp>
        <p:nvSpPr>
          <p:cNvPr id="14" name="TextBox 13"/>
          <p:cNvSpPr txBox="1"/>
          <p:nvPr/>
        </p:nvSpPr>
        <p:spPr>
          <a:xfrm>
            <a:off x="804672" y="5532120"/>
            <a:ext cx="10515600" cy="384048"/>
          </a:xfrm>
          <a:prstGeom prst="rect">
            <a:avLst/>
          </a:prstGeom>
          <a:noFill/>
        </p:spPr>
        <p:txBody>
          <a:bodyPr wrap="square" lIns="9144" rIns="9144" tIns="9144" bIns="9144">
            <a:spAutoFit/>
          </a:bodyPr>
          <a:lstStyle/>
          <a:p>
            <a:pPr>
              <a:lnSpc>
                <a:spcPct val="108000"/>
              </a:lnSpc>
              <a:spcAft>
                <a:spcPts val="0"/>
              </a:spcAft>
              <a:defRPr sz="1900" b="0">
                <a:solidFill>
                  <a:srgbClr val="657268"/>
                </a:solidFill>
                <a:latin typeface="Liberation Sans"/>
              </a:defRPr>
            </a:pPr>
            <a:r>
              <a:t>Built with React + Vite and Node.js + Express.</a:t>
            </a:r>
          </a:p>
        </p:txBody>
      </p:sp>
      <p:sp>
        <p:nvSpPr>
          <p:cNvPr id="15" name="TextBox 14"/>
          <p:cNvSpPr txBox="1"/>
          <p:nvPr/>
        </p:nvSpPr>
        <p:spPr>
          <a:xfrm>
            <a:off x="804672" y="5998464"/>
            <a:ext cx="10515600" cy="246888"/>
          </a:xfrm>
          <a:prstGeom prst="rect">
            <a:avLst/>
          </a:prstGeom>
          <a:noFill/>
        </p:spPr>
        <p:txBody>
          <a:bodyPr wrap="square" lIns="9144" rIns="9144" tIns="9144" bIns="9144">
            <a:spAutoFit/>
          </a:bodyPr>
          <a:lstStyle/>
          <a:p>
            <a:pPr>
              <a:lnSpc>
                <a:spcPct val="108000"/>
              </a:lnSpc>
              <a:spcAft>
                <a:spcPts val="0"/>
              </a:spcAft>
              <a:defRPr sz="1300" b="0">
                <a:solidFill>
                  <a:srgbClr val="A8472E"/>
                </a:solidFill>
                <a:latin typeface="Liberation Sans"/>
              </a:defRPr>
            </a:pPr>
            <a:r>
              <a:t>Travel context, not a safety guarantee.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D"/>
        </a:solidFill>
        <a:effectLst/>
      </p:bgPr>
    </p:bg>
    <p:spTree>
      <p:nvGrpSpPr>
        <p:cNvPr id="1" name=""/>
        <p:cNvGrpSpPr/>
        <p:nvPr/>
      </p:nvGrpSpPr>
      <p:grpSpPr/>
      <p:sp>
        <p:nvSpPr>
          <p:cNvPr id="2" name="TextBox 1"/>
          <p:cNvSpPr txBox="1"/>
          <p:nvPr/>
        </p:nvSpPr>
        <p:spPr>
          <a:xfrm>
            <a:off x="731520" y="329184"/>
            <a:ext cx="9144000" cy="274320"/>
          </a:xfrm>
          <a:prstGeom prst="rect">
            <a:avLst/>
          </a:prstGeom>
          <a:noFill/>
        </p:spPr>
        <p:txBody>
          <a:bodyPr wrap="square" lIns="9144" rIns="9144" tIns="9144" bIns="9144">
            <a:spAutoFit/>
          </a:bodyPr>
          <a:lstStyle/>
          <a:p>
            <a:pPr>
              <a:lnSpc>
                <a:spcPct val="108000"/>
              </a:lnSpc>
              <a:spcAft>
                <a:spcPts val="0"/>
              </a:spcAft>
              <a:defRPr sz="1200" b="0">
                <a:solidFill>
                  <a:srgbClr val="657268"/>
                </a:solidFill>
                <a:latin typeface="Liberation Sans"/>
              </a:defRPr>
            </a:pPr>
            <a:r>
              <a:t>TraceRisk  /  Azinhack 2026</a:t>
            </a:r>
          </a:p>
        </p:txBody>
      </p:sp>
      <p:sp>
        <p:nvSpPr>
          <p:cNvPr id="3" name="TextBox 2"/>
          <p:cNvSpPr txBox="1"/>
          <p:nvPr/>
        </p:nvSpPr>
        <p:spPr>
          <a:xfrm>
            <a:off x="731520" y="987552"/>
            <a:ext cx="10698480" cy="722376"/>
          </a:xfrm>
          <a:prstGeom prst="rect">
            <a:avLst/>
          </a:prstGeom>
          <a:noFill/>
        </p:spPr>
        <p:txBody>
          <a:bodyPr wrap="square" lIns="9144" rIns="9144" tIns="9144" bIns="9144">
            <a:spAutoFit/>
          </a:bodyPr>
          <a:lstStyle/>
          <a:p>
            <a:pPr>
              <a:lnSpc>
                <a:spcPct val="108000"/>
              </a:lnSpc>
              <a:spcAft>
                <a:spcPts val="0"/>
              </a:spcAft>
              <a:defRPr sz="3900" b="0">
                <a:solidFill>
                  <a:srgbClr val="23392F"/>
                </a:solidFill>
                <a:latin typeface="Liberation Serif"/>
              </a:defRPr>
            </a:pPr>
            <a:r>
              <a:t>How we could earn money</a:t>
            </a:r>
          </a:p>
        </p:txBody>
      </p:sp>
      <p:cxnSp>
        <p:nvCxnSpPr>
          <p:cNvPr id="4" name="Connector 3"/>
          <p:cNvCxnSpPr/>
          <p:nvPr/>
        </p:nvCxnSpPr>
        <p:spPr>
          <a:xfrm>
            <a:off x="749808" y="1856231"/>
            <a:ext cx="594360" cy="0"/>
          </a:xfrm>
          <a:prstGeom prst="line">
            <a:avLst/>
          </a:prstGeom>
          <a:ln w="25400">
            <a:solidFill>
              <a:srgbClr val="A8472E"/>
            </a:solidFill>
          </a:ln>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749808" y="6345936"/>
            <a:ext cx="10698480" cy="0"/>
          </a:xfrm>
          <a:prstGeom prst="line">
            <a:avLst/>
          </a:prstGeom>
          <a:ln w="12700">
            <a:solidFill>
              <a:srgbClr val="DADDCE"/>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749808" y="6473952"/>
            <a:ext cx="914400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The travel field guide for India</a:t>
            </a:r>
          </a:p>
        </p:txBody>
      </p:sp>
      <p:sp>
        <p:nvSpPr>
          <p:cNvPr id="7" name="TextBox 6"/>
          <p:cNvSpPr txBox="1"/>
          <p:nvPr/>
        </p:nvSpPr>
        <p:spPr>
          <a:xfrm>
            <a:off x="10917936" y="6473952"/>
            <a:ext cx="64008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5 / 6</a:t>
            </a:r>
          </a:p>
        </p:txBody>
      </p:sp>
      <p:sp>
        <p:nvSpPr>
          <p:cNvPr id="8" name="TextBox 7"/>
          <p:cNvSpPr txBox="1"/>
          <p:nvPr/>
        </p:nvSpPr>
        <p:spPr>
          <a:xfrm>
            <a:off x="786384" y="2340864"/>
            <a:ext cx="10607040" cy="539496"/>
          </a:xfrm>
          <a:prstGeom prst="rect">
            <a:avLst/>
          </a:prstGeom>
          <a:noFill/>
        </p:spPr>
        <p:txBody>
          <a:bodyPr wrap="square" lIns="9144" rIns="9144" tIns="9144" bIns="9144">
            <a:spAutoFit/>
          </a:bodyPr>
          <a:lstStyle/>
          <a:p>
            <a:pPr>
              <a:lnSpc>
                <a:spcPct val="108000"/>
              </a:lnSpc>
              <a:spcAft>
                <a:spcPts val="0"/>
              </a:spcAft>
              <a:defRPr sz="2900" b="0">
                <a:solidFill>
                  <a:srgbClr val="264B3A"/>
                </a:solidFill>
                <a:latin typeface="Liberation Serif"/>
              </a:defRPr>
            </a:pPr>
            <a:r>
              <a:t>Proposed: clearly labelled hotel ads</a:t>
            </a:r>
          </a:p>
        </p:txBody>
      </p:sp>
      <p:sp>
        <p:nvSpPr>
          <p:cNvPr id="9" name="TextBox 8"/>
          <p:cNvSpPr txBox="1"/>
          <p:nvPr/>
        </p:nvSpPr>
        <p:spPr>
          <a:xfrm>
            <a:off x="804672" y="3227832"/>
            <a:ext cx="320040" cy="393192"/>
          </a:xfrm>
          <a:prstGeom prst="rect">
            <a:avLst/>
          </a:prstGeom>
          <a:noFill/>
        </p:spPr>
        <p:txBody>
          <a:bodyPr wrap="square" lIns="9144" rIns="9144" tIns="9144" bIns="9144">
            <a:spAutoFit/>
          </a:bodyPr>
          <a:lstStyle/>
          <a:p>
            <a:pPr>
              <a:lnSpc>
                <a:spcPct val="108000"/>
              </a:lnSpc>
              <a:spcAft>
                <a:spcPts val="0"/>
              </a:spcAft>
              <a:defRPr sz="2400" b="0">
                <a:solidFill>
                  <a:srgbClr val="A8472E"/>
                </a:solidFill>
                <a:latin typeface="Liberation Sans"/>
              </a:defRPr>
            </a:pPr>
            <a:r>
              <a:t>•</a:t>
            </a:r>
          </a:p>
        </p:txBody>
      </p:sp>
      <p:sp>
        <p:nvSpPr>
          <p:cNvPr id="10" name="TextBox 9"/>
          <p:cNvSpPr txBox="1"/>
          <p:nvPr/>
        </p:nvSpPr>
        <p:spPr>
          <a:xfrm>
            <a:off x="1170432" y="3227832"/>
            <a:ext cx="10104120" cy="594360"/>
          </a:xfrm>
          <a:prstGeom prst="rect">
            <a:avLst/>
          </a:prstGeom>
          <a:noFill/>
        </p:spPr>
        <p:txBody>
          <a:bodyPr wrap="square" lIns="9144" rIns="9144" tIns="9144" bIns="9144">
            <a:spAutoFit/>
          </a:bodyPr>
          <a:lstStyle/>
          <a:p>
            <a:pPr>
              <a:lnSpc>
                <a:spcPct val="108000"/>
              </a:lnSpc>
              <a:spcAft>
                <a:spcPts val="0"/>
              </a:spcAft>
              <a:defRPr sz="2400" b="0">
                <a:solidFill>
                  <a:srgbClr val="23392F"/>
                </a:solidFill>
                <a:latin typeface="Liberation Sans"/>
              </a:defRPr>
            </a:pPr>
            <a:r>
              <a:t>Hotels pay for sponsored listings near the chosen destination.</a:t>
            </a:r>
          </a:p>
        </p:txBody>
      </p:sp>
      <p:sp>
        <p:nvSpPr>
          <p:cNvPr id="11" name="TextBox 10"/>
          <p:cNvSpPr txBox="1"/>
          <p:nvPr/>
        </p:nvSpPr>
        <p:spPr>
          <a:xfrm>
            <a:off x="804672" y="3913631"/>
            <a:ext cx="320040" cy="393192"/>
          </a:xfrm>
          <a:prstGeom prst="rect">
            <a:avLst/>
          </a:prstGeom>
          <a:noFill/>
        </p:spPr>
        <p:txBody>
          <a:bodyPr wrap="square" lIns="9144" rIns="9144" tIns="9144" bIns="9144">
            <a:spAutoFit/>
          </a:bodyPr>
          <a:lstStyle/>
          <a:p>
            <a:pPr>
              <a:lnSpc>
                <a:spcPct val="108000"/>
              </a:lnSpc>
              <a:spcAft>
                <a:spcPts val="0"/>
              </a:spcAft>
              <a:defRPr sz="2400" b="0">
                <a:solidFill>
                  <a:srgbClr val="A8472E"/>
                </a:solidFill>
                <a:latin typeface="Liberation Sans"/>
              </a:defRPr>
            </a:pPr>
            <a:r>
              <a:t>•</a:t>
            </a:r>
          </a:p>
        </p:txBody>
      </p:sp>
      <p:sp>
        <p:nvSpPr>
          <p:cNvPr id="12" name="TextBox 11"/>
          <p:cNvSpPr txBox="1"/>
          <p:nvPr/>
        </p:nvSpPr>
        <p:spPr>
          <a:xfrm>
            <a:off x="1170432" y="3913631"/>
            <a:ext cx="10104120" cy="594360"/>
          </a:xfrm>
          <a:prstGeom prst="rect">
            <a:avLst/>
          </a:prstGeom>
          <a:noFill/>
        </p:spPr>
        <p:txBody>
          <a:bodyPr wrap="square" lIns="9144" rIns="9144" tIns="9144" bIns="9144">
            <a:spAutoFit/>
          </a:bodyPr>
          <a:lstStyle/>
          <a:p>
            <a:pPr>
              <a:lnSpc>
                <a:spcPct val="108000"/>
              </a:lnSpc>
              <a:spcAft>
                <a:spcPts val="0"/>
              </a:spcAft>
              <a:defRPr sz="2400" b="0">
                <a:solidFill>
                  <a:srgbClr val="23392F"/>
                </a:solidFill>
                <a:latin typeface="Liberation Sans"/>
              </a:defRPr>
            </a:pPr>
            <a:r>
              <a:t>Pause ads when checks show warnings or missing data.</a:t>
            </a:r>
          </a:p>
        </p:txBody>
      </p:sp>
      <p:sp>
        <p:nvSpPr>
          <p:cNvPr id="13" name="TextBox 12"/>
          <p:cNvSpPr txBox="1"/>
          <p:nvPr/>
        </p:nvSpPr>
        <p:spPr>
          <a:xfrm>
            <a:off x="804672" y="4599431"/>
            <a:ext cx="320040" cy="393192"/>
          </a:xfrm>
          <a:prstGeom prst="rect">
            <a:avLst/>
          </a:prstGeom>
          <a:noFill/>
        </p:spPr>
        <p:txBody>
          <a:bodyPr wrap="square" lIns="9144" rIns="9144" tIns="9144" bIns="9144">
            <a:spAutoFit/>
          </a:bodyPr>
          <a:lstStyle/>
          <a:p>
            <a:pPr>
              <a:lnSpc>
                <a:spcPct val="108000"/>
              </a:lnSpc>
              <a:spcAft>
                <a:spcPts val="0"/>
              </a:spcAft>
              <a:defRPr sz="2400" b="0">
                <a:solidFill>
                  <a:srgbClr val="A8472E"/>
                </a:solidFill>
                <a:latin typeface="Liberation Sans"/>
              </a:defRPr>
            </a:pPr>
            <a:r>
              <a:t>•</a:t>
            </a:r>
          </a:p>
        </p:txBody>
      </p:sp>
      <p:sp>
        <p:nvSpPr>
          <p:cNvPr id="14" name="TextBox 13"/>
          <p:cNvSpPr txBox="1"/>
          <p:nvPr/>
        </p:nvSpPr>
        <p:spPr>
          <a:xfrm>
            <a:off x="1170432" y="4599431"/>
            <a:ext cx="10104120" cy="594360"/>
          </a:xfrm>
          <a:prstGeom prst="rect">
            <a:avLst/>
          </a:prstGeom>
          <a:noFill/>
        </p:spPr>
        <p:txBody>
          <a:bodyPr wrap="square" lIns="9144" rIns="9144" tIns="9144" bIns="9144">
            <a:spAutoFit/>
          </a:bodyPr>
          <a:lstStyle/>
          <a:p>
            <a:pPr>
              <a:lnSpc>
                <a:spcPct val="108000"/>
              </a:lnSpc>
              <a:spcAft>
                <a:spcPts val="0"/>
              </a:spcAft>
              <a:defRPr sz="2400" b="0">
                <a:solidFill>
                  <a:srgbClr val="23392F"/>
                </a:solidFill>
                <a:latin typeface="Liberation Sans"/>
              </a:defRPr>
            </a:pPr>
            <a:r>
              <a:t>Paid listings never change the travel assessment.</a:t>
            </a:r>
          </a:p>
        </p:txBody>
      </p:sp>
      <p:cxnSp>
        <p:nvCxnSpPr>
          <p:cNvPr id="15" name="Connector 14"/>
          <p:cNvCxnSpPr/>
          <p:nvPr/>
        </p:nvCxnSpPr>
        <p:spPr>
          <a:xfrm>
            <a:off x="822960" y="5376672"/>
            <a:ext cx="10515600" cy="0"/>
          </a:xfrm>
          <a:prstGeom prst="line">
            <a:avLst/>
          </a:prstGeom>
          <a:ln w="12700">
            <a:solidFill>
              <a:srgbClr val="DADDCE"/>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822960" y="5550408"/>
            <a:ext cx="10515600" cy="420624"/>
          </a:xfrm>
          <a:prstGeom prst="rect">
            <a:avLst/>
          </a:prstGeom>
          <a:noFill/>
        </p:spPr>
        <p:txBody>
          <a:bodyPr wrap="square" lIns="9144" rIns="9144" tIns="9144" bIns="9144">
            <a:spAutoFit/>
          </a:bodyPr>
          <a:lstStyle/>
          <a:p>
            <a:pPr>
              <a:lnSpc>
                <a:spcPct val="108000"/>
              </a:lnSpc>
              <a:spcAft>
                <a:spcPts val="0"/>
              </a:spcAft>
              <a:defRPr sz="2300" b="0">
                <a:solidFill>
                  <a:srgbClr val="264B3A"/>
                </a:solidFill>
                <a:latin typeface="Liberation Sans"/>
              </a:defRPr>
            </a:pPr>
            <a:r>
              <a:t>Example: 10 hotels × ₹1,000/month = ₹10,000/month gross.</a:t>
            </a:r>
          </a:p>
        </p:txBody>
      </p:sp>
      <p:sp>
        <p:nvSpPr>
          <p:cNvPr id="17" name="TextBox 16"/>
          <p:cNvSpPr txBox="1"/>
          <p:nvPr/>
        </p:nvSpPr>
        <p:spPr>
          <a:xfrm>
            <a:off x="822960" y="6035040"/>
            <a:ext cx="10515600" cy="228600"/>
          </a:xfrm>
          <a:prstGeom prst="rect">
            <a:avLst/>
          </a:prstGeom>
          <a:noFill/>
        </p:spPr>
        <p:txBody>
          <a:bodyPr wrap="square" lIns="9144" rIns="9144" tIns="9144" bIns="9144">
            <a:spAutoFit/>
          </a:bodyPr>
          <a:lstStyle/>
          <a:p>
            <a:pPr>
              <a:lnSpc>
                <a:spcPct val="108000"/>
              </a:lnSpc>
              <a:spcAft>
                <a:spcPts val="0"/>
              </a:spcAft>
              <a:defRPr sz="1200" b="0">
                <a:solidFill>
                  <a:srgbClr val="657268"/>
                </a:solidFill>
                <a:latin typeface="Liberation Sans"/>
              </a:defRPr>
            </a:pPr>
            <a:r>
              <a:t>Hypothetical pricing before costs. Ads are a future feature.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D"/>
        </a:solidFill>
        <a:effectLst/>
      </p:bgPr>
    </p:bg>
    <p:spTree>
      <p:nvGrpSpPr>
        <p:cNvPr id="1" name=""/>
        <p:cNvGrpSpPr/>
        <p:nvPr/>
      </p:nvGrpSpPr>
      <p:grpSpPr/>
      <p:sp>
        <p:nvSpPr>
          <p:cNvPr id="2" name="TextBox 1"/>
          <p:cNvSpPr txBox="1"/>
          <p:nvPr/>
        </p:nvSpPr>
        <p:spPr>
          <a:xfrm>
            <a:off x="731520" y="329184"/>
            <a:ext cx="9144000" cy="274320"/>
          </a:xfrm>
          <a:prstGeom prst="rect">
            <a:avLst/>
          </a:prstGeom>
          <a:noFill/>
        </p:spPr>
        <p:txBody>
          <a:bodyPr wrap="square" lIns="9144" rIns="9144" tIns="9144" bIns="9144">
            <a:spAutoFit/>
          </a:bodyPr>
          <a:lstStyle/>
          <a:p>
            <a:pPr>
              <a:lnSpc>
                <a:spcPct val="108000"/>
              </a:lnSpc>
              <a:spcAft>
                <a:spcPts val="0"/>
              </a:spcAft>
              <a:defRPr sz="1200" b="0">
                <a:solidFill>
                  <a:srgbClr val="657268"/>
                </a:solidFill>
                <a:latin typeface="Liberation Sans"/>
              </a:defRPr>
            </a:pPr>
            <a:r>
              <a:t>TraceRisk  /  Azinhack 2026</a:t>
            </a:r>
          </a:p>
        </p:txBody>
      </p:sp>
      <p:sp>
        <p:nvSpPr>
          <p:cNvPr id="3" name="TextBox 2"/>
          <p:cNvSpPr txBox="1"/>
          <p:nvPr/>
        </p:nvSpPr>
        <p:spPr>
          <a:xfrm>
            <a:off x="731520" y="987552"/>
            <a:ext cx="10698480" cy="722376"/>
          </a:xfrm>
          <a:prstGeom prst="rect">
            <a:avLst/>
          </a:prstGeom>
          <a:noFill/>
        </p:spPr>
        <p:txBody>
          <a:bodyPr wrap="square" lIns="9144" rIns="9144" tIns="9144" bIns="9144">
            <a:spAutoFit/>
          </a:bodyPr>
          <a:lstStyle/>
          <a:p>
            <a:pPr>
              <a:lnSpc>
                <a:spcPct val="108000"/>
              </a:lnSpc>
              <a:spcAft>
                <a:spcPts val="0"/>
              </a:spcAft>
              <a:defRPr sz="3900" b="0">
                <a:solidFill>
                  <a:srgbClr val="23392F"/>
                </a:solidFill>
                <a:latin typeface="Liberation Serif"/>
              </a:defRPr>
            </a:pPr>
            <a:r>
              <a:t>What comes next</a:t>
            </a:r>
          </a:p>
        </p:txBody>
      </p:sp>
      <p:cxnSp>
        <p:nvCxnSpPr>
          <p:cNvPr id="4" name="Connector 3"/>
          <p:cNvCxnSpPr/>
          <p:nvPr/>
        </p:nvCxnSpPr>
        <p:spPr>
          <a:xfrm>
            <a:off x="749808" y="1856231"/>
            <a:ext cx="594360" cy="0"/>
          </a:xfrm>
          <a:prstGeom prst="line">
            <a:avLst/>
          </a:prstGeom>
          <a:ln w="25400">
            <a:solidFill>
              <a:srgbClr val="A8472E"/>
            </a:solidFill>
          </a:ln>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749808" y="6345936"/>
            <a:ext cx="10698480" cy="0"/>
          </a:xfrm>
          <a:prstGeom prst="line">
            <a:avLst/>
          </a:prstGeom>
          <a:ln w="12700">
            <a:solidFill>
              <a:srgbClr val="DADDCE"/>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749808" y="6473952"/>
            <a:ext cx="914400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The travel field guide for India</a:t>
            </a:r>
          </a:p>
        </p:txBody>
      </p:sp>
      <p:sp>
        <p:nvSpPr>
          <p:cNvPr id="7" name="TextBox 6"/>
          <p:cNvSpPr txBox="1"/>
          <p:nvPr/>
        </p:nvSpPr>
        <p:spPr>
          <a:xfrm>
            <a:off x="10917936" y="6473952"/>
            <a:ext cx="640080" cy="228600"/>
          </a:xfrm>
          <a:prstGeom prst="rect">
            <a:avLst/>
          </a:prstGeom>
          <a:noFill/>
        </p:spPr>
        <p:txBody>
          <a:bodyPr wrap="square" lIns="9144" rIns="9144" tIns="9144" bIns="9144">
            <a:spAutoFit/>
          </a:bodyPr>
          <a:lstStyle/>
          <a:p>
            <a:pPr>
              <a:lnSpc>
                <a:spcPct val="108000"/>
              </a:lnSpc>
              <a:spcAft>
                <a:spcPts val="0"/>
              </a:spcAft>
              <a:defRPr sz="1000" b="0">
                <a:solidFill>
                  <a:srgbClr val="657268"/>
                </a:solidFill>
                <a:latin typeface="Liberation Sans"/>
              </a:defRPr>
            </a:pPr>
            <a:r>
              <a:t>6 / 6</a:t>
            </a:r>
          </a:p>
        </p:txBody>
      </p:sp>
      <p:sp>
        <p:nvSpPr>
          <p:cNvPr id="8" name="TextBox 7"/>
          <p:cNvSpPr txBox="1"/>
          <p:nvPr/>
        </p:nvSpPr>
        <p:spPr>
          <a:xfrm>
            <a:off x="804672" y="2450592"/>
            <a:ext cx="320040" cy="429768"/>
          </a:xfrm>
          <a:prstGeom prst="rect">
            <a:avLst/>
          </a:prstGeom>
          <a:noFill/>
        </p:spPr>
        <p:txBody>
          <a:bodyPr wrap="square" lIns="9144" rIns="9144" tIns="9144" bIns="9144">
            <a:spAutoFit/>
          </a:bodyPr>
          <a:lstStyle/>
          <a:p>
            <a:pPr>
              <a:lnSpc>
                <a:spcPct val="108000"/>
              </a:lnSpc>
              <a:spcAft>
                <a:spcPts val="0"/>
              </a:spcAft>
              <a:defRPr sz="2600" b="0">
                <a:solidFill>
                  <a:srgbClr val="A8472E"/>
                </a:solidFill>
                <a:latin typeface="Liberation Sans"/>
              </a:defRPr>
            </a:pPr>
            <a:r>
              <a:t>•</a:t>
            </a:r>
          </a:p>
        </p:txBody>
      </p:sp>
      <p:sp>
        <p:nvSpPr>
          <p:cNvPr id="9" name="TextBox 8"/>
          <p:cNvSpPr txBox="1"/>
          <p:nvPr/>
        </p:nvSpPr>
        <p:spPr>
          <a:xfrm>
            <a:off x="1170432" y="2450592"/>
            <a:ext cx="10058400" cy="585216"/>
          </a:xfrm>
          <a:prstGeom prst="rect">
            <a:avLst/>
          </a:prstGeom>
          <a:noFill/>
        </p:spPr>
        <p:txBody>
          <a:bodyPr wrap="square" lIns="9144" rIns="9144" tIns="9144" bIns="9144">
            <a:spAutoFit/>
          </a:bodyPr>
          <a:lstStyle/>
          <a:p>
            <a:pPr>
              <a:lnSpc>
                <a:spcPct val="108000"/>
              </a:lnSpc>
              <a:spcAft>
                <a:spcPts val="0"/>
              </a:spcAft>
              <a:defRPr sz="2800" b="0">
                <a:solidFill>
                  <a:srgbClr val="23392F"/>
                </a:solidFill>
                <a:latin typeface="Liberation Sans"/>
              </a:defRPr>
            </a:pPr>
            <a:r>
              <a:t>Test the product with travellers.</a:t>
            </a:r>
          </a:p>
        </p:txBody>
      </p:sp>
      <p:sp>
        <p:nvSpPr>
          <p:cNvPr id="10" name="TextBox 9"/>
          <p:cNvSpPr txBox="1"/>
          <p:nvPr/>
        </p:nvSpPr>
        <p:spPr>
          <a:xfrm>
            <a:off x="804672" y="3227832"/>
            <a:ext cx="320040" cy="429768"/>
          </a:xfrm>
          <a:prstGeom prst="rect">
            <a:avLst/>
          </a:prstGeom>
          <a:noFill/>
        </p:spPr>
        <p:txBody>
          <a:bodyPr wrap="square" lIns="9144" rIns="9144" tIns="9144" bIns="9144">
            <a:spAutoFit/>
          </a:bodyPr>
          <a:lstStyle/>
          <a:p>
            <a:pPr>
              <a:lnSpc>
                <a:spcPct val="108000"/>
              </a:lnSpc>
              <a:spcAft>
                <a:spcPts val="0"/>
              </a:spcAft>
              <a:defRPr sz="2600" b="0">
                <a:solidFill>
                  <a:srgbClr val="A8472E"/>
                </a:solidFill>
                <a:latin typeface="Liberation Sans"/>
              </a:defRPr>
            </a:pPr>
            <a:r>
              <a:t>•</a:t>
            </a:r>
          </a:p>
        </p:txBody>
      </p:sp>
      <p:sp>
        <p:nvSpPr>
          <p:cNvPr id="11" name="TextBox 10"/>
          <p:cNvSpPr txBox="1"/>
          <p:nvPr/>
        </p:nvSpPr>
        <p:spPr>
          <a:xfrm>
            <a:off x="1170432" y="3227832"/>
            <a:ext cx="10058400" cy="585216"/>
          </a:xfrm>
          <a:prstGeom prst="rect">
            <a:avLst/>
          </a:prstGeom>
          <a:noFill/>
        </p:spPr>
        <p:txBody>
          <a:bodyPr wrap="square" lIns="9144" rIns="9144" tIns="9144" bIns="9144">
            <a:spAutoFit/>
          </a:bodyPr>
          <a:lstStyle/>
          <a:p>
            <a:pPr>
              <a:lnSpc>
                <a:spcPct val="108000"/>
              </a:lnSpc>
              <a:spcAft>
                <a:spcPts val="0"/>
              </a:spcAft>
              <a:defRPr sz="2800" b="0">
                <a:solidFill>
                  <a:srgbClr val="23392F"/>
                </a:solidFill>
                <a:latin typeface="Liberation Sans"/>
              </a:defRPr>
            </a:pPr>
            <a:r>
              <a:t>Improve local-language coverage and source quality.</a:t>
            </a:r>
          </a:p>
        </p:txBody>
      </p:sp>
      <p:sp>
        <p:nvSpPr>
          <p:cNvPr id="12" name="TextBox 11"/>
          <p:cNvSpPr txBox="1"/>
          <p:nvPr/>
        </p:nvSpPr>
        <p:spPr>
          <a:xfrm>
            <a:off x="804672" y="4005072"/>
            <a:ext cx="320040" cy="429768"/>
          </a:xfrm>
          <a:prstGeom prst="rect">
            <a:avLst/>
          </a:prstGeom>
          <a:noFill/>
        </p:spPr>
        <p:txBody>
          <a:bodyPr wrap="square" lIns="9144" rIns="9144" tIns="9144" bIns="9144">
            <a:spAutoFit/>
          </a:bodyPr>
          <a:lstStyle/>
          <a:p>
            <a:pPr>
              <a:lnSpc>
                <a:spcPct val="108000"/>
              </a:lnSpc>
              <a:spcAft>
                <a:spcPts val="0"/>
              </a:spcAft>
              <a:defRPr sz="2600" b="0">
                <a:solidFill>
                  <a:srgbClr val="A8472E"/>
                </a:solidFill>
                <a:latin typeface="Liberation Sans"/>
              </a:defRPr>
            </a:pPr>
            <a:r>
              <a:t>•</a:t>
            </a:r>
          </a:p>
        </p:txBody>
      </p:sp>
      <p:sp>
        <p:nvSpPr>
          <p:cNvPr id="13" name="TextBox 12"/>
          <p:cNvSpPr txBox="1"/>
          <p:nvPr/>
        </p:nvSpPr>
        <p:spPr>
          <a:xfrm>
            <a:off x="1170432" y="4005072"/>
            <a:ext cx="10058400" cy="585216"/>
          </a:xfrm>
          <a:prstGeom prst="rect">
            <a:avLst/>
          </a:prstGeom>
          <a:noFill/>
        </p:spPr>
        <p:txBody>
          <a:bodyPr wrap="square" lIns="9144" rIns="9144" tIns="9144" bIns="9144">
            <a:spAutoFit/>
          </a:bodyPr>
          <a:lstStyle/>
          <a:p>
            <a:pPr>
              <a:lnSpc>
                <a:spcPct val="108000"/>
              </a:lnSpc>
              <a:spcAft>
                <a:spcPts val="0"/>
              </a:spcAft>
              <a:defRPr sz="2800" b="0">
                <a:solidFill>
                  <a:srgbClr val="23392F"/>
                </a:solidFill>
                <a:latin typeface="Liberation Sans"/>
              </a:defRPr>
            </a:pPr>
            <a:r>
              <a:t>Try a small hotel-ad pilot.</a:t>
            </a:r>
          </a:p>
        </p:txBody>
      </p:sp>
      <p:sp>
        <p:nvSpPr>
          <p:cNvPr id="14" name="TextBox 13"/>
          <p:cNvSpPr txBox="1"/>
          <p:nvPr/>
        </p:nvSpPr>
        <p:spPr>
          <a:xfrm>
            <a:off x="804672" y="5157216"/>
            <a:ext cx="10515600" cy="557784"/>
          </a:xfrm>
          <a:prstGeom prst="rect">
            <a:avLst/>
          </a:prstGeom>
          <a:noFill/>
        </p:spPr>
        <p:txBody>
          <a:bodyPr wrap="square" lIns="9144" rIns="9144" tIns="9144" bIns="9144">
            <a:spAutoFit/>
          </a:bodyPr>
          <a:lstStyle/>
          <a:p>
            <a:pPr>
              <a:lnSpc>
                <a:spcPct val="108000"/>
              </a:lnSpc>
              <a:spcAft>
                <a:spcPts val="0"/>
              </a:spcAft>
              <a:defRPr sz="3100" b="0">
                <a:solidFill>
                  <a:srgbClr val="264B3A"/>
                </a:solidFill>
                <a:latin typeface="Liberation Serif"/>
              </a:defRPr>
            </a:pPr>
            <a:r>
              <a:t>Thank you. Questions?</a:t>
            </a:r>
          </a:p>
        </p:txBody>
      </p:sp>
      <p:sp>
        <p:nvSpPr>
          <p:cNvPr id="15" name="TextBox 14"/>
          <p:cNvSpPr txBox="1"/>
          <p:nvPr/>
        </p:nvSpPr>
        <p:spPr>
          <a:xfrm>
            <a:off x="822960" y="5879592"/>
            <a:ext cx="10515600" cy="301752"/>
          </a:xfrm>
          <a:prstGeom prst="rect">
            <a:avLst/>
          </a:prstGeom>
          <a:noFill/>
        </p:spPr>
        <p:txBody>
          <a:bodyPr wrap="square" lIns="9144" rIns="9144" tIns="9144" bIns="9144">
            <a:spAutoFit/>
          </a:bodyPr>
          <a:lstStyle/>
          <a:p>
            <a:pPr>
              <a:lnSpc>
                <a:spcPct val="108000"/>
              </a:lnSpc>
              <a:spcAft>
                <a:spcPts val="0"/>
              </a:spcAft>
              <a:defRPr sz="1600" b="0">
                <a:solidFill>
                  <a:srgbClr val="657268"/>
                </a:solidFill>
                <a:latin typeface="Liberation Sans"/>
              </a:defRPr>
            </a:pPr>
            <a:r>
              <a:t>github.com/codeby-irFAN/TraceRisk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TraceRisk — Azinhack 2026</dc:title>
  <dc:subject>Simple project explanation and proposed hotel monetization</dc:subject>
  <dc:creator>TraceRisk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