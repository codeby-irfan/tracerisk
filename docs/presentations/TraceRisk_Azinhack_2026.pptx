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everyone. This is TraceRisk, the travel field guide for India. Before a trip, we usually book tickets and hotels, but information about local conditions is scattered. TraceRisk brings those updates into one source-linked briefing for the place and dates we choose. Our goal is simple: help people travel with better context. I will show the product, explain how it works, and share a proposed way to earn revenue through transparent hotel promotions.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Imagine planning a trip to Manali. You might check weather in one tab, roads in another, and local news somewhere else. Each source may cover a different area or date. The difficult part is deciding what actually matters for your trip. Missing information can also look like an all-clear. TraceRisk reduces this research effort by organising the information around a confirmed destination and travel dates. It supports planning; it does not promise safety.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flow has three steps. First, enter a destination and travel dates. Second, confirm the correct place, because similar names must not lead to the wrong local information. Third, read the briefing. It includes findings, source links and coverage gaps. Travellers can save plans in their browser and download a text briefing. Reopening a saved plan requires fresh location confirmation; it is not a saved safety verdict.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actual planning interface. The design matches a travel notebook: ivory pages, forest-green text and terracotta accents. It works on mobile and includes an evening theme. For a quick demo, enter a place, choose dates, confirm the destination and save the plan. Then start a scan and review coverage before discussing findings. If provider access fails during the demo, show the error honestly and continue with the interface walkthrough. This screenshot is a planning screen, not a successful live scan.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TraceRisk looks at eight search categories: roads, public transport, infrastructure, civil unrest, official advisories, regional news, health and crime. Alongside those reports, it uses weather forecasts and river-flow models for the location. These inputs help identify topics worth checking before travel. They are not all equally complete, and forecasts may not cover every trip date. The app shows those gaps. Model-based weather or river context should not be presented as an official warning.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has three stages. Collect: TinyFish discovers and extracts relevant reports, while Open-Meteo handles place lookup and forecasts. Review: Gemini assesses the evidence. Optional Groq can be used if configured, and a clearly labelled rules-based fallback keeps the result understandable when AI access fails. Explain: the frontend presents source-linked findings and collection coverage. React and Vite power the interface, with a Node and Express backend. The value is the complete trip-focused workflow, including honest failure handling.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Trust is central to the product. A result should show where its information came from and where collection is incomplete. The risk score is a heuristic planning signal, not the probability that something bad will happen. A low score or an empty list cannot prove safety. AI can make mistakes, sources can be old, and providers can fail. Travellers should still check local authorities and transport operators when making important decisions. This same principle also shapes our proposed advertising model.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working prototype, with trip planning, browser-saved plans, themes, source-linked findings and briefing exports. It also handles cancellation, provider fallbacks and bounded requests. The latest local verification passed 33 Node tests, 12 browser tests and the production build. Those automated checks use fixtures, so they do not certify live provider access or a production deployment. There are no hotel ads or bookings implemented today. The next step is feedback from travellers and a small hotel-ad pilot.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proposed monetization is sponsored hotel listings near selected destinations. The idea is to promote relevant stays only after fresh and adequate evidence checks, and to suppress ads when data is weak or warning signals appear. This policy still needs design and validation. Each listing would be clearly marked Sponsored. Paying hotels could never change risk scores or hide warnings. A lower-concern destination is not guaranteed safe, and hotel quality requires separate checks. The example on this slide is a mock-up, not a partner or an implemented feature.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can start with a monthly placement fee instead of building a booking platform immediately. For an easy example, ten hotels paying one thousand rupees per month would produce ten thousand rupees in gross monthly revenue. This is hypothetical pricing, not actual sales or profit. API usage, hosting, marketing, fees and taxes would reduce income. We would test willingness to pay, ad clicks, hotel renewals and cost per scan. Booking-referral fees could be explored later, only with suitable partner agreements.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chapter is deliberately small. First, observe travellers using TraceRisk and learn which parts of the briefing are helpful or confusing. Second, approach a small group of hotels to test clearly labelled sponsored placements, with verified property details and independent assessment rules. Third, evaluate freshness and location relevance, improve local-language coverage and strengthen infrastructure for wider use. These are planned steps, not existing partnerships or user traction. We would value feedback on both the travel experience and the pilot business model.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TraceRisk helps travellers connect local updates, forecasts and source evidence before a trip. The product is built around one clear principle: show useful context and be honest about what is missing. Our proposed hotel sponsorship model follows the same rule—transparent ads that cannot influence the assessment. Thank you for listening. I would be happy to show the interface and answer questions about the technology, the limitations or the pilot plan.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codeby-irFAN/TraceRisk" TargetMode="External"/><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4ED"/>
        </a:solidFill>
        <a:effectLst/>
      </p:bgPr>
    </p:bg>
    <p:spTree>
      <p:nvGrpSpPr>
        <p:cNvPr id="1" name=""/>
        <p:cNvGrpSpPr/>
        <p:nvPr/>
      </p:nvGrpSpPr>
      <p:grpSpPr/>
      <p:sp>
        <p:nvSpPr>
          <p:cNvPr id="2" name="Oval 1"/>
          <p:cNvSpPr/>
          <p:nvPr/>
        </p:nvSpPr>
        <p:spPr>
          <a:xfrm>
            <a:off x="548640" y="265176"/>
            <a:ext cx="256032" cy="256032"/>
          </a:xfrm>
          <a:prstGeom prst="ellipse">
            <a:avLst/>
          </a:prstGeom>
          <a:solidFill>
            <a:srgbClr val="F6F4ED"/>
          </a:solidFill>
          <a:ln w="20320">
            <a:solidFill>
              <a:srgbClr val="65726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Diamond 2"/>
          <p:cNvSpPr/>
          <p:nvPr/>
        </p:nvSpPr>
        <p:spPr>
          <a:xfrm rot="2100000">
            <a:off x="638251" y="318942"/>
            <a:ext cx="76809" cy="148498"/>
          </a:xfrm>
          <a:prstGeom prst="diamond">
            <a:avLst/>
          </a:prstGeom>
          <a:solidFill>
            <a:srgbClr val="65726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Oval 3"/>
          <p:cNvSpPr/>
          <p:nvPr/>
        </p:nvSpPr>
        <p:spPr>
          <a:xfrm>
            <a:off x="663854" y="380390"/>
            <a:ext cx="25603" cy="25603"/>
          </a:xfrm>
          <a:prstGeom prst="ellipse">
            <a:avLst/>
          </a:prstGeom>
          <a:solidFill>
            <a:srgbClr val="F6F4E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914400" y="292608"/>
            <a:ext cx="7955279" cy="237744"/>
          </a:xfrm>
          <a:prstGeom prst="rect">
            <a:avLst/>
          </a:prstGeom>
          <a:noFill/>
        </p:spPr>
        <p:txBody>
          <a:bodyPr wrap="square" lIns="9144" rIns="9144" tIns="9144" bIns="9144">
            <a:spAutoFit/>
          </a:bodyPr>
          <a:lstStyle/>
          <a:p>
            <a:pPr>
              <a:lnSpc>
                <a:spcPct val="105000"/>
              </a:lnSpc>
              <a:spcBef>
                <a:spcPts val="0"/>
              </a:spcBef>
              <a:spcAft>
                <a:spcPts val="0"/>
              </a:spcAft>
              <a:defRPr sz="1000" b="0" i="0">
                <a:solidFill>
                  <a:srgbClr val="657268"/>
                </a:solidFill>
                <a:latin typeface="Liberation Mono"/>
              </a:defRPr>
            </a:pPr>
            <a:r>
              <a:t>TRACERISK / THE PITCH</a:t>
            </a:r>
          </a:p>
        </p:txBody>
      </p:sp>
      <p:sp>
        <p:nvSpPr>
          <p:cNvPr id="6" name="TextBox 5"/>
          <p:cNvSpPr txBox="1"/>
          <p:nvPr/>
        </p:nvSpPr>
        <p:spPr>
          <a:xfrm>
            <a:off x="9774936" y="292608"/>
            <a:ext cx="1965960" cy="237744"/>
          </a:xfrm>
          <a:prstGeom prst="rect">
            <a:avLst/>
          </a:prstGeom>
          <a:noFill/>
        </p:spPr>
        <p:txBody>
          <a:bodyPr wrap="square" lIns="9144" rIns="9144" tIns="9144" bIns="9144">
            <a:spAutoFit/>
          </a:bodyPr>
          <a:lstStyle/>
          <a:p>
            <a:pPr>
              <a:lnSpc>
                <a:spcPct val="105000"/>
              </a:lnSpc>
              <a:spcBef>
                <a:spcPts val="0"/>
              </a:spcBef>
              <a:spcAft>
                <a:spcPts val="0"/>
              </a:spcAft>
              <a:defRPr sz="1000" b="0" i="0">
                <a:solidFill>
                  <a:srgbClr val="657268"/>
                </a:solidFill>
                <a:latin typeface="Liberation Mono"/>
              </a:defRPr>
            </a:pPr>
            <a:r>
              <a:t>AZINHACK 2026</a:t>
            </a:r>
          </a:p>
        </p:txBody>
      </p:sp>
      <p:cxnSp>
        <p:nvCxnSpPr>
          <p:cNvPr id="7" name="Connector 6"/>
          <p:cNvCxnSpPr/>
          <p:nvPr/>
        </p:nvCxnSpPr>
        <p:spPr>
          <a:xfrm>
            <a:off x="548640" y="6345936"/>
            <a:ext cx="11091672" cy="0"/>
          </a:xfrm>
          <a:prstGeom prst="line">
            <a:avLst/>
          </a:prstGeom>
          <a:ln w="10160">
            <a:solidFill>
              <a:srgbClr val="DADDCE"/>
            </a:solidFill>
          </a:ln>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85216" y="6492240"/>
            <a:ext cx="7315200" cy="237744"/>
          </a:xfrm>
          <a:prstGeom prst="rect">
            <a:avLst/>
          </a:prstGeom>
          <a:noFill/>
        </p:spPr>
        <p:txBody>
          <a:bodyPr wrap="square" lIns="9144" rIns="9144" tIns="9144" bIns="9144">
            <a:spAutoFit/>
          </a:bodyPr>
          <a:lstStyle/>
          <a:p>
            <a:pPr>
              <a:lnSpc>
                <a:spcPct val="105000"/>
              </a:lnSpc>
              <a:spcBef>
                <a:spcPts val="0"/>
              </a:spcBef>
              <a:spcAft>
                <a:spcPts val="0"/>
              </a:spcAft>
              <a:defRPr sz="800" b="0" i="0">
                <a:solidFill>
                  <a:srgbClr val="657268"/>
                </a:solidFill>
                <a:latin typeface="Liberation Mono"/>
              </a:defRPr>
            </a:pPr>
            <a:r>
              <a:t>THE TRAVEL FIELD GUIDE FOR INDIA</a:t>
            </a:r>
          </a:p>
        </p:txBody>
      </p:sp>
      <p:sp>
        <p:nvSpPr>
          <p:cNvPr id="9" name="TextBox 8"/>
          <p:cNvSpPr txBox="1"/>
          <p:nvPr/>
        </p:nvSpPr>
        <p:spPr>
          <a:xfrm>
            <a:off x="10963656" y="6492240"/>
            <a:ext cx="731520" cy="237744"/>
          </a:xfrm>
          <a:prstGeom prst="rect">
            <a:avLst/>
          </a:prstGeom>
          <a:noFill/>
        </p:spPr>
        <p:txBody>
          <a:bodyPr wrap="square" lIns="9144" rIns="9144" tIns="9144" bIns="9144">
            <a:spAutoFit/>
          </a:bodyPr>
          <a:lstStyle/>
          <a:p>
            <a:pPr>
              <a:lnSpc>
                <a:spcPct val="105000"/>
              </a:lnSpc>
              <a:spcBef>
                <a:spcPts val="0"/>
              </a:spcBef>
              <a:spcAft>
                <a:spcPts val="0"/>
              </a:spcAft>
              <a:defRPr sz="800" b="0" i="0">
                <a:solidFill>
                  <a:srgbClr val="657268"/>
                </a:solidFill>
                <a:latin typeface="Liberation Mono"/>
              </a:defRPr>
            </a:pPr>
            <a:r>
              <a:t>01 / 12</a:t>
            </a:r>
          </a:p>
        </p:txBody>
      </p:sp>
      <p:sp>
        <p:nvSpPr>
          <p:cNvPr id="10" name="Rectangle 9"/>
          <p:cNvSpPr/>
          <p:nvPr/>
        </p:nvSpPr>
        <p:spPr>
          <a:xfrm>
            <a:off x="8458200" y="822960"/>
            <a:ext cx="3182112" cy="5120640"/>
          </a:xfrm>
          <a:prstGeom prst="rect">
            <a:avLst/>
          </a:prstGeom>
          <a:solidFill>
            <a:srgbClr val="264B3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21792" y="1371600"/>
            <a:ext cx="7315200" cy="237744"/>
          </a:xfrm>
          <a:prstGeom prst="rect">
            <a:avLst/>
          </a:prstGeom>
          <a:noFill/>
        </p:spPr>
        <p:txBody>
          <a:bodyPr wrap="square" lIns="9144" rIns="9144" tIns="9144" bIns="9144">
            <a:spAutoFit/>
          </a:bodyPr>
          <a:lstStyle/>
          <a:p>
            <a:pPr>
              <a:lnSpc>
                <a:spcPct val="105000"/>
              </a:lnSpc>
              <a:spcBef>
                <a:spcPts val="0"/>
              </a:spcBef>
              <a:spcAft>
                <a:spcPts val="0"/>
              </a:spcAft>
              <a:defRPr sz="1000" b="0" i="0">
                <a:solidFill>
                  <a:srgbClr val="A8472E"/>
                </a:solidFill>
                <a:latin typeface="Liberation Mono"/>
              </a:defRPr>
            </a:pPr>
            <a:r>
              <a:t>TRAVEL AWARENESS, MADE CLEARER</a:t>
            </a:r>
          </a:p>
        </p:txBody>
      </p:sp>
      <p:sp>
        <p:nvSpPr>
          <p:cNvPr id="12" name="TextBox 11"/>
          <p:cNvSpPr txBox="1"/>
          <p:nvPr/>
        </p:nvSpPr>
        <p:spPr>
          <a:xfrm>
            <a:off x="566928" y="1828800"/>
            <a:ext cx="7680960" cy="1005840"/>
          </a:xfrm>
          <a:prstGeom prst="rect">
            <a:avLst/>
          </a:prstGeom>
          <a:noFill/>
        </p:spPr>
        <p:txBody>
          <a:bodyPr wrap="square" lIns="9144" rIns="9144" tIns="9144" bIns="9144">
            <a:spAutoFit/>
          </a:bodyPr>
          <a:lstStyle/>
          <a:p>
            <a:pPr>
              <a:lnSpc>
                <a:spcPct val="105000"/>
              </a:lnSpc>
              <a:spcBef>
                <a:spcPts val="0"/>
              </a:spcBef>
              <a:spcAft>
                <a:spcPts val="0"/>
              </a:spcAft>
              <a:defRPr sz="7200" b="0" i="0">
                <a:solidFill>
                  <a:srgbClr val="23392F"/>
                </a:solidFill>
                <a:latin typeface="Liberation Serif"/>
              </a:defRPr>
            </a:pPr>
            <a:r>
              <a:t>TraceRisk</a:t>
            </a:r>
          </a:p>
        </p:txBody>
      </p:sp>
      <p:sp>
        <p:nvSpPr>
          <p:cNvPr id="13" name="TextBox 12"/>
          <p:cNvSpPr txBox="1"/>
          <p:nvPr/>
        </p:nvSpPr>
        <p:spPr>
          <a:xfrm>
            <a:off x="612648" y="2971800"/>
            <a:ext cx="7543800" cy="1188720"/>
          </a:xfrm>
          <a:prstGeom prst="rect">
            <a:avLst/>
          </a:prstGeom>
          <a:noFill/>
        </p:spPr>
        <p:txBody>
          <a:bodyPr wrap="square" lIns="9144" rIns="9144" tIns="9144" bIns="9144">
            <a:spAutoFit/>
          </a:bodyPr>
          <a:lstStyle/>
          <a:p>
            <a:pPr>
              <a:lnSpc>
                <a:spcPct val="105000"/>
              </a:lnSpc>
              <a:spcBef>
                <a:spcPts val="0"/>
              </a:spcBef>
              <a:spcAft>
                <a:spcPts val="0"/>
              </a:spcAft>
              <a:defRPr sz="3600" b="0" i="0">
                <a:solidFill>
                  <a:srgbClr val="23392F"/>
                </a:solidFill>
                <a:latin typeface="Liberation Serif"/>
              </a:defRPr>
            </a:pPr>
            <a:r>
              <a:t>The travel field guide</a:t>
            </a:r>
          </a:p>
          <a:p>
            <a:pPr>
              <a:lnSpc>
                <a:spcPct val="105000"/>
              </a:lnSpc>
              <a:spcBef>
                <a:spcPts val="0"/>
              </a:spcBef>
              <a:spcAft>
                <a:spcPts val="0"/>
              </a:spcAft>
              <a:defRPr sz="3600" b="0" i="0">
                <a:solidFill>
                  <a:srgbClr val="23392F"/>
                </a:solidFill>
                <a:latin typeface="Liberation Serif"/>
              </a:defRPr>
            </a:pPr>
            <a:r>
              <a:t>for India.</a:t>
            </a:r>
          </a:p>
        </p:txBody>
      </p:sp>
      <p:sp>
        <p:nvSpPr>
          <p:cNvPr id="14" name="TextBox 13"/>
          <p:cNvSpPr txBox="1"/>
          <p:nvPr/>
        </p:nvSpPr>
        <p:spPr>
          <a:xfrm>
            <a:off x="630936" y="4480560"/>
            <a:ext cx="7223760" cy="822960"/>
          </a:xfrm>
          <a:prstGeom prst="rect">
            <a:avLst/>
          </a:prstGeom>
          <a:noFill/>
        </p:spPr>
        <p:txBody>
          <a:bodyPr wrap="square" lIns="9144" rIns="9144" tIns="9144" bIns="9144">
            <a:spAutoFit/>
          </a:bodyPr>
          <a:lstStyle/>
          <a:p>
            <a:pPr>
              <a:lnSpc>
                <a:spcPct val="105000"/>
              </a:lnSpc>
              <a:spcBef>
                <a:spcPts val="0"/>
              </a:spcBef>
              <a:spcAft>
                <a:spcPts val="0"/>
              </a:spcAft>
              <a:defRPr sz="2300" b="0" i="0">
                <a:solidFill>
                  <a:srgbClr val="657268"/>
                </a:solidFill>
                <a:latin typeface="Liberation Sans"/>
              </a:defRPr>
            </a:pPr>
            <a:r>
              <a:t>Know what could affect your trip—</a:t>
            </a:r>
          </a:p>
          <a:p>
            <a:pPr>
              <a:lnSpc>
                <a:spcPct val="105000"/>
              </a:lnSpc>
              <a:spcBef>
                <a:spcPts val="0"/>
              </a:spcBef>
              <a:spcAft>
                <a:spcPts val="0"/>
              </a:spcAft>
              <a:defRPr sz="2300" b="0" i="0">
                <a:solidFill>
                  <a:srgbClr val="657268"/>
                </a:solidFill>
                <a:latin typeface="Liberation Sans"/>
              </a:defRPr>
            </a:pPr>
            <a:r>
              <a:t>before you go.</a:t>
            </a:r>
          </a:p>
        </p:txBody>
      </p:sp>
      <p:sp>
        <p:nvSpPr>
          <p:cNvPr id="15" name="TextBox 14"/>
          <p:cNvSpPr txBox="1"/>
          <p:nvPr/>
        </p:nvSpPr>
        <p:spPr>
          <a:xfrm>
            <a:off x="630936" y="5596128"/>
            <a:ext cx="7406640" cy="237744"/>
          </a:xfrm>
          <a:prstGeom prst="rect">
            <a:avLst/>
          </a:prstGeom>
          <a:noFill/>
        </p:spPr>
        <p:txBody>
          <a:bodyPr wrap="square" lIns="9144" rIns="9144" tIns="9144" bIns="9144">
            <a:spAutoFit/>
          </a:bodyPr>
          <a:lstStyle/>
          <a:p>
            <a:pPr>
              <a:lnSpc>
                <a:spcPct val="105000"/>
              </a:lnSpc>
              <a:spcBef>
                <a:spcPts val="0"/>
              </a:spcBef>
              <a:spcAft>
                <a:spcPts val="0"/>
              </a:spcAft>
              <a:defRPr sz="1000" b="0" i="0">
                <a:solidFill>
                  <a:srgbClr val="A8472E"/>
                </a:solidFill>
                <a:latin typeface="Liberation Mono"/>
              </a:defRPr>
            </a:pPr>
            <a:r>
              <a:t>AZINHACK 2026  /  PROJECT PRESENTATION</a:t>
            </a:r>
          </a:p>
        </p:txBody>
      </p:sp>
      <p:sp>
        <p:nvSpPr>
          <p:cNvPr id="16" name="Oval 15"/>
          <p:cNvSpPr/>
          <p:nvPr/>
        </p:nvSpPr>
        <p:spPr>
          <a:xfrm>
            <a:off x="9111996" y="1943100"/>
            <a:ext cx="1874519" cy="1874519"/>
          </a:xfrm>
          <a:prstGeom prst="ellipse">
            <a:avLst/>
          </a:prstGeom>
          <a:solidFill>
            <a:srgbClr val="264B3A"/>
          </a:solidFill>
          <a:ln w="20320">
            <a:solidFill>
              <a:srgbClr val="C6D8A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Diamond 16"/>
          <p:cNvSpPr/>
          <p:nvPr/>
        </p:nvSpPr>
        <p:spPr>
          <a:xfrm rot="2100000">
            <a:off x="9768078" y="2336749"/>
            <a:ext cx="562355" cy="1087221"/>
          </a:xfrm>
          <a:prstGeom prst="diamond">
            <a:avLst/>
          </a:prstGeom>
          <a:solidFill>
            <a:srgbClr val="C6D8A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Oval 17"/>
          <p:cNvSpPr/>
          <p:nvPr/>
        </p:nvSpPr>
        <p:spPr>
          <a:xfrm>
            <a:off x="9955530" y="2786634"/>
            <a:ext cx="187452" cy="187452"/>
          </a:xfrm>
          <a:prstGeom prst="ellipse">
            <a:avLst/>
          </a:prstGeom>
          <a:solidFill>
            <a:srgbClr val="264B3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9" name="Connector 18"/>
          <p:cNvCxnSpPr/>
          <p:nvPr/>
        </p:nvCxnSpPr>
        <p:spPr>
          <a:xfrm>
            <a:off x="9144000" y="4572000"/>
            <a:ext cx="1810512" cy="0"/>
          </a:xfrm>
          <a:prstGeom prst="line">
            <a:avLst/>
          </a:prstGeom>
          <a:ln w="12700">
            <a:solidFill>
              <a:srgbClr val="C6D8AB"/>
            </a:solidFill>
          </a:ln>
        </p:spPr>
        <p:style>
          <a:lnRef idx="2">
            <a:schemeClr val="accent1"/>
          </a:lnRef>
          <a:fillRef idx="0">
            <a:schemeClr val="accent1"/>
          </a:fillRef>
          <a:effectRef idx="0">
            <a:schemeClr val="accent1"/>
          </a:effectRef>
          <a:fontRef idx="minor">
            <a:schemeClr val="tx1"/>
          </a:fontRef>
        </p:style>
      </p:cxnSp>
      <p:sp>
        <p:nvSpPr>
          <p:cNvPr id="20" name="Oval 19"/>
          <p:cNvSpPr/>
          <p:nvPr/>
        </p:nvSpPr>
        <p:spPr>
          <a:xfrm>
            <a:off x="9098280" y="4526280"/>
            <a:ext cx="91440" cy="91440"/>
          </a:xfrm>
          <a:prstGeom prst="ellipse">
            <a:avLst/>
          </a:prstGeom>
          <a:solidFill>
            <a:srgbClr val="C6D8A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10003536" y="4526280"/>
            <a:ext cx="91440" cy="91440"/>
          </a:xfrm>
          <a:prstGeom prst="ellipse">
            <a:avLst/>
          </a:prstGeom>
          <a:solidFill>
            <a:srgbClr val="C6D8A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Oval 21"/>
          <p:cNvSpPr/>
          <p:nvPr/>
        </p:nvSpPr>
        <p:spPr>
          <a:xfrm>
            <a:off x="10908792" y="4526280"/>
            <a:ext cx="91440" cy="91440"/>
          </a:xfrm>
          <a:prstGeom prst="ellipse">
            <a:avLst/>
          </a:prstGeom>
          <a:solidFill>
            <a:srgbClr val="C6D8A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851392" y="4937760"/>
            <a:ext cx="2423160" cy="640080"/>
          </a:xfrm>
          <a:prstGeom prst="rect">
            <a:avLst/>
          </a:prstGeom>
          <a:noFill/>
        </p:spPr>
        <p:txBody>
          <a:bodyPr wrap="square" lIns="9144" rIns="9144" tIns="9144" bIns="9144">
            <a:spAutoFit/>
          </a:bodyPr>
          <a:lstStyle/>
          <a:p>
            <a:pPr>
              <a:lnSpc>
                <a:spcPct val="105000"/>
              </a:lnSpc>
              <a:spcBef>
                <a:spcPts val="0"/>
              </a:spcBef>
              <a:spcAft>
                <a:spcPts val="0"/>
              </a:spcAft>
              <a:defRPr sz="2000" b="0" i="0">
                <a:solidFill>
                  <a:srgbClr val="F6F4ED"/>
                </a:solidFill>
                <a:latin typeface="Liberation Serif"/>
              </a:defRPr>
            </a:pPr>
            <a:r>
              <a:t>Place. Dates. Context.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4ED"/>
        </a:solidFill>
        <a:effectLst/>
      </p:bgPr>
    </p:bg>
    <p:spTree>
      <p:nvGrpSpPr>
        <p:cNvPr id="1" name=""/>
        <p:cNvGrpSpPr/>
        <p:nvPr/>
      </p:nvGrpSpPr>
      <p:grpSpPr/>
      <p:sp>
        <p:nvSpPr>
          <p:cNvPr id="2" name="Oval 1"/>
          <p:cNvSpPr/>
          <p:nvPr/>
        </p:nvSpPr>
        <p:spPr>
          <a:xfrm>
            <a:off x="548640" y="265176"/>
            <a:ext cx="256032" cy="256032"/>
          </a:xfrm>
          <a:prstGeom prst="ellipse">
            <a:avLst/>
          </a:prstGeom>
          <a:solidFill>
            <a:srgbClr val="F6F4ED"/>
          </a:solidFill>
          <a:ln w="20320">
            <a:solidFill>
              <a:srgbClr val="65726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Diamond 2"/>
          <p:cNvSpPr/>
          <p:nvPr/>
        </p:nvSpPr>
        <p:spPr>
          <a:xfrm rot="2100000">
            <a:off x="638251" y="318942"/>
            <a:ext cx="76809" cy="148498"/>
          </a:xfrm>
          <a:prstGeom prst="diamond">
            <a:avLst/>
          </a:prstGeom>
          <a:solidFill>
            <a:srgbClr val="65726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Oval 3"/>
          <p:cNvSpPr/>
          <p:nvPr/>
        </p:nvSpPr>
        <p:spPr>
          <a:xfrm>
            <a:off x="663854" y="380390"/>
            <a:ext cx="25603" cy="25603"/>
          </a:xfrm>
          <a:prstGeom prst="ellipse">
            <a:avLst/>
          </a:prstGeom>
          <a:solidFill>
            <a:srgbClr val="F6F4E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914400" y="292608"/>
            <a:ext cx="7955279" cy="237744"/>
          </a:xfrm>
          <a:prstGeom prst="rect">
            <a:avLst/>
          </a:prstGeom>
          <a:noFill/>
        </p:spPr>
        <p:txBody>
          <a:bodyPr wrap="square" lIns="9144" rIns="9144" tIns="9144" bIns="9144">
            <a:spAutoFit/>
          </a:bodyPr>
          <a:lstStyle/>
          <a:p>
            <a:pPr>
              <a:lnSpc>
                <a:spcPct val="105000"/>
              </a:lnSpc>
              <a:spcBef>
                <a:spcPts val="0"/>
              </a:spcBef>
              <a:spcAft>
                <a:spcPts val="0"/>
              </a:spcAft>
              <a:defRPr sz="1000" b="0" i="0">
                <a:solidFill>
                  <a:srgbClr val="657268"/>
                </a:solidFill>
                <a:latin typeface="Liberation Mono"/>
              </a:defRPr>
            </a:pPr>
            <a:r>
              <a:t>TRACERISK / THE PROBLEM</a:t>
            </a:r>
          </a:p>
        </p:txBody>
      </p:sp>
      <p:sp>
        <p:nvSpPr>
          <p:cNvPr id="6" name="TextBox 5"/>
          <p:cNvSpPr txBox="1"/>
          <p:nvPr/>
        </p:nvSpPr>
        <p:spPr>
          <a:xfrm>
            <a:off x="9774936" y="292608"/>
            <a:ext cx="1965960" cy="237744"/>
          </a:xfrm>
          <a:prstGeom prst="rect">
            <a:avLst/>
          </a:prstGeom>
          <a:noFill/>
        </p:spPr>
        <p:txBody>
          <a:bodyPr wrap="square" lIns="9144" rIns="9144" tIns="9144" bIns="9144">
            <a:spAutoFit/>
          </a:bodyPr>
          <a:lstStyle/>
          <a:p>
            <a:pPr>
              <a:lnSpc>
                <a:spcPct val="105000"/>
              </a:lnSpc>
              <a:spcBef>
                <a:spcPts val="0"/>
              </a:spcBef>
              <a:spcAft>
                <a:spcPts val="0"/>
              </a:spcAft>
              <a:defRPr sz="1000" b="0" i="0">
                <a:solidFill>
                  <a:srgbClr val="657268"/>
                </a:solidFill>
                <a:latin typeface="Liberation Mono"/>
              </a:defRPr>
            </a:pPr>
            <a:r>
              <a:t>AZINHACK 2026</a:t>
            </a:r>
          </a:p>
        </p:txBody>
      </p:sp>
      <p:cxnSp>
        <p:nvCxnSpPr>
          <p:cNvPr id="7" name="Connector 6"/>
          <p:cNvCxnSpPr/>
          <p:nvPr/>
        </p:nvCxnSpPr>
        <p:spPr>
          <a:xfrm>
            <a:off x="548640" y="6345936"/>
            <a:ext cx="11091672" cy="0"/>
          </a:xfrm>
          <a:prstGeom prst="line">
            <a:avLst/>
          </a:prstGeom>
          <a:ln w="10160">
            <a:solidFill>
              <a:srgbClr val="DADDCE"/>
            </a:solidFill>
          </a:ln>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85216" y="6492240"/>
            <a:ext cx="7315200" cy="237744"/>
          </a:xfrm>
          <a:prstGeom prst="rect">
            <a:avLst/>
          </a:prstGeom>
          <a:noFill/>
        </p:spPr>
        <p:txBody>
          <a:bodyPr wrap="square" lIns="9144" rIns="9144" tIns="9144" bIns="9144">
            <a:spAutoFit/>
          </a:bodyPr>
          <a:lstStyle/>
          <a:p>
            <a:pPr>
              <a:lnSpc>
                <a:spcPct val="105000"/>
              </a:lnSpc>
              <a:spcBef>
                <a:spcPts val="0"/>
              </a:spcBef>
              <a:spcAft>
                <a:spcPts val="0"/>
              </a:spcAft>
              <a:defRPr sz="800" b="0" i="0">
                <a:solidFill>
                  <a:srgbClr val="657268"/>
                </a:solidFill>
                <a:latin typeface="Liberation Mono"/>
              </a:defRPr>
            </a:pPr>
            <a:r>
              <a:t>THE TRAVEL FIELD GUIDE FOR INDIA</a:t>
            </a:r>
          </a:p>
        </p:txBody>
      </p:sp>
      <p:sp>
        <p:nvSpPr>
          <p:cNvPr id="9" name="TextBox 8"/>
          <p:cNvSpPr txBox="1"/>
          <p:nvPr/>
        </p:nvSpPr>
        <p:spPr>
          <a:xfrm>
            <a:off x="10963656" y="6492240"/>
            <a:ext cx="731520" cy="237744"/>
          </a:xfrm>
          <a:prstGeom prst="rect">
            <a:avLst/>
          </a:prstGeom>
          <a:noFill/>
        </p:spPr>
        <p:txBody>
          <a:bodyPr wrap="square" lIns="9144" rIns="9144" tIns="9144" bIns="9144">
            <a:spAutoFit/>
          </a:bodyPr>
          <a:lstStyle/>
          <a:p>
            <a:pPr>
              <a:lnSpc>
                <a:spcPct val="105000"/>
              </a:lnSpc>
              <a:spcBef>
                <a:spcPts val="0"/>
              </a:spcBef>
              <a:spcAft>
                <a:spcPts val="0"/>
              </a:spcAft>
              <a:defRPr sz="800" b="0" i="0">
                <a:solidFill>
                  <a:srgbClr val="657268"/>
                </a:solidFill>
                <a:latin typeface="Liberation Mono"/>
              </a:defRPr>
            </a:pPr>
            <a:r>
              <a:t>02 / 12</a:t>
            </a:r>
          </a:p>
        </p:txBody>
      </p:sp>
      <p:sp>
        <p:nvSpPr>
          <p:cNvPr id="10" name="TextBox 9"/>
          <p:cNvSpPr txBox="1"/>
          <p:nvPr/>
        </p:nvSpPr>
        <p:spPr>
          <a:xfrm>
            <a:off x="594360" y="914400"/>
            <a:ext cx="11018520" cy="685800"/>
          </a:xfrm>
          <a:prstGeom prst="rect">
            <a:avLst/>
          </a:prstGeom>
          <a:noFill/>
        </p:spPr>
        <p:txBody>
          <a:bodyPr wrap="square" lIns="9144" rIns="9144" tIns="9144" bIns="9144">
            <a:spAutoFit/>
          </a:bodyPr>
          <a:lstStyle/>
          <a:p>
            <a:pPr>
              <a:lnSpc>
                <a:spcPct val="105000"/>
              </a:lnSpc>
              <a:spcBef>
                <a:spcPts val="0"/>
              </a:spcBef>
              <a:spcAft>
                <a:spcPts val="0"/>
              </a:spcAft>
              <a:defRPr sz="3800" b="0" i="0">
                <a:solidFill>
                  <a:srgbClr val="23392F"/>
                </a:solidFill>
                <a:latin typeface="Liberation Serif"/>
              </a:defRPr>
            </a:pPr>
            <a:r>
              <a:t>Too many tabs. Too little context.</a:t>
            </a:r>
          </a:p>
        </p:txBody>
      </p:sp>
      <p:sp>
        <p:nvSpPr>
          <p:cNvPr id="11" name="TextBox 10"/>
          <p:cNvSpPr txBox="1"/>
          <p:nvPr/>
        </p:nvSpPr>
        <p:spPr>
          <a:xfrm>
            <a:off x="621792" y="2139696"/>
            <a:ext cx="4846320" cy="1508760"/>
          </a:xfrm>
          <a:prstGeom prst="rect">
            <a:avLst/>
          </a:prstGeom>
          <a:noFill/>
        </p:spPr>
        <p:txBody>
          <a:bodyPr wrap="square" lIns="9144" rIns="9144" tIns="9144" bIns="9144">
            <a:spAutoFit/>
          </a:bodyPr>
          <a:lstStyle/>
          <a:p>
            <a:pPr>
              <a:lnSpc>
                <a:spcPct val="105000"/>
              </a:lnSpc>
              <a:spcBef>
                <a:spcPts val="0"/>
              </a:spcBef>
              <a:spcAft>
                <a:spcPts val="0"/>
              </a:spcAft>
              <a:defRPr sz="3600" b="0" i="0">
                <a:solidFill>
                  <a:srgbClr val="23392F"/>
                </a:solidFill>
                <a:latin typeface="Liberation Serif"/>
              </a:defRPr>
            </a:pPr>
            <a:r>
              <a:t>Before you travel,</a:t>
            </a:r>
          </a:p>
          <a:p>
            <a:pPr>
              <a:lnSpc>
                <a:spcPct val="105000"/>
              </a:lnSpc>
              <a:spcBef>
                <a:spcPts val="0"/>
              </a:spcBef>
              <a:spcAft>
                <a:spcPts val="0"/>
              </a:spcAft>
              <a:defRPr sz="3600" b="0" i="0">
                <a:solidFill>
                  <a:srgbClr val="23392F"/>
                </a:solidFill>
                <a:latin typeface="Liberation Serif"/>
              </a:defRPr>
            </a:pPr>
            <a:r>
              <a:t>what has changed?</a:t>
            </a:r>
          </a:p>
        </p:txBody>
      </p:sp>
      <p:sp>
        <p:nvSpPr>
          <p:cNvPr id="12" name="TextBox 11"/>
          <p:cNvSpPr txBox="1"/>
          <p:nvPr/>
        </p:nvSpPr>
        <p:spPr>
          <a:xfrm>
            <a:off x="640080" y="3886200"/>
            <a:ext cx="4389120" cy="914400"/>
          </a:xfrm>
          <a:prstGeom prst="rect">
            <a:avLst/>
          </a:prstGeom>
          <a:noFill/>
        </p:spPr>
        <p:txBody>
          <a:bodyPr wrap="square" lIns="9144" rIns="9144" tIns="9144" bIns="9144">
            <a:spAutoFit/>
          </a:bodyPr>
          <a:lstStyle/>
          <a:p>
            <a:pPr>
              <a:lnSpc>
                <a:spcPct val="105000"/>
              </a:lnSpc>
              <a:spcBef>
                <a:spcPts val="0"/>
              </a:spcBef>
              <a:spcAft>
                <a:spcPts val="0"/>
              </a:spcAft>
              <a:defRPr sz="2300" b="0" i="0">
                <a:solidFill>
                  <a:srgbClr val="657268"/>
                </a:solidFill>
                <a:latin typeface="Liberation Sans"/>
              </a:defRPr>
            </a:pPr>
            <a:r>
              <a:t>Useful information exists.</a:t>
            </a:r>
          </a:p>
          <a:p>
            <a:pPr>
              <a:lnSpc>
                <a:spcPct val="105000"/>
              </a:lnSpc>
              <a:spcBef>
                <a:spcPts val="0"/>
              </a:spcBef>
              <a:spcAft>
                <a:spcPts val="0"/>
              </a:spcAft>
              <a:defRPr sz="2300" b="0" i="0">
                <a:solidFill>
                  <a:srgbClr val="657268"/>
                </a:solidFill>
                <a:latin typeface="Liberation Sans"/>
              </a:defRPr>
            </a:pPr>
            <a:r>
              <a:t>Connecting it takes time.</a:t>
            </a:r>
          </a:p>
        </p:txBody>
      </p:sp>
      <p:cxnSp>
        <p:nvCxnSpPr>
          <p:cNvPr id="13" name="Connector 12"/>
          <p:cNvCxnSpPr/>
          <p:nvPr/>
        </p:nvCxnSpPr>
        <p:spPr>
          <a:xfrm>
            <a:off x="5806440" y="2020824"/>
            <a:ext cx="5715000" cy="0"/>
          </a:xfrm>
          <a:prstGeom prst="line">
            <a:avLst/>
          </a:prstGeom>
          <a:ln w="12700">
            <a:solidFill>
              <a:srgbClr val="DADDCE"/>
            </a:solidFill>
          </a:ln>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5852160" y="2167128"/>
            <a:ext cx="502920" cy="237744"/>
          </a:xfrm>
          <a:prstGeom prst="rect">
            <a:avLst/>
          </a:prstGeom>
          <a:noFill/>
        </p:spPr>
        <p:txBody>
          <a:bodyPr wrap="square" lIns="9144" rIns="9144" tIns="9144" bIns="9144">
            <a:spAutoFit/>
          </a:bodyPr>
          <a:lstStyle/>
          <a:p>
            <a:pPr>
              <a:lnSpc>
                <a:spcPct val="105000"/>
              </a:lnSpc>
              <a:spcBef>
                <a:spcPts val="0"/>
              </a:spcBef>
              <a:spcAft>
                <a:spcPts val="0"/>
              </a:spcAft>
              <a:defRPr sz="1100" b="0" i="0">
                <a:solidFill>
                  <a:srgbClr val="A8472E"/>
                </a:solidFill>
                <a:latin typeface="Liberation Mono"/>
              </a:defRPr>
            </a:pPr>
            <a:r>
              <a:t>01</a:t>
            </a:r>
          </a:p>
        </p:txBody>
      </p:sp>
      <p:sp>
        <p:nvSpPr>
          <p:cNvPr id="15" name="TextBox 14"/>
          <p:cNvSpPr txBox="1"/>
          <p:nvPr/>
        </p:nvSpPr>
        <p:spPr>
          <a:xfrm>
            <a:off x="6473952" y="2130552"/>
            <a:ext cx="4754880" cy="338328"/>
          </a:xfrm>
          <a:prstGeom prst="rect">
            <a:avLst/>
          </a:prstGeom>
          <a:noFill/>
        </p:spPr>
        <p:txBody>
          <a:bodyPr wrap="square" lIns="9144" rIns="9144" tIns="9144" bIns="9144">
            <a:spAutoFit/>
          </a:bodyPr>
          <a:lstStyle/>
          <a:p>
            <a:pPr>
              <a:lnSpc>
                <a:spcPct val="105000"/>
              </a:lnSpc>
              <a:spcBef>
                <a:spcPts val="0"/>
              </a:spcBef>
              <a:spcAft>
                <a:spcPts val="0"/>
              </a:spcAft>
              <a:defRPr sz="2200" b="1" i="0">
                <a:solidFill>
                  <a:srgbClr val="23392F"/>
                </a:solidFill>
                <a:latin typeface="Liberation Sans"/>
              </a:defRPr>
            </a:pPr>
            <a:r>
              <a:t>Local reports</a:t>
            </a:r>
          </a:p>
        </p:txBody>
      </p:sp>
      <p:sp>
        <p:nvSpPr>
          <p:cNvPr id="16" name="TextBox 15"/>
          <p:cNvSpPr txBox="1"/>
          <p:nvPr/>
        </p:nvSpPr>
        <p:spPr>
          <a:xfrm>
            <a:off x="6473952" y="2551176"/>
            <a:ext cx="4754880" cy="393192"/>
          </a:xfrm>
          <a:prstGeom prst="rect">
            <a:avLst/>
          </a:prstGeom>
          <a:noFill/>
        </p:spPr>
        <p:txBody>
          <a:bodyPr wrap="square" lIns="9144" rIns="9144" tIns="9144" bIns="9144">
            <a:spAutoFit/>
          </a:bodyPr>
          <a:lstStyle/>
          <a:p>
            <a:pPr>
              <a:lnSpc>
                <a:spcPct val="105000"/>
              </a:lnSpc>
              <a:spcBef>
                <a:spcPts val="0"/>
              </a:spcBef>
              <a:spcAft>
                <a:spcPts val="0"/>
              </a:spcAft>
              <a:defRPr sz="1800" b="0" i="0">
                <a:solidFill>
                  <a:srgbClr val="657268"/>
                </a:solidFill>
                <a:latin typeface="Liberation Sans"/>
              </a:defRPr>
            </a:pPr>
            <a:r>
              <a:t>Does this story apply to my destination?</a:t>
            </a:r>
          </a:p>
        </p:txBody>
      </p:sp>
      <p:cxnSp>
        <p:nvCxnSpPr>
          <p:cNvPr id="17" name="Connector 16"/>
          <p:cNvCxnSpPr/>
          <p:nvPr/>
        </p:nvCxnSpPr>
        <p:spPr>
          <a:xfrm>
            <a:off x="5806440" y="3054096"/>
            <a:ext cx="5715000" cy="0"/>
          </a:xfrm>
          <a:prstGeom prst="line">
            <a:avLst/>
          </a:prstGeom>
          <a:ln w="12700">
            <a:solidFill>
              <a:srgbClr val="DADDCE"/>
            </a:solidFill>
          </a:ln>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5852160" y="3200400"/>
            <a:ext cx="502920" cy="237744"/>
          </a:xfrm>
          <a:prstGeom prst="rect">
            <a:avLst/>
          </a:prstGeom>
          <a:noFill/>
        </p:spPr>
        <p:txBody>
          <a:bodyPr wrap="square" lIns="9144" rIns="9144" tIns="9144" bIns="9144">
            <a:spAutoFit/>
          </a:bodyPr>
          <a:lstStyle/>
          <a:p>
            <a:pPr>
              <a:lnSpc>
                <a:spcPct val="105000"/>
              </a:lnSpc>
              <a:spcBef>
                <a:spcPts val="0"/>
              </a:spcBef>
              <a:spcAft>
                <a:spcPts val="0"/>
              </a:spcAft>
              <a:defRPr sz="1100" b="0" i="0">
                <a:solidFill>
                  <a:srgbClr val="A8472E"/>
                </a:solidFill>
                <a:latin typeface="Liberation Mono"/>
              </a:defRPr>
            </a:pPr>
            <a:r>
              <a:t>02</a:t>
            </a:r>
          </a:p>
        </p:txBody>
      </p:sp>
      <p:sp>
        <p:nvSpPr>
          <p:cNvPr id="19" name="TextBox 18"/>
          <p:cNvSpPr txBox="1"/>
          <p:nvPr/>
        </p:nvSpPr>
        <p:spPr>
          <a:xfrm>
            <a:off x="6473952" y="3163824"/>
            <a:ext cx="4754880" cy="338328"/>
          </a:xfrm>
          <a:prstGeom prst="rect">
            <a:avLst/>
          </a:prstGeom>
          <a:noFill/>
        </p:spPr>
        <p:txBody>
          <a:bodyPr wrap="square" lIns="9144" rIns="9144" tIns="9144" bIns="9144">
            <a:spAutoFit/>
          </a:bodyPr>
          <a:lstStyle/>
          <a:p>
            <a:pPr>
              <a:lnSpc>
                <a:spcPct val="105000"/>
              </a:lnSpc>
              <a:spcBef>
                <a:spcPts val="0"/>
              </a:spcBef>
              <a:spcAft>
                <a:spcPts val="0"/>
              </a:spcAft>
              <a:defRPr sz="2200" b="1" i="0">
                <a:solidFill>
                  <a:srgbClr val="23392F"/>
                </a:solidFill>
                <a:latin typeface="Liberation Sans"/>
              </a:defRPr>
            </a:pPr>
            <a:r>
              <a:t>Transport updates</a:t>
            </a:r>
          </a:p>
        </p:txBody>
      </p:sp>
      <p:sp>
        <p:nvSpPr>
          <p:cNvPr id="20" name="TextBox 19"/>
          <p:cNvSpPr txBox="1"/>
          <p:nvPr/>
        </p:nvSpPr>
        <p:spPr>
          <a:xfrm>
            <a:off x="6473952" y="3584448"/>
            <a:ext cx="4754880" cy="393192"/>
          </a:xfrm>
          <a:prstGeom prst="rect">
            <a:avLst/>
          </a:prstGeom>
          <a:noFill/>
        </p:spPr>
        <p:txBody>
          <a:bodyPr wrap="square" lIns="9144" rIns="9144" tIns="9144" bIns="9144">
            <a:spAutoFit/>
          </a:bodyPr>
          <a:lstStyle/>
          <a:p>
            <a:pPr>
              <a:lnSpc>
                <a:spcPct val="105000"/>
              </a:lnSpc>
              <a:spcBef>
                <a:spcPts val="0"/>
              </a:spcBef>
              <a:spcAft>
                <a:spcPts val="0"/>
              </a:spcAft>
              <a:defRPr sz="1800" b="0" i="0">
                <a:solidFill>
                  <a:srgbClr val="657268"/>
                </a:solidFill>
                <a:latin typeface="Liberation Sans"/>
              </a:defRPr>
            </a:pPr>
            <a:r>
              <a:t>Could my route or journey be affected?</a:t>
            </a:r>
          </a:p>
        </p:txBody>
      </p:sp>
      <p:cxnSp>
        <p:nvCxnSpPr>
          <p:cNvPr id="21" name="Connector 20"/>
          <p:cNvCxnSpPr/>
          <p:nvPr/>
        </p:nvCxnSpPr>
        <p:spPr>
          <a:xfrm>
            <a:off x="5806440" y="4087368"/>
            <a:ext cx="5715000" cy="0"/>
          </a:xfrm>
          <a:prstGeom prst="line">
            <a:avLst/>
          </a:prstGeom>
          <a:ln w="12700">
            <a:solidFill>
              <a:srgbClr val="DADDCE"/>
            </a:solidFill>
          </a:ln>
        </p:spPr>
        <p:style>
          <a:lnRef idx="2">
            <a:schemeClr val="accent1"/>
          </a:lnRef>
          <a:fillRef idx="0">
            <a:schemeClr val="accent1"/>
          </a:fillRef>
          <a:effectRef idx="0">
            <a:schemeClr val="accent1"/>
          </a:effectRef>
          <a:fontRef idx="minor">
            <a:schemeClr val="tx1"/>
          </a:fontRef>
        </p:style>
      </p:cxnSp>
      <p:sp>
        <p:nvSpPr>
          <p:cNvPr id="22" name="TextBox 21"/>
          <p:cNvSpPr txBox="1"/>
          <p:nvPr/>
        </p:nvSpPr>
        <p:spPr>
          <a:xfrm>
            <a:off x="5852160" y="4233671"/>
            <a:ext cx="502920" cy="237744"/>
          </a:xfrm>
          <a:prstGeom prst="rect">
            <a:avLst/>
          </a:prstGeom>
          <a:noFill/>
        </p:spPr>
        <p:txBody>
          <a:bodyPr wrap="square" lIns="9144" rIns="9144" tIns="9144" bIns="9144">
            <a:spAutoFit/>
          </a:bodyPr>
          <a:lstStyle/>
          <a:p>
            <a:pPr>
              <a:lnSpc>
                <a:spcPct val="105000"/>
              </a:lnSpc>
              <a:spcBef>
                <a:spcPts val="0"/>
              </a:spcBef>
              <a:spcAft>
                <a:spcPts val="0"/>
              </a:spcAft>
              <a:defRPr sz="1100" b="0" i="0">
                <a:solidFill>
                  <a:srgbClr val="A8472E"/>
                </a:solidFill>
                <a:latin typeface="Liberation Mono"/>
              </a:defRPr>
            </a:pPr>
            <a:r>
              <a:t>03</a:t>
            </a:r>
          </a:p>
        </p:txBody>
      </p:sp>
      <p:sp>
        <p:nvSpPr>
          <p:cNvPr id="23" name="TextBox 22"/>
          <p:cNvSpPr txBox="1"/>
          <p:nvPr/>
        </p:nvSpPr>
        <p:spPr>
          <a:xfrm>
            <a:off x="6473952" y="4197096"/>
            <a:ext cx="4754880" cy="338328"/>
          </a:xfrm>
          <a:prstGeom prst="rect">
            <a:avLst/>
          </a:prstGeom>
          <a:noFill/>
        </p:spPr>
        <p:txBody>
          <a:bodyPr wrap="square" lIns="9144" rIns="9144" tIns="9144" bIns="9144">
            <a:spAutoFit/>
          </a:bodyPr>
          <a:lstStyle/>
          <a:p>
            <a:pPr>
              <a:lnSpc>
                <a:spcPct val="105000"/>
              </a:lnSpc>
              <a:spcBef>
                <a:spcPts val="0"/>
              </a:spcBef>
              <a:spcAft>
                <a:spcPts val="0"/>
              </a:spcAft>
              <a:defRPr sz="2200" b="1" i="0">
                <a:solidFill>
                  <a:srgbClr val="23392F"/>
                </a:solidFill>
                <a:latin typeface="Liberation Sans"/>
              </a:defRPr>
            </a:pPr>
            <a:r>
              <a:t>Weather &amp; notices</a:t>
            </a:r>
          </a:p>
        </p:txBody>
      </p:sp>
      <p:sp>
        <p:nvSpPr>
          <p:cNvPr id="24" name="TextBox 23"/>
          <p:cNvSpPr txBox="1"/>
          <p:nvPr/>
        </p:nvSpPr>
        <p:spPr>
          <a:xfrm>
            <a:off x="6473952" y="4617720"/>
            <a:ext cx="4754880" cy="393192"/>
          </a:xfrm>
          <a:prstGeom prst="rect">
            <a:avLst/>
          </a:prstGeom>
          <a:noFill/>
        </p:spPr>
        <p:txBody>
          <a:bodyPr wrap="square" lIns="9144" rIns="9144" tIns="9144" bIns="9144">
            <a:spAutoFit/>
          </a:bodyPr>
          <a:lstStyle/>
          <a:p>
            <a:pPr>
              <a:lnSpc>
                <a:spcPct val="105000"/>
              </a:lnSpc>
              <a:spcBef>
                <a:spcPts val="0"/>
              </a:spcBef>
              <a:spcAft>
                <a:spcPts val="0"/>
              </a:spcAft>
              <a:defRPr sz="1800" b="0" i="0">
                <a:solidFill>
                  <a:srgbClr val="657268"/>
                </a:solidFill>
                <a:latin typeface="Liberation Sans"/>
              </a:defRPr>
            </a:pPr>
            <a:r>
              <a:t>Does the information cover my dates?</a:t>
            </a:r>
          </a:p>
        </p:txBody>
      </p:sp>
      <p:sp>
        <p:nvSpPr>
          <p:cNvPr id="25" name="Rectangle 24"/>
          <p:cNvSpPr/>
          <p:nvPr/>
        </p:nvSpPr>
        <p:spPr>
          <a:xfrm>
            <a:off x="621792" y="5486400"/>
            <a:ext cx="10954512" cy="530352"/>
          </a:xfrm>
          <a:prstGeom prst="rect">
            <a:avLst/>
          </a:prstGeom>
          <a:solidFill>
            <a:srgbClr val="E9EFD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832104" y="5586984"/>
            <a:ext cx="10515600" cy="329184"/>
          </a:xfrm>
          <a:prstGeom prst="rect">
            <a:avLst/>
          </a:prstGeom>
          <a:noFill/>
        </p:spPr>
        <p:txBody>
          <a:bodyPr wrap="square" lIns="9144" rIns="9144" tIns="9144" bIns="9144">
            <a:spAutoFit/>
          </a:bodyPr>
          <a:lstStyle/>
          <a:p>
            <a:pPr>
              <a:lnSpc>
                <a:spcPct val="105000"/>
              </a:lnSpc>
              <a:spcBef>
                <a:spcPts val="0"/>
              </a:spcBef>
              <a:spcAft>
                <a:spcPts val="0"/>
              </a:spcAft>
              <a:defRPr sz="2000" b="0" i="0">
                <a:solidFill>
                  <a:srgbClr val="264B3A"/>
                </a:solidFill>
                <a:latin typeface="Liberation Sans"/>
              </a:defRPr>
            </a:pPr>
            <a:r>
              <a:t>The need: one useful briefing for a specific trip.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4ED"/>
        </a:solidFill>
        <a:effectLst/>
      </p:bgPr>
    </p:bg>
    <p:spTree>
      <p:nvGrpSpPr>
        <p:cNvPr id="1" name=""/>
        <p:cNvGrpSpPr/>
        <p:nvPr/>
      </p:nvGrpSpPr>
      <p:grpSpPr/>
      <p:sp>
        <p:nvSpPr>
          <p:cNvPr id="2" name="Oval 1"/>
          <p:cNvSpPr/>
          <p:nvPr/>
        </p:nvSpPr>
        <p:spPr>
          <a:xfrm>
            <a:off x="548640" y="265176"/>
            <a:ext cx="256032" cy="256032"/>
          </a:xfrm>
          <a:prstGeom prst="ellipse">
            <a:avLst/>
          </a:prstGeom>
          <a:solidFill>
            <a:srgbClr val="F6F4ED"/>
          </a:solidFill>
          <a:ln w="20320">
            <a:solidFill>
              <a:srgbClr val="65726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Diamond 2"/>
          <p:cNvSpPr/>
          <p:nvPr/>
        </p:nvSpPr>
        <p:spPr>
          <a:xfrm rot="2100000">
            <a:off x="638251" y="318942"/>
            <a:ext cx="76809" cy="148498"/>
          </a:xfrm>
          <a:prstGeom prst="diamond">
            <a:avLst/>
          </a:prstGeom>
          <a:solidFill>
            <a:srgbClr val="65726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Oval 3"/>
          <p:cNvSpPr/>
          <p:nvPr/>
        </p:nvSpPr>
        <p:spPr>
          <a:xfrm>
            <a:off x="663854" y="380390"/>
            <a:ext cx="25603" cy="25603"/>
          </a:xfrm>
          <a:prstGeom prst="ellipse">
            <a:avLst/>
          </a:prstGeom>
          <a:solidFill>
            <a:srgbClr val="F6F4E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914400" y="292608"/>
            <a:ext cx="7955279" cy="237744"/>
          </a:xfrm>
          <a:prstGeom prst="rect">
            <a:avLst/>
          </a:prstGeom>
          <a:noFill/>
        </p:spPr>
        <p:txBody>
          <a:bodyPr wrap="square" lIns="9144" rIns="9144" tIns="9144" bIns="9144">
            <a:spAutoFit/>
          </a:bodyPr>
          <a:lstStyle/>
          <a:p>
            <a:pPr>
              <a:lnSpc>
                <a:spcPct val="105000"/>
              </a:lnSpc>
              <a:spcBef>
                <a:spcPts val="0"/>
              </a:spcBef>
              <a:spcAft>
                <a:spcPts val="0"/>
              </a:spcAft>
              <a:defRPr sz="1000" b="0" i="0">
                <a:solidFill>
                  <a:srgbClr val="657268"/>
                </a:solidFill>
                <a:latin typeface="Liberation Mono"/>
              </a:defRPr>
            </a:pPr>
            <a:r>
              <a:t>TRACERISK / THE EXPERIENCE</a:t>
            </a:r>
          </a:p>
        </p:txBody>
      </p:sp>
      <p:sp>
        <p:nvSpPr>
          <p:cNvPr id="6" name="TextBox 5"/>
          <p:cNvSpPr txBox="1"/>
          <p:nvPr/>
        </p:nvSpPr>
        <p:spPr>
          <a:xfrm>
            <a:off x="9774936" y="292608"/>
            <a:ext cx="1965960" cy="237744"/>
          </a:xfrm>
          <a:prstGeom prst="rect">
            <a:avLst/>
          </a:prstGeom>
          <a:noFill/>
        </p:spPr>
        <p:txBody>
          <a:bodyPr wrap="square" lIns="9144" rIns="9144" tIns="9144" bIns="9144">
            <a:spAutoFit/>
          </a:bodyPr>
          <a:lstStyle/>
          <a:p>
            <a:pPr>
              <a:lnSpc>
                <a:spcPct val="105000"/>
              </a:lnSpc>
              <a:spcBef>
                <a:spcPts val="0"/>
              </a:spcBef>
              <a:spcAft>
                <a:spcPts val="0"/>
              </a:spcAft>
              <a:defRPr sz="1000" b="0" i="0">
                <a:solidFill>
                  <a:srgbClr val="657268"/>
                </a:solidFill>
                <a:latin typeface="Liberation Mono"/>
              </a:defRPr>
            </a:pPr>
            <a:r>
              <a:t>AZINHACK 2026</a:t>
            </a:r>
          </a:p>
        </p:txBody>
      </p:sp>
      <p:cxnSp>
        <p:nvCxnSpPr>
          <p:cNvPr id="7" name="Connector 6"/>
          <p:cNvCxnSpPr/>
          <p:nvPr/>
        </p:nvCxnSpPr>
        <p:spPr>
          <a:xfrm>
            <a:off x="548640" y="6345936"/>
            <a:ext cx="11091672" cy="0"/>
          </a:xfrm>
          <a:prstGeom prst="line">
            <a:avLst/>
          </a:prstGeom>
          <a:ln w="10160">
            <a:solidFill>
              <a:srgbClr val="DADDCE"/>
            </a:solidFill>
          </a:ln>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85216" y="6492240"/>
            <a:ext cx="7315200" cy="237744"/>
          </a:xfrm>
          <a:prstGeom prst="rect">
            <a:avLst/>
          </a:prstGeom>
          <a:noFill/>
        </p:spPr>
        <p:txBody>
          <a:bodyPr wrap="square" lIns="9144" rIns="9144" tIns="9144" bIns="9144">
            <a:spAutoFit/>
          </a:bodyPr>
          <a:lstStyle/>
          <a:p>
            <a:pPr>
              <a:lnSpc>
                <a:spcPct val="105000"/>
              </a:lnSpc>
              <a:spcBef>
                <a:spcPts val="0"/>
              </a:spcBef>
              <a:spcAft>
                <a:spcPts val="0"/>
              </a:spcAft>
              <a:defRPr sz="800" b="0" i="0">
                <a:solidFill>
                  <a:srgbClr val="657268"/>
                </a:solidFill>
                <a:latin typeface="Liberation Mono"/>
              </a:defRPr>
            </a:pPr>
            <a:r>
              <a:t>THE TRAVEL FIELD GUIDE FOR INDIA</a:t>
            </a:r>
          </a:p>
        </p:txBody>
      </p:sp>
      <p:sp>
        <p:nvSpPr>
          <p:cNvPr id="9" name="TextBox 8"/>
          <p:cNvSpPr txBox="1"/>
          <p:nvPr/>
        </p:nvSpPr>
        <p:spPr>
          <a:xfrm>
            <a:off x="10963656" y="6492240"/>
            <a:ext cx="731520" cy="237744"/>
          </a:xfrm>
          <a:prstGeom prst="rect">
            <a:avLst/>
          </a:prstGeom>
          <a:noFill/>
        </p:spPr>
        <p:txBody>
          <a:bodyPr wrap="square" lIns="9144" rIns="9144" tIns="9144" bIns="9144">
            <a:spAutoFit/>
          </a:bodyPr>
          <a:lstStyle/>
          <a:p>
            <a:pPr>
              <a:lnSpc>
                <a:spcPct val="105000"/>
              </a:lnSpc>
              <a:spcBef>
                <a:spcPts val="0"/>
              </a:spcBef>
              <a:spcAft>
                <a:spcPts val="0"/>
              </a:spcAft>
              <a:defRPr sz="800" b="0" i="0">
                <a:solidFill>
                  <a:srgbClr val="657268"/>
                </a:solidFill>
                <a:latin typeface="Liberation Mono"/>
              </a:defRPr>
            </a:pPr>
            <a:r>
              <a:t>03 / 12</a:t>
            </a:r>
          </a:p>
        </p:txBody>
      </p:sp>
      <p:sp>
        <p:nvSpPr>
          <p:cNvPr id="10" name="TextBox 9"/>
          <p:cNvSpPr txBox="1"/>
          <p:nvPr/>
        </p:nvSpPr>
        <p:spPr>
          <a:xfrm>
            <a:off x="594360" y="914400"/>
            <a:ext cx="11018520" cy="685800"/>
          </a:xfrm>
          <a:prstGeom prst="rect">
            <a:avLst/>
          </a:prstGeom>
          <a:noFill/>
        </p:spPr>
        <p:txBody>
          <a:bodyPr wrap="square" lIns="9144" rIns="9144" tIns="9144" bIns="9144">
            <a:spAutoFit/>
          </a:bodyPr>
          <a:lstStyle/>
          <a:p>
            <a:pPr>
              <a:lnSpc>
                <a:spcPct val="105000"/>
              </a:lnSpc>
              <a:spcBef>
                <a:spcPts val="0"/>
              </a:spcBef>
              <a:spcAft>
                <a:spcPts val="0"/>
              </a:spcAft>
              <a:defRPr sz="3800" b="0" i="0">
                <a:solidFill>
                  <a:srgbClr val="23392F"/>
                </a:solidFill>
                <a:latin typeface="Liberation Serif"/>
              </a:defRPr>
            </a:pPr>
            <a:r>
              <a:t>One trip. One clear briefing.</a:t>
            </a:r>
          </a:p>
        </p:txBody>
      </p:sp>
      <p:sp>
        <p:nvSpPr>
          <p:cNvPr id="11" name="TextBox 10"/>
          <p:cNvSpPr txBox="1"/>
          <p:nvPr/>
        </p:nvSpPr>
        <p:spPr>
          <a:xfrm>
            <a:off x="612648" y="1673352"/>
            <a:ext cx="10881360" cy="457200"/>
          </a:xfrm>
          <a:prstGeom prst="rect">
            <a:avLst/>
          </a:prstGeom>
          <a:noFill/>
        </p:spPr>
        <p:txBody>
          <a:bodyPr wrap="square" lIns="9144" rIns="9144" tIns="9144" bIns="9144">
            <a:spAutoFit/>
          </a:bodyPr>
          <a:lstStyle/>
          <a:p>
            <a:pPr>
              <a:lnSpc>
                <a:spcPct val="105000"/>
              </a:lnSpc>
              <a:spcBef>
                <a:spcPts val="0"/>
              </a:spcBef>
              <a:spcAft>
                <a:spcPts val="0"/>
              </a:spcAft>
              <a:defRPr sz="1800" b="0" i="0">
                <a:solidFill>
                  <a:srgbClr val="657268"/>
                </a:solidFill>
                <a:latin typeface="Liberation Sans"/>
              </a:defRPr>
            </a:pPr>
            <a:r>
              <a:t>A simple flow from travel plans to useful context.</a:t>
            </a:r>
          </a:p>
        </p:txBody>
      </p:sp>
      <p:sp>
        <p:nvSpPr>
          <p:cNvPr id="12" name="TextBox 11"/>
          <p:cNvSpPr txBox="1"/>
          <p:nvPr/>
        </p:nvSpPr>
        <p:spPr>
          <a:xfrm>
            <a:off x="640080" y="2514600"/>
            <a:ext cx="914400" cy="237744"/>
          </a:xfrm>
          <a:prstGeom prst="rect">
            <a:avLst/>
          </a:prstGeom>
          <a:noFill/>
        </p:spPr>
        <p:txBody>
          <a:bodyPr wrap="square" lIns="9144" rIns="9144" tIns="9144" bIns="9144">
            <a:spAutoFit/>
          </a:bodyPr>
          <a:lstStyle/>
          <a:p>
            <a:pPr>
              <a:lnSpc>
                <a:spcPct val="105000"/>
              </a:lnSpc>
              <a:spcBef>
                <a:spcPts val="0"/>
              </a:spcBef>
              <a:spcAft>
                <a:spcPts val="0"/>
              </a:spcAft>
              <a:defRPr sz="1400" b="0" i="0">
                <a:solidFill>
                  <a:srgbClr val="A8472E"/>
                </a:solidFill>
                <a:latin typeface="Liberation Mono"/>
              </a:defRPr>
            </a:pPr>
            <a:r>
              <a:t>01</a:t>
            </a:r>
          </a:p>
        </p:txBody>
      </p:sp>
      <p:cxnSp>
        <p:nvCxnSpPr>
          <p:cNvPr id="13" name="Connector 12"/>
          <p:cNvCxnSpPr/>
          <p:nvPr/>
        </p:nvCxnSpPr>
        <p:spPr>
          <a:xfrm>
            <a:off x="640080" y="2999232"/>
            <a:ext cx="3291840" cy="0"/>
          </a:xfrm>
          <a:prstGeom prst="line">
            <a:avLst/>
          </a:prstGeom>
          <a:ln w="19050">
            <a:solidFill>
              <a:srgbClr val="DADDCE"/>
            </a:solidFill>
          </a:ln>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640080" y="3255264"/>
            <a:ext cx="3383280" cy="548640"/>
          </a:xfrm>
          <a:prstGeom prst="rect">
            <a:avLst/>
          </a:prstGeom>
          <a:noFill/>
        </p:spPr>
        <p:txBody>
          <a:bodyPr wrap="square" lIns="9144" rIns="9144" tIns="9144" bIns="9144">
            <a:spAutoFit/>
          </a:bodyPr>
          <a:lstStyle/>
          <a:p>
            <a:pPr>
              <a:lnSpc>
                <a:spcPct val="105000"/>
              </a:lnSpc>
              <a:spcBef>
                <a:spcPts val="0"/>
              </a:spcBef>
              <a:spcAft>
                <a:spcPts val="0"/>
              </a:spcAft>
              <a:defRPr sz="2800" b="0" i="0">
                <a:solidFill>
                  <a:srgbClr val="23392F"/>
                </a:solidFill>
                <a:latin typeface="Liberation Serif"/>
              </a:defRPr>
            </a:pPr>
            <a:r>
              <a:t>Plan your trip</a:t>
            </a:r>
          </a:p>
        </p:txBody>
      </p:sp>
      <p:sp>
        <p:nvSpPr>
          <p:cNvPr id="15" name="TextBox 14"/>
          <p:cNvSpPr txBox="1"/>
          <p:nvPr/>
        </p:nvSpPr>
        <p:spPr>
          <a:xfrm>
            <a:off x="640080" y="3977639"/>
            <a:ext cx="3383280" cy="1033271"/>
          </a:xfrm>
          <a:prstGeom prst="rect">
            <a:avLst/>
          </a:prstGeom>
          <a:noFill/>
        </p:spPr>
        <p:txBody>
          <a:bodyPr wrap="square" lIns="9144" rIns="9144" tIns="9144" bIns="9144">
            <a:spAutoFit/>
          </a:bodyPr>
          <a:lstStyle/>
          <a:p>
            <a:pPr>
              <a:lnSpc>
                <a:spcPct val="105000"/>
              </a:lnSpc>
              <a:spcBef>
                <a:spcPts val="0"/>
              </a:spcBef>
              <a:spcAft>
                <a:spcPts val="0"/>
              </a:spcAft>
              <a:defRPr sz="2100" b="0" i="0">
                <a:solidFill>
                  <a:srgbClr val="657268"/>
                </a:solidFill>
                <a:latin typeface="Liberation Sans"/>
              </a:defRPr>
            </a:pPr>
            <a:r>
              <a:t>Choose a destination</a:t>
            </a:r>
          </a:p>
          <a:p>
            <a:pPr>
              <a:lnSpc>
                <a:spcPct val="105000"/>
              </a:lnSpc>
              <a:spcBef>
                <a:spcPts val="0"/>
              </a:spcBef>
              <a:spcAft>
                <a:spcPts val="0"/>
              </a:spcAft>
              <a:defRPr sz="2100" b="0" i="0">
                <a:solidFill>
                  <a:srgbClr val="657268"/>
                </a:solidFill>
                <a:latin typeface="Liberation Sans"/>
              </a:defRPr>
            </a:pPr>
            <a:r>
              <a:t>and travel dates.</a:t>
            </a:r>
          </a:p>
        </p:txBody>
      </p:sp>
      <p:sp>
        <p:nvSpPr>
          <p:cNvPr id="16" name="TextBox 15"/>
          <p:cNvSpPr txBox="1"/>
          <p:nvPr/>
        </p:nvSpPr>
        <p:spPr>
          <a:xfrm>
            <a:off x="4425696" y="2514600"/>
            <a:ext cx="914400" cy="237744"/>
          </a:xfrm>
          <a:prstGeom prst="rect">
            <a:avLst/>
          </a:prstGeom>
          <a:noFill/>
        </p:spPr>
        <p:txBody>
          <a:bodyPr wrap="square" lIns="9144" rIns="9144" tIns="9144" bIns="9144">
            <a:spAutoFit/>
          </a:bodyPr>
          <a:lstStyle/>
          <a:p>
            <a:pPr>
              <a:lnSpc>
                <a:spcPct val="105000"/>
              </a:lnSpc>
              <a:spcBef>
                <a:spcPts val="0"/>
              </a:spcBef>
              <a:spcAft>
                <a:spcPts val="0"/>
              </a:spcAft>
              <a:defRPr sz="1400" b="0" i="0">
                <a:solidFill>
                  <a:srgbClr val="A8472E"/>
                </a:solidFill>
                <a:latin typeface="Liberation Mono"/>
              </a:defRPr>
            </a:pPr>
            <a:r>
              <a:t>02</a:t>
            </a:r>
          </a:p>
        </p:txBody>
      </p:sp>
      <p:cxnSp>
        <p:nvCxnSpPr>
          <p:cNvPr id="17" name="Connector 16"/>
          <p:cNvCxnSpPr/>
          <p:nvPr/>
        </p:nvCxnSpPr>
        <p:spPr>
          <a:xfrm>
            <a:off x="4425696" y="2999232"/>
            <a:ext cx="3291840" cy="0"/>
          </a:xfrm>
          <a:prstGeom prst="line">
            <a:avLst/>
          </a:prstGeom>
          <a:ln w="19050">
            <a:solidFill>
              <a:srgbClr val="DADDCE"/>
            </a:solidFill>
          </a:ln>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4425696" y="3255264"/>
            <a:ext cx="3383280" cy="548640"/>
          </a:xfrm>
          <a:prstGeom prst="rect">
            <a:avLst/>
          </a:prstGeom>
          <a:noFill/>
        </p:spPr>
        <p:txBody>
          <a:bodyPr wrap="square" lIns="9144" rIns="9144" tIns="9144" bIns="9144">
            <a:spAutoFit/>
          </a:bodyPr>
          <a:lstStyle/>
          <a:p>
            <a:pPr>
              <a:lnSpc>
                <a:spcPct val="105000"/>
              </a:lnSpc>
              <a:spcBef>
                <a:spcPts val="0"/>
              </a:spcBef>
              <a:spcAft>
                <a:spcPts val="0"/>
              </a:spcAft>
              <a:defRPr sz="2800" b="0" i="0">
                <a:solidFill>
                  <a:srgbClr val="23392F"/>
                </a:solidFill>
                <a:latin typeface="Liberation Serif"/>
              </a:defRPr>
            </a:pPr>
            <a:r>
              <a:t>Confirm the place</a:t>
            </a:r>
          </a:p>
        </p:txBody>
      </p:sp>
      <p:sp>
        <p:nvSpPr>
          <p:cNvPr id="19" name="TextBox 18"/>
          <p:cNvSpPr txBox="1"/>
          <p:nvPr/>
        </p:nvSpPr>
        <p:spPr>
          <a:xfrm>
            <a:off x="4425696" y="3977639"/>
            <a:ext cx="3383280" cy="1033271"/>
          </a:xfrm>
          <a:prstGeom prst="rect">
            <a:avLst/>
          </a:prstGeom>
          <a:noFill/>
        </p:spPr>
        <p:txBody>
          <a:bodyPr wrap="square" lIns="9144" rIns="9144" tIns="9144" bIns="9144">
            <a:spAutoFit/>
          </a:bodyPr>
          <a:lstStyle/>
          <a:p>
            <a:pPr>
              <a:lnSpc>
                <a:spcPct val="105000"/>
              </a:lnSpc>
              <a:spcBef>
                <a:spcPts val="0"/>
              </a:spcBef>
              <a:spcAft>
                <a:spcPts val="0"/>
              </a:spcAft>
              <a:defRPr sz="2100" b="0" i="0">
                <a:solidFill>
                  <a:srgbClr val="657268"/>
                </a:solidFill>
                <a:latin typeface="Liberation Sans"/>
              </a:defRPr>
            </a:pPr>
            <a:r>
              <a:t>Select the right city,</a:t>
            </a:r>
          </a:p>
          <a:p>
            <a:pPr>
              <a:lnSpc>
                <a:spcPct val="105000"/>
              </a:lnSpc>
              <a:spcBef>
                <a:spcPts val="0"/>
              </a:spcBef>
              <a:spcAft>
                <a:spcPts val="0"/>
              </a:spcAft>
              <a:defRPr sz="2100" b="0" i="0">
                <a:solidFill>
                  <a:srgbClr val="657268"/>
                </a:solidFill>
                <a:latin typeface="Liberation Sans"/>
              </a:defRPr>
            </a:pPr>
            <a:r>
              <a:t>district and state.</a:t>
            </a:r>
          </a:p>
        </p:txBody>
      </p:sp>
      <p:sp>
        <p:nvSpPr>
          <p:cNvPr id="20" name="TextBox 19"/>
          <p:cNvSpPr txBox="1"/>
          <p:nvPr/>
        </p:nvSpPr>
        <p:spPr>
          <a:xfrm>
            <a:off x="8211311" y="2514600"/>
            <a:ext cx="914400" cy="237744"/>
          </a:xfrm>
          <a:prstGeom prst="rect">
            <a:avLst/>
          </a:prstGeom>
          <a:noFill/>
        </p:spPr>
        <p:txBody>
          <a:bodyPr wrap="square" lIns="9144" rIns="9144" tIns="9144" bIns="9144">
            <a:spAutoFit/>
          </a:bodyPr>
          <a:lstStyle/>
          <a:p>
            <a:pPr>
              <a:lnSpc>
                <a:spcPct val="105000"/>
              </a:lnSpc>
              <a:spcBef>
                <a:spcPts val="0"/>
              </a:spcBef>
              <a:spcAft>
                <a:spcPts val="0"/>
              </a:spcAft>
              <a:defRPr sz="1400" b="0" i="0">
                <a:solidFill>
                  <a:srgbClr val="A8472E"/>
                </a:solidFill>
                <a:latin typeface="Liberation Mono"/>
              </a:defRPr>
            </a:pPr>
            <a:r>
              <a:t>03</a:t>
            </a:r>
          </a:p>
        </p:txBody>
      </p:sp>
      <p:cxnSp>
        <p:nvCxnSpPr>
          <p:cNvPr id="21" name="Connector 20"/>
          <p:cNvCxnSpPr/>
          <p:nvPr/>
        </p:nvCxnSpPr>
        <p:spPr>
          <a:xfrm>
            <a:off x="8211311" y="2999232"/>
            <a:ext cx="3291840" cy="0"/>
          </a:xfrm>
          <a:prstGeom prst="line">
            <a:avLst/>
          </a:prstGeom>
          <a:ln w="19050">
            <a:solidFill>
              <a:srgbClr val="DADDCE"/>
            </a:solidFill>
          </a:ln>
        </p:spPr>
        <p:style>
          <a:lnRef idx="2">
            <a:schemeClr val="accent1"/>
          </a:lnRef>
          <a:fillRef idx="0">
            <a:schemeClr val="accent1"/>
          </a:fillRef>
          <a:effectRef idx="0">
            <a:schemeClr val="accent1"/>
          </a:effectRef>
          <a:fontRef idx="minor">
            <a:schemeClr val="tx1"/>
          </a:fontRef>
        </p:style>
      </p:cxnSp>
      <p:sp>
        <p:nvSpPr>
          <p:cNvPr id="22" name="TextBox 21"/>
          <p:cNvSpPr txBox="1"/>
          <p:nvPr/>
        </p:nvSpPr>
        <p:spPr>
          <a:xfrm>
            <a:off x="8211311" y="3255264"/>
            <a:ext cx="3383280" cy="548640"/>
          </a:xfrm>
          <a:prstGeom prst="rect">
            <a:avLst/>
          </a:prstGeom>
          <a:noFill/>
        </p:spPr>
        <p:txBody>
          <a:bodyPr wrap="square" lIns="9144" rIns="9144" tIns="9144" bIns="9144">
            <a:spAutoFit/>
          </a:bodyPr>
          <a:lstStyle/>
          <a:p>
            <a:pPr>
              <a:lnSpc>
                <a:spcPct val="105000"/>
              </a:lnSpc>
              <a:spcBef>
                <a:spcPts val="0"/>
              </a:spcBef>
              <a:spcAft>
                <a:spcPts val="0"/>
              </a:spcAft>
              <a:defRPr sz="2800" b="0" i="0">
                <a:solidFill>
                  <a:srgbClr val="23392F"/>
                </a:solidFill>
                <a:latin typeface="Liberation Serif"/>
              </a:defRPr>
            </a:pPr>
            <a:r>
              <a:t>Read your briefing</a:t>
            </a:r>
          </a:p>
        </p:txBody>
      </p:sp>
      <p:sp>
        <p:nvSpPr>
          <p:cNvPr id="23" name="TextBox 22"/>
          <p:cNvSpPr txBox="1"/>
          <p:nvPr/>
        </p:nvSpPr>
        <p:spPr>
          <a:xfrm>
            <a:off x="8211311" y="3977639"/>
            <a:ext cx="3383280" cy="1033271"/>
          </a:xfrm>
          <a:prstGeom prst="rect">
            <a:avLst/>
          </a:prstGeom>
          <a:noFill/>
        </p:spPr>
        <p:txBody>
          <a:bodyPr wrap="square" lIns="9144" rIns="9144" tIns="9144" bIns="9144">
            <a:spAutoFit/>
          </a:bodyPr>
          <a:lstStyle/>
          <a:p>
            <a:pPr>
              <a:lnSpc>
                <a:spcPct val="105000"/>
              </a:lnSpc>
              <a:spcBef>
                <a:spcPts val="0"/>
              </a:spcBef>
              <a:spcAft>
                <a:spcPts val="0"/>
              </a:spcAft>
              <a:defRPr sz="2100" b="0" i="0">
                <a:solidFill>
                  <a:srgbClr val="657268"/>
                </a:solidFill>
                <a:latin typeface="Liberation Sans"/>
              </a:defRPr>
            </a:pPr>
            <a:r>
              <a:t>Review findings, sources</a:t>
            </a:r>
          </a:p>
          <a:p>
            <a:pPr>
              <a:lnSpc>
                <a:spcPct val="105000"/>
              </a:lnSpc>
              <a:spcBef>
                <a:spcPts val="0"/>
              </a:spcBef>
              <a:spcAft>
                <a:spcPts val="0"/>
              </a:spcAft>
              <a:defRPr sz="2100" b="0" i="0">
                <a:solidFill>
                  <a:srgbClr val="657268"/>
                </a:solidFill>
                <a:latin typeface="Liberation Sans"/>
              </a:defRPr>
            </a:pPr>
            <a:r>
              <a:t>and information gaps.</a:t>
            </a:r>
          </a:p>
        </p:txBody>
      </p:sp>
      <p:sp>
        <p:nvSpPr>
          <p:cNvPr id="24" name="Rectangle 23"/>
          <p:cNvSpPr/>
          <p:nvPr/>
        </p:nvSpPr>
        <p:spPr>
          <a:xfrm>
            <a:off x="640080" y="5303520"/>
            <a:ext cx="10927080" cy="566928"/>
          </a:xfrm>
          <a:prstGeom prst="rect">
            <a:avLst/>
          </a:prstGeom>
          <a:solidFill>
            <a:srgbClr val="264B3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896112" y="5431536"/>
            <a:ext cx="10424160" cy="320040"/>
          </a:xfrm>
          <a:prstGeom prst="rect">
            <a:avLst/>
          </a:prstGeom>
          <a:noFill/>
        </p:spPr>
        <p:txBody>
          <a:bodyPr wrap="square" lIns="9144" rIns="9144" tIns="9144" bIns="9144">
            <a:spAutoFit/>
          </a:bodyPr>
          <a:lstStyle/>
          <a:p>
            <a:pPr>
              <a:lnSpc>
                <a:spcPct val="105000"/>
              </a:lnSpc>
              <a:spcBef>
                <a:spcPts val="0"/>
              </a:spcBef>
              <a:spcAft>
                <a:spcPts val="0"/>
              </a:spcAft>
              <a:defRPr sz="2100" b="0" i="0">
                <a:solidFill>
                  <a:srgbClr val="F6F4ED"/>
                </a:solidFill>
                <a:latin typeface="Liberation Sans"/>
              </a:defRPr>
            </a:pPr>
            <a:r>
              <a:t>Save a plan. Check the evidence. Keep the briefing.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4ED"/>
        </a:solidFill>
        <a:effectLst/>
      </p:bgPr>
    </p:bg>
    <p:spTree>
      <p:nvGrpSpPr>
        <p:cNvPr id="1" name=""/>
        <p:cNvGrpSpPr/>
        <p:nvPr/>
      </p:nvGrpSpPr>
      <p:grpSpPr/>
      <p:sp>
        <p:nvSpPr>
          <p:cNvPr id="2" name="Oval 1"/>
          <p:cNvSpPr/>
          <p:nvPr/>
        </p:nvSpPr>
        <p:spPr>
          <a:xfrm>
            <a:off x="548640" y="265176"/>
            <a:ext cx="256032" cy="256032"/>
          </a:xfrm>
          <a:prstGeom prst="ellipse">
            <a:avLst/>
          </a:prstGeom>
          <a:solidFill>
            <a:srgbClr val="F6F4ED"/>
          </a:solidFill>
          <a:ln w="20320">
            <a:solidFill>
              <a:srgbClr val="65726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Diamond 2"/>
          <p:cNvSpPr/>
          <p:nvPr/>
        </p:nvSpPr>
        <p:spPr>
          <a:xfrm rot="2100000">
            <a:off x="638251" y="318942"/>
            <a:ext cx="76809" cy="148498"/>
          </a:xfrm>
          <a:prstGeom prst="diamond">
            <a:avLst/>
          </a:prstGeom>
          <a:solidFill>
            <a:srgbClr val="65726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Oval 3"/>
          <p:cNvSpPr/>
          <p:nvPr/>
        </p:nvSpPr>
        <p:spPr>
          <a:xfrm>
            <a:off x="663854" y="380390"/>
            <a:ext cx="25603" cy="25603"/>
          </a:xfrm>
          <a:prstGeom prst="ellipse">
            <a:avLst/>
          </a:prstGeom>
          <a:solidFill>
            <a:srgbClr val="F6F4E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914400" y="292608"/>
            <a:ext cx="7955279" cy="237744"/>
          </a:xfrm>
          <a:prstGeom prst="rect">
            <a:avLst/>
          </a:prstGeom>
          <a:noFill/>
        </p:spPr>
        <p:txBody>
          <a:bodyPr wrap="square" lIns="9144" rIns="9144" tIns="9144" bIns="9144">
            <a:spAutoFit/>
          </a:bodyPr>
          <a:lstStyle/>
          <a:p>
            <a:pPr>
              <a:lnSpc>
                <a:spcPct val="105000"/>
              </a:lnSpc>
              <a:spcBef>
                <a:spcPts val="0"/>
              </a:spcBef>
              <a:spcAft>
                <a:spcPts val="0"/>
              </a:spcAft>
              <a:defRPr sz="1000" b="0" i="0">
                <a:solidFill>
                  <a:srgbClr val="657268"/>
                </a:solidFill>
                <a:latin typeface="Liberation Mono"/>
              </a:defRPr>
            </a:pPr>
            <a:r>
              <a:t>TRACERISK / THE PRODUCT</a:t>
            </a:r>
          </a:p>
        </p:txBody>
      </p:sp>
      <p:sp>
        <p:nvSpPr>
          <p:cNvPr id="6" name="TextBox 5"/>
          <p:cNvSpPr txBox="1"/>
          <p:nvPr/>
        </p:nvSpPr>
        <p:spPr>
          <a:xfrm>
            <a:off x="9774936" y="292608"/>
            <a:ext cx="1965960" cy="237744"/>
          </a:xfrm>
          <a:prstGeom prst="rect">
            <a:avLst/>
          </a:prstGeom>
          <a:noFill/>
        </p:spPr>
        <p:txBody>
          <a:bodyPr wrap="square" lIns="9144" rIns="9144" tIns="9144" bIns="9144">
            <a:spAutoFit/>
          </a:bodyPr>
          <a:lstStyle/>
          <a:p>
            <a:pPr>
              <a:lnSpc>
                <a:spcPct val="105000"/>
              </a:lnSpc>
              <a:spcBef>
                <a:spcPts val="0"/>
              </a:spcBef>
              <a:spcAft>
                <a:spcPts val="0"/>
              </a:spcAft>
              <a:defRPr sz="1000" b="0" i="0">
                <a:solidFill>
                  <a:srgbClr val="657268"/>
                </a:solidFill>
                <a:latin typeface="Liberation Mono"/>
              </a:defRPr>
            </a:pPr>
            <a:r>
              <a:t>AZINHACK 2026</a:t>
            </a:r>
          </a:p>
        </p:txBody>
      </p:sp>
      <p:cxnSp>
        <p:nvCxnSpPr>
          <p:cNvPr id="7" name="Connector 6"/>
          <p:cNvCxnSpPr/>
          <p:nvPr/>
        </p:nvCxnSpPr>
        <p:spPr>
          <a:xfrm>
            <a:off x="548640" y="6345936"/>
            <a:ext cx="11091672" cy="0"/>
          </a:xfrm>
          <a:prstGeom prst="line">
            <a:avLst/>
          </a:prstGeom>
          <a:ln w="10160">
            <a:solidFill>
              <a:srgbClr val="DADDCE"/>
            </a:solidFill>
          </a:ln>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85216" y="6492240"/>
            <a:ext cx="7315200" cy="237744"/>
          </a:xfrm>
          <a:prstGeom prst="rect">
            <a:avLst/>
          </a:prstGeom>
          <a:noFill/>
        </p:spPr>
        <p:txBody>
          <a:bodyPr wrap="square" lIns="9144" rIns="9144" tIns="9144" bIns="9144">
            <a:spAutoFit/>
          </a:bodyPr>
          <a:lstStyle/>
          <a:p>
            <a:pPr>
              <a:lnSpc>
                <a:spcPct val="105000"/>
              </a:lnSpc>
              <a:spcBef>
                <a:spcPts val="0"/>
              </a:spcBef>
              <a:spcAft>
                <a:spcPts val="0"/>
              </a:spcAft>
              <a:defRPr sz="800" b="0" i="0">
                <a:solidFill>
                  <a:srgbClr val="657268"/>
                </a:solidFill>
                <a:latin typeface="Liberation Mono"/>
              </a:defRPr>
            </a:pPr>
            <a:r>
              <a:t>THE TRAVEL FIELD GUIDE FOR INDIA</a:t>
            </a:r>
          </a:p>
        </p:txBody>
      </p:sp>
      <p:sp>
        <p:nvSpPr>
          <p:cNvPr id="9" name="TextBox 8"/>
          <p:cNvSpPr txBox="1"/>
          <p:nvPr/>
        </p:nvSpPr>
        <p:spPr>
          <a:xfrm>
            <a:off x="10963656" y="6492240"/>
            <a:ext cx="731520" cy="237744"/>
          </a:xfrm>
          <a:prstGeom prst="rect">
            <a:avLst/>
          </a:prstGeom>
          <a:noFill/>
        </p:spPr>
        <p:txBody>
          <a:bodyPr wrap="square" lIns="9144" rIns="9144" tIns="9144" bIns="9144">
            <a:spAutoFit/>
          </a:bodyPr>
          <a:lstStyle/>
          <a:p>
            <a:pPr>
              <a:lnSpc>
                <a:spcPct val="105000"/>
              </a:lnSpc>
              <a:spcBef>
                <a:spcPts val="0"/>
              </a:spcBef>
              <a:spcAft>
                <a:spcPts val="0"/>
              </a:spcAft>
              <a:defRPr sz="800" b="0" i="0">
                <a:solidFill>
                  <a:srgbClr val="657268"/>
                </a:solidFill>
                <a:latin typeface="Liberation Mono"/>
              </a:defRPr>
            </a:pPr>
            <a:r>
              <a:t>04 / 12</a:t>
            </a:r>
          </a:p>
        </p:txBody>
      </p:sp>
      <p:sp>
        <p:nvSpPr>
          <p:cNvPr id="10" name="TextBox 9"/>
          <p:cNvSpPr txBox="1"/>
          <p:nvPr/>
        </p:nvSpPr>
        <p:spPr>
          <a:xfrm>
            <a:off x="594360" y="914400"/>
            <a:ext cx="11018520" cy="685800"/>
          </a:xfrm>
          <a:prstGeom prst="rect">
            <a:avLst/>
          </a:prstGeom>
          <a:noFill/>
        </p:spPr>
        <p:txBody>
          <a:bodyPr wrap="square" lIns="9144" rIns="9144" tIns="9144" bIns="9144">
            <a:spAutoFit/>
          </a:bodyPr>
          <a:lstStyle/>
          <a:p>
            <a:pPr>
              <a:lnSpc>
                <a:spcPct val="105000"/>
              </a:lnSpc>
              <a:spcBef>
                <a:spcPts val="0"/>
              </a:spcBef>
              <a:spcAft>
                <a:spcPts val="0"/>
              </a:spcAft>
              <a:defRPr sz="3800" b="0" i="0">
                <a:solidFill>
                  <a:srgbClr val="23392F"/>
                </a:solidFill>
                <a:latin typeface="Liberation Serif"/>
              </a:defRPr>
            </a:pPr>
            <a:r>
              <a:t>A travel notebook you can actually use.</a:t>
            </a:r>
          </a:p>
        </p:txBody>
      </p:sp>
      <p:sp>
        <p:nvSpPr>
          <p:cNvPr id="11" name="Rectangle 10"/>
          <p:cNvSpPr/>
          <p:nvPr/>
        </p:nvSpPr>
        <p:spPr>
          <a:xfrm>
            <a:off x="594360" y="1920240"/>
            <a:ext cx="7680960" cy="3803904"/>
          </a:xfrm>
          <a:prstGeom prst="rect">
            <a:avLst/>
          </a:prstGeom>
          <a:solidFill>
            <a:srgbClr val="FFFEF9"/>
          </a:solidFill>
          <a:ln w="10160">
            <a:solidFill>
              <a:srgbClr val="DADDCE"/>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2" name="Picture 11" descr="desktop-light.png"/>
          <p:cNvPicPr>
            <a:picLocks noChangeAspect="1"/>
          </p:cNvPicPr>
          <p:nvPr/>
        </p:nvPicPr>
        <p:blipFill>
          <a:blip r:embed="rId2"/>
          <a:srcRect l="4000" r="4000" t="34500" b="22500"/>
          <a:stretch>
            <a:fillRect/>
          </a:stretch>
        </p:blipFill>
        <p:spPr>
          <a:xfrm>
            <a:off x="630936" y="1956816"/>
            <a:ext cx="7607808" cy="3730752"/>
          </a:xfrm>
          <a:prstGeom prst="rect">
            <a:avLst/>
          </a:prstGeom>
        </p:spPr>
      </p:pic>
      <p:sp>
        <p:nvSpPr>
          <p:cNvPr id="13" name="TextBox 12"/>
          <p:cNvSpPr txBox="1"/>
          <p:nvPr/>
        </p:nvSpPr>
        <p:spPr>
          <a:xfrm>
            <a:off x="8412480" y="2331720"/>
            <a:ext cx="320040" cy="237744"/>
          </a:xfrm>
          <a:prstGeom prst="rect">
            <a:avLst/>
          </a:prstGeom>
          <a:noFill/>
        </p:spPr>
        <p:txBody>
          <a:bodyPr wrap="square" lIns="9144" rIns="9144" tIns="9144" bIns="9144">
            <a:spAutoFit/>
          </a:bodyPr>
          <a:lstStyle/>
          <a:p>
            <a:pPr>
              <a:lnSpc>
                <a:spcPct val="105000"/>
              </a:lnSpc>
              <a:spcBef>
                <a:spcPts val="0"/>
              </a:spcBef>
              <a:spcAft>
                <a:spcPts val="0"/>
              </a:spcAft>
              <a:defRPr sz="800" b="0" i="0">
                <a:solidFill>
                  <a:srgbClr val="A8472E"/>
                </a:solidFill>
                <a:latin typeface="Liberation Mono"/>
              </a:defRPr>
            </a:pPr>
            <a:r>
              <a:t>01</a:t>
            </a:r>
          </a:p>
        </p:txBody>
      </p:sp>
      <p:sp>
        <p:nvSpPr>
          <p:cNvPr id="14" name="TextBox 13"/>
          <p:cNvSpPr txBox="1"/>
          <p:nvPr/>
        </p:nvSpPr>
        <p:spPr>
          <a:xfrm>
            <a:off x="8833104" y="2258568"/>
            <a:ext cx="2706624" cy="374904"/>
          </a:xfrm>
          <a:prstGeom prst="rect">
            <a:avLst/>
          </a:prstGeom>
          <a:noFill/>
        </p:spPr>
        <p:txBody>
          <a:bodyPr wrap="square" lIns="9144" rIns="9144" tIns="9144" bIns="9144">
            <a:spAutoFit/>
          </a:bodyPr>
          <a:lstStyle/>
          <a:p>
            <a:pPr>
              <a:lnSpc>
                <a:spcPct val="105000"/>
              </a:lnSpc>
              <a:spcBef>
                <a:spcPts val="0"/>
              </a:spcBef>
              <a:spcAft>
                <a:spcPts val="0"/>
              </a:spcAft>
              <a:defRPr sz="2300" b="0" i="0">
                <a:solidFill>
                  <a:srgbClr val="23392F"/>
                </a:solidFill>
                <a:latin typeface="Liberation Serif"/>
              </a:defRPr>
            </a:pPr>
            <a:r>
              <a:t>Plan in seconds</a:t>
            </a:r>
          </a:p>
        </p:txBody>
      </p:sp>
      <p:sp>
        <p:nvSpPr>
          <p:cNvPr id="15" name="TextBox 14"/>
          <p:cNvSpPr txBox="1"/>
          <p:nvPr/>
        </p:nvSpPr>
        <p:spPr>
          <a:xfrm>
            <a:off x="8833104" y="2697479"/>
            <a:ext cx="2706624" cy="630936"/>
          </a:xfrm>
          <a:prstGeom prst="rect">
            <a:avLst/>
          </a:prstGeom>
          <a:noFill/>
        </p:spPr>
        <p:txBody>
          <a:bodyPr wrap="square" lIns="9144" rIns="9144" tIns="9144" bIns="9144">
            <a:spAutoFit/>
          </a:bodyPr>
          <a:lstStyle/>
          <a:p>
            <a:pPr>
              <a:lnSpc>
                <a:spcPct val="105000"/>
              </a:lnSpc>
              <a:spcBef>
                <a:spcPts val="0"/>
              </a:spcBef>
              <a:spcAft>
                <a:spcPts val="0"/>
              </a:spcAft>
              <a:defRPr sz="1800" b="0" i="0">
                <a:solidFill>
                  <a:srgbClr val="657268"/>
                </a:solidFill>
                <a:latin typeface="Liberation Sans"/>
              </a:defRPr>
            </a:pPr>
            <a:r>
              <a:t>Date shortcuts and</a:t>
            </a:r>
          </a:p>
          <a:p>
            <a:pPr>
              <a:lnSpc>
                <a:spcPct val="105000"/>
              </a:lnSpc>
              <a:spcBef>
                <a:spcPts val="0"/>
              </a:spcBef>
              <a:spcAft>
                <a:spcPts val="0"/>
              </a:spcAft>
              <a:defRPr sz="1800" b="0" i="0">
                <a:solidFill>
                  <a:srgbClr val="657268"/>
                </a:solidFill>
                <a:latin typeface="Liberation Sans"/>
              </a:defRPr>
            </a:pPr>
            <a:r>
              <a:t>place confirmation.</a:t>
            </a:r>
          </a:p>
        </p:txBody>
      </p:sp>
      <p:sp>
        <p:nvSpPr>
          <p:cNvPr id="16" name="TextBox 15"/>
          <p:cNvSpPr txBox="1"/>
          <p:nvPr/>
        </p:nvSpPr>
        <p:spPr>
          <a:xfrm>
            <a:off x="8412480" y="3566160"/>
            <a:ext cx="320040" cy="237744"/>
          </a:xfrm>
          <a:prstGeom prst="rect">
            <a:avLst/>
          </a:prstGeom>
          <a:noFill/>
        </p:spPr>
        <p:txBody>
          <a:bodyPr wrap="square" lIns="9144" rIns="9144" tIns="9144" bIns="9144">
            <a:spAutoFit/>
          </a:bodyPr>
          <a:lstStyle/>
          <a:p>
            <a:pPr>
              <a:lnSpc>
                <a:spcPct val="105000"/>
              </a:lnSpc>
              <a:spcBef>
                <a:spcPts val="0"/>
              </a:spcBef>
              <a:spcAft>
                <a:spcPts val="0"/>
              </a:spcAft>
              <a:defRPr sz="800" b="0" i="0">
                <a:solidFill>
                  <a:srgbClr val="A8472E"/>
                </a:solidFill>
                <a:latin typeface="Liberation Mono"/>
              </a:defRPr>
            </a:pPr>
            <a:r>
              <a:t>02</a:t>
            </a:r>
          </a:p>
        </p:txBody>
      </p:sp>
      <p:sp>
        <p:nvSpPr>
          <p:cNvPr id="17" name="TextBox 16"/>
          <p:cNvSpPr txBox="1"/>
          <p:nvPr/>
        </p:nvSpPr>
        <p:spPr>
          <a:xfrm>
            <a:off x="8833104" y="3493008"/>
            <a:ext cx="2706624" cy="374904"/>
          </a:xfrm>
          <a:prstGeom prst="rect">
            <a:avLst/>
          </a:prstGeom>
          <a:noFill/>
        </p:spPr>
        <p:txBody>
          <a:bodyPr wrap="square" lIns="9144" rIns="9144" tIns="9144" bIns="9144">
            <a:spAutoFit/>
          </a:bodyPr>
          <a:lstStyle/>
          <a:p>
            <a:pPr>
              <a:lnSpc>
                <a:spcPct val="105000"/>
              </a:lnSpc>
              <a:spcBef>
                <a:spcPts val="0"/>
              </a:spcBef>
              <a:spcAft>
                <a:spcPts val="0"/>
              </a:spcAft>
              <a:defRPr sz="2300" b="0" i="0">
                <a:solidFill>
                  <a:srgbClr val="23392F"/>
                </a:solidFill>
                <a:latin typeface="Liberation Serif"/>
              </a:defRPr>
            </a:pPr>
            <a:r>
              <a:t>Stay organised</a:t>
            </a:r>
          </a:p>
        </p:txBody>
      </p:sp>
      <p:sp>
        <p:nvSpPr>
          <p:cNvPr id="18" name="TextBox 17"/>
          <p:cNvSpPr txBox="1"/>
          <p:nvPr/>
        </p:nvSpPr>
        <p:spPr>
          <a:xfrm>
            <a:off x="8833104" y="3931920"/>
            <a:ext cx="2706624" cy="630936"/>
          </a:xfrm>
          <a:prstGeom prst="rect">
            <a:avLst/>
          </a:prstGeom>
          <a:noFill/>
        </p:spPr>
        <p:txBody>
          <a:bodyPr wrap="square" lIns="9144" rIns="9144" tIns="9144" bIns="9144">
            <a:spAutoFit/>
          </a:bodyPr>
          <a:lstStyle/>
          <a:p>
            <a:pPr>
              <a:lnSpc>
                <a:spcPct val="105000"/>
              </a:lnSpc>
              <a:spcBef>
                <a:spcPts val="0"/>
              </a:spcBef>
              <a:spcAft>
                <a:spcPts val="0"/>
              </a:spcAft>
              <a:defRPr sz="1800" b="0" i="0">
                <a:solidFill>
                  <a:srgbClr val="657268"/>
                </a:solidFill>
                <a:latin typeface="Liberation Sans"/>
              </a:defRPr>
            </a:pPr>
            <a:r>
              <a:t>Saved plans and</a:t>
            </a:r>
          </a:p>
          <a:p>
            <a:pPr>
              <a:lnSpc>
                <a:spcPct val="105000"/>
              </a:lnSpc>
              <a:spcBef>
                <a:spcPts val="0"/>
              </a:spcBef>
              <a:spcAft>
                <a:spcPts val="0"/>
              </a:spcAft>
              <a:defRPr sz="1800" b="0" i="0">
                <a:solidFill>
                  <a:srgbClr val="657268"/>
                </a:solidFill>
                <a:latin typeface="Liberation Sans"/>
              </a:defRPr>
            </a:pPr>
            <a:r>
              <a:t>a trip checklist.</a:t>
            </a:r>
          </a:p>
        </p:txBody>
      </p:sp>
      <p:sp>
        <p:nvSpPr>
          <p:cNvPr id="19" name="TextBox 18"/>
          <p:cNvSpPr txBox="1"/>
          <p:nvPr/>
        </p:nvSpPr>
        <p:spPr>
          <a:xfrm>
            <a:off x="8412480" y="4800600"/>
            <a:ext cx="320040" cy="237744"/>
          </a:xfrm>
          <a:prstGeom prst="rect">
            <a:avLst/>
          </a:prstGeom>
          <a:noFill/>
        </p:spPr>
        <p:txBody>
          <a:bodyPr wrap="square" lIns="9144" rIns="9144" tIns="9144" bIns="9144">
            <a:spAutoFit/>
          </a:bodyPr>
          <a:lstStyle/>
          <a:p>
            <a:pPr>
              <a:lnSpc>
                <a:spcPct val="105000"/>
              </a:lnSpc>
              <a:spcBef>
                <a:spcPts val="0"/>
              </a:spcBef>
              <a:spcAft>
                <a:spcPts val="0"/>
              </a:spcAft>
              <a:defRPr sz="800" b="0" i="0">
                <a:solidFill>
                  <a:srgbClr val="A8472E"/>
                </a:solidFill>
                <a:latin typeface="Liberation Mono"/>
              </a:defRPr>
            </a:pPr>
            <a:r>
              <a:t>03</a:t>
            </a:r>
          </a:p>
        </p:txBody>
      </p:sp>
      <p:sp>
        <p:nvSpPr>
          <p:cNvPr id="20" name="TextBox 19"/>
          <p:cNvSpPr txBox="1"/>
          <p:nvPr/>
        </p:nvSpPr>
        <p:spPr>
          <a:xfrm>
            <a:off x="8833104" y="4727448"/>
            <a:ext cx="2706624" cy="374904"/>
          </a:xfrm>
          <a:prstGeom prst="rect">
            <a:avLst/>
          </a:prstGeom>
          <a:noFill/>
        </p:spPr>
        <p:txBody>
          <a:bodyPr wrap="square" lIns="9144" rIns="9144" tIns="9144" bIns="9144">
            <a:spAutoFit/>
          </a:bodyPr>
          <a:lstStyle/>
          <a:p>
            <a:pPr>
              <a:lnSpc>
                <a:spcPct val="105000"/>
              </a:lnSpc>
              <a:spcBef>
                <a:spcPts val="0"/>
              </a:spcBef>
              <a:spcAft>
                <a:spcPts val="0"/>
              </a:spcAft>
              <a:defRPr sz="2300" b="0" i="0">
                <a:solidFill>
                  <a:srgbClr val="23392F"/>
                </a:solidFill>
                <a:latin typeface="Liberation Serif"/>
              </a:defRPr>
            </a:pPr>
            <a:r>
              <a:t>Make it yours</a:t>
            </a:r>
          </a:p>
        </p:txBody>
      </p:sp>
      <p:sp>
        <p:nvSpPr>
          <p:cNvPr id="21" name="TextBox 20"/>
          <p:cNvSpPr txBox="1"/>
          <p:nvPr/>
        </p:nvSpPr>
        <p:spPr>
          <a:xfrm>
            <a:off x="8833104" y="5166360"/>
            <a:ext cx="2706624" cy="630936"/>
          </a:xfrm>
          <a:prstGeom prst="rect">
            <a:avLst/>
          </a:prstGeom>
          <a:noFill/>
        </p:spPr>
        <p:txBody>
          <a:bodyPr wrap="square" lIns="9144" rIns="9144" tIns="9144" bIns="9144">
            <a:spAutoFit/>
          </a:bodyPr>
          <a:lstStyle/>
          <a:p>
            <a:pPr>
              <a:lnSpc>
                <a:spcPct val="105000"/>
              </a:lnSpc>
              <a:spcBef>
                <a:spcPts val="0"/>
              </a:spcBef>
              <a:spcAft>
                <a:spcPts val="0"/>
              </a:spcAft>
              <a:defRPr sz="1800" b="0" i="0">
                <a:solidFill>
                  <a:srgbClr val="657268"/>
                </a:solidFill>
                <a:latin typeface="Liberation Sans"/>
              </a:defRPr>
            </a:pPr>
            <a:r>
              <a:t>Light / dark themes.</a:t>
            </a:r>
          </a:p>
          <a:p>
            <a:pPr>
              <a:lnSpc>
                <a:spcPct val="105000"/>
              </a:lnSpc>
              <a:spcBef>
                <a:spcPts val="0"/>
              </a:spcBef>
              <a:spcAft>
                <a:spcPts val="0"/>
              </a:spcAft>
              <a:defRPr sz="1800" b="0" i="0">
                <a:solidFill>
                  <a:srgbClr val="657268"/>
                </a:solidFill>
                <a:latin typeface="Liberation Sans"/>
              </a:defRPr>
            </a:pPr>
            <a:r>
              <a:t>Download your briefing.</a:t>
            </a:r>
          </a:p>
        </p:txBody>
      </p:sp>
      <p:sp>
        <p:nvSpPr>
          <p:cNvPr id="22" name="TextBox 21"/>
          <p:cNvSpPr txBox="1"/>
          <p:nvPr/>
        </p:nvSpPr>
        <p:spPr>
          <a:xfrm>
            <a:off x="640080" y="5943600"/>
            <a:ext cx="10607040" cy="237744"/>
          </a:xfrm>
          <a:prstGeom prst="rect">
            <a:avLst/>
          </a:prstGeom>
          <a:noFill/>
        </p:spPr>
        <p:txBody>
          <a:bodyPr wrap="square" lIns="9144" rIns="9144" tIns="9144" bIns="9144">
            <a:spAutoFit/>
          </a:bodyPr>
          <a:lstStyle/>
          <a:p>
            <a:pPr>
              <a:lnSpc>
                <a:spcPct val="105000"/>
              </a:lnSpc>
              <a:spcBef>
                <a:spcPts val="0"/>
              </a:spcBef>
              <a:spcAft>
                <a:spcPts val="0"/>
              </a:spcAft>
              <a:defRPr sz="800" b="0" i="0">
                <a:solidFill>
                  <a:srgbClr val="657268"/>
                </a:solidFill>
                <a:latin typeface="Liberation Mono"/>
              </a:defRPr>
            </a:pPr>
            <a:r>
              <a:t>ACTUAL INTERFACE / PLANNING SCREEN / NO LIVE SCAN SHOWN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4ED"/>
        </a:solidFill>
        <a:effectLst/>
      </p:bgPr>
    </p:bg>
    <p:spTree>
      <p:nvGrpSpPr>
        <p:cNvPr id="1" name=""/>
        <p:cNvGrpSpPr/>
        <p:nvPr/>
      </p:nvGrpSpPr>
      <p:grpSpPr/>
      <p:sp>
        <p:nvSpPr>
          <p:cNvPr id="2" name="Oval 1"/>
          <p:cNvSpPr/>
          <p:nvPr/>
        </p:nvSpPr>
        <p:spPr>
          <a:xfrm>
            <a:off x="548640" y="265176"/>
            <a:ext cx="256032" cy="256032"/>
          </a:xfrm>
          <a:prstGeom prst="ellipse">
            <a:avLst/>
          </a:prstGeom>
          <a:solidFill>
            <a:srgbClr val="F6F4ED"/>
          </a:solidFill>
          <a:ln w="20320">
            <a:solidFill>
              <a:srgbClr val="65726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Diamond 2"/>
          <p:cNvSpPr/>
          <p:nvPr/>
        </p:nvSpPr>
        <p:spPr>
          <a:xfrm rot="2100000">
            <a:off x="638251" y="318942"/>
            <a:ext cx="76809" cy="148498"/>
          </a:xfrm>
          <a:prstGeom prst="diamond">
            <a:avLst/>
          </a:prstGeom>
          <a:solidFill>
            <a:srgbClr val="65726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Oval 3"/>
          <p:cNvSpPr/>
          <p:nvPr/>
        </p:nvSpPr>
        <p:spPr>
          <a:xfrm>
            <a:off x="663854" y="380390"/>
            <a:ext cx="25603" cy="25603"/>
          </a:xfrm>
          <a:prstGeom prst="ellipse">
            <a:avLst/>
          </a:prstGeom>
          <a:solidFill>
            <a:srgbClr val="F6F4E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914400" y="292608"/>
            <a:ext cx="7955279" cy="237744"/>
          </a:xfrm>
          <a:prstGeom prst="rect">
            <a:avLst/>
          </a:prstGeom>
          <a:noFill/>
        </p:spPr>
        <p:txBody>
          <a:bodyPr wrap="square" lIns="9144" rIns="9144" tIns="9144" bIns="9144">
            <a:spAutoFit/>
          </a:bodyPr>
          <a:lstStyle/>
          <a:p>
            <a:pPr>
              <a:lnSpc>
                <a:spcPct val="105000"/>
              </a:lnSpc>
              <a:spcBef>
                <a:spcPts val="0"/>
              </a:spcBef>
              <a:spcAft>
                <a:spcPts val="0"/>
              </a:spcAft>
              <a:defRPr sz="1000" b="0" i="0">
                <a:solidFill>
                  <a:srgbClr val="657268"/>
                </a:solidFill>
                <a:latin typeface="Liberation Mono"/>
              </a:defRPr>
            </a:pPr>
            <a:r>
              <a:t>TRACERISK / WHAT WE CHECK</a:t>
            </a:r>
          </a:p>
        </p:txBody>
      </p:sp>
      <p:sp>
        <p:nvSpPr>
          <p:cNvPr id="6" name="TextBox 5"/>
          <p:cNvSpPr txBox="1"/>
          <p:nvPr/>
        </p:nvSpPr>
        <p:spPr>
          <a:xfrm>
            <a:off x="9774936" y="292608"/>
            <a:ext cx="1965960" cy="237744"/>
          </a:xfrm>
          <a:prstGeom prst="rect">
            <a:avLst/>
          </a:prstGeom>
          <a:noFill/>
        </p:spPr>
        <p:txBody>
          <a:bodyPr wrap="square" lIns="9144" rIns="9144" tIns="9144" bIns="9144">
            <a:spAutoFit/>
          </a:bodyPr>
          <a:lstStyle/>
          <a:p>
            <a:pPr>
              <a:lnSpc>
                <a:spcPct val="105000"/>
              </a:lnSpc>
              <a:spcBef>
                <a:spcPts val="0"/>
              </a:spcBef>
              <a:spcAft>
                <a:spcPts val="0"/>
              </a:spcAft>
              <a:defRPr sz="1000" b="0" i="0">
                <a:solidFill>
                  <a:srgbClr val="657268"/>
                </a:solidFill>
                <a:latin typeface="Liberation Mono"/>
              </a:defRPr>
            </a:pPr>
            <a:r>
              <a:t>AZINHACK 2026</a:t>
            </a:r>
          </a:p>
        </p:txBody>
      </p:sp>
      <p:cxnSp>
        <p:nvCxnSpPr>
          <p:cNvPr id="7" name="Connector 6"/>
          <p:cNvCxnSpPr/>
          <p:nvPr/>
        </p:nvCxnSpPr>
        <p:spPr>
          <a:xfrm>
            <a:off x="548640" y="6345936"/>
            <a:ext cx="11091672" cy="0"/>
          </a:xfrm>
          <a:prstGeom prst="line">
            <a:avLst/>
          </a:prstGeom>
          <a:ln w="10160">
            <a:solidFill>
              <a:srgbClr val="DADDCE"/>
            </a:solidFill>
          </a:ln>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85216" y="6492240"/>
            <a:ext cx="7315200" cy="237744"/>
          </a:xfrm>
          <a:prstGeom prst="rect">
            <a:avLst/>
          </a:prstGeom>
          <a:noFill/>
        </p:spPr>
        <p:txBody>
          <a:bodyPr wrap="square" lIns="9144" rIns="9144" tIns="9144" bIns="9144">
            <a:spAutoFit/>
          </a:bodyPr>
          <a:lstStyle/>
          <a:p>
            <a:pPr>
              <a:lnSpc>
                <a:spcPct val="105000"/>
              </a:lnSpc>
              <a:spcBef>
                <a:spcPts val="0"/>
              </a:spcBef>
              <a:spcAft>
                <a:spcPts val="0"/>
              </a:spcAft>
              <a:defRPr sz="800" b="0" i="0">
                <a:solidFill>
                  <a:srgbClr val="657268"/>
                </a:solidFill>
                <a:latin typeface="Liberation Mono"/>
              </a:defRPr>
            </a:pPr>
            <a:r>
              <a:t>THE TRAVEL FIELD GUIDE FOR INDIA</a:t>
            </a:r>
          </a:p>
        </p:txBody>
      </p:sp>
      <p:sp>
        <p:nvSpPr>
          <p:cNvPr id="9" name="TextBox 8"/>
          <p:cNvSpPr txBox="1"/>
          <p:nvPr/>
        </p:nvSpPr>
        <p:spPr>
          <a:xfrm>
            <a:off x="10963656" y="6492240"/>
            <a:ext cx="731520" cy="237744"/>
          </a:xfrm>
          <a:prstGeom prst="rect">
            <a:avLst/>
          </a:prstGeom>
          <a:noFill/>
        </p:spPr>
        <p:txBody>
          <a:bodyPr wrap="square" lIns="9144" rIns="9144" tIns="9144" bIns="9144">
            <a:spAutoFit/>
          </a:bodyPr>
          <a:lstStyle/>
          <a:p>
            <a:pPr>
              <a:lnSpc>
                <a:spcPct val="105000"/>
              </a:lnSpc>
              <a:spcBef>
                <a:spcPts val="0"/>
              </a:spcBef>
              <a:spcAft>
                <a:spcPts val="0"/>
              </a:spcAft>
              <a:defRPr sz="800" b="0" i="0">
                <a:solidFill>
                  <a:srgbClr val="657268"/>
                </a:solidFill>
                <a:latin typeface="Liberation Mono"/>
              </a:defRPr>
            </a:pPr>
            <a:r>
              <a:t>05 / 12</a:t>
            </a:r>
          </a:p>
        </p:txBody>
      </p:sp>
      <p:sp>
        <p:nvSpPr>
          <p:cNvPr id="10" name="TextBox 9"/>
          <p:cNvSpPr txBox="1"/>
          <p:nvPr/>
        </p:nvSpPr>
        <p:spPr>
          <a:xfrm>
            <a:off x="594360" y="914400"/>
            <a:ext cx="11018520" cy="685800"/>
          </a:xfrm>
          <a:prstGeom prst="rect">
            <a:avLst/>
          </a:prstGeom>
          <a:noFill/>
        </p:spPr>
        <p:txBody>
          <a:bodyPr wrap="square" lIns="9144" rIns="9144" tIns="9144" bIns="9144">
            <a:spAutoFit/>
          </a:bodyPr>
          <a:lstStyle/>
          <a:p>
            <a:pPr>
              <a:lnSpc>
                <a:spcPct val="105000"/>
              </a:lnSpc>
              <a:spcBef>
                <a:spcPts val="0"/>
              </a:spcBef>
              <a:spcAft>
                <a:spcPts val="0"/>
              </a:spcAft>
              <a:defRPr sz="3800" b="0" i="0">
                <a:solidFill>
                  <a:srgbClr val="23392F"/>
                </a:solidFill>
                <a:latin typeface="Liberation Serif"/>
              </a:defRPr>
            </a:pPr>
            <a:r>
              <a:t>The local picture, from four angles.</a:t>
            </a:r>
          </a:p>
        </p:txBody>
      </p:sp>
      <p:sp>
        <p:nvSpPr>
          <p:cNvPr id="11" name="TextBox 10"/>
          <p:cNvSpPr txBox="1"/>
          <p:nvPr/>
        </p:nvSpPr>
        <p:spPr>
          <a:xfrm>
            <a:off x="612648" y="1673352"/>
            <a:ext cx="10881360" cy="457200"/>
          </a:xfrm>
          <a:prstGeom prst="rect">
            <a:avLst/>
          </a:prstGeom>
          <a:noFill/>
        </p:spPr>
        <p:txBody>
          <a:bodyPr wrap="square" lIns="9144" rIns="9144" tIns="9144" bIns="9144">
            <a:spAutoFit/>
          </a:bodyPr>
          <a:lstStyle/>
          <a:p>
            <a:pPr>
              <a:lnSpc>
                <a:spcPct val="105000"/>
              </a:lnSpc>
              <a:spcBef>
                <a:spcPts val="0"/>
              </a:spcBef>
              <a:spcAft>
                <a:spcPts val="0"/>
              </a:spcAft>
              <a:defRPr sz="1800" b="0" i="0">
                <a:solidFill>
                  <a:srgbClr val="657268"/>
                </a:solidFill>
                <a:latin typeface="Liberation Sans"/>
              </a:defRPr>
            </a:pPr>
            <a:r>
              <a:t>Eight search lanes, plus weather and river-model context.</a:t>
            </a:r>
          </a:p>
        </p:txBody>
      </p:sp>
      <p:cxnSp>
        <p:nvCxnSpPr>
          <p:cNvPr id="12" name="Connector 11"/>
          <p:cNvCxnSpPr/>
          <p:nvPr/>
        </p:nvCxnSpPr>
        <p:spPr>
          <a:xfrm>
            <a:off x="640080" y="2377440"/>
            <a:ext cx="5257800" cy="0"/>
          </a:xfrm>
          <a:prstGeom prst="line">
            <a:avLst/>
          </a:prstGeom>
          <a:ln w="12700">
            <a:solidFill>
              <a:srgbClr val="DADDCE"/>
            </a:solidFill>
          </a:ln>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640080" y="2551176"/>
            <a:ext cx="5166360" cy="237744"/>
          </a:xfrm>
          <a:prstGeom prst="rect">
            <a:avLst/>
          </a:prstGeom>
          <a:noFill/>
        </p:spPr>
        <p:txBody>
          <a:bodyPr wrap="square" lIns="9144" rIns="9144" tIns="9144" bIns="9144">
            <a:spAutoFit/>
          </a:bodyPr>
          <a:lstStyle/>
          <a:p>
            <a:pPr>
              <a:lnSpc>
                <a:spcPct val="105000"/>
              </a:lnSpc>
              <a:spcBef>
                <a:spcPts val="0"/>
              </a:spcBef>
              <a:spcAft>
                <a:spcPts val="0"/>
              </a:spcAft>
              <a:defRPr sz="1000" b="0" i="0">
                <a:solidFill>
                  <a:srgbClr val="A8472E"/>
                </a:solidFill>
                <a:latin typeface="Liberation Mono"/>
              </a:defRPr>
            </a:pPr>
            <a:r>
              <a:t>01 / GETTING THERE</a:t>
            </a:r>
          </a:p>
        </p:txBody>
      </p:sp>
      <p:sp>
        <p:nvSpPr>
          <p:cNvPr id="14" name="TextBox 13"/>
          <p:cNvSpPr txBox="1"/>
          <p:nvPr/>
        </p:nvSpPr>
        <p:spPr>
          <a:xfrm>
            <a:off x="640080" y="2962656"/>
            <a:ext cx="5212080" cy="1033271"/>
          </a:xfrm>
          <a:prstGeom prst="rect">
            <a:avLst/>
          </a:prstGeom>
          <a:noFill/>
        </p:spPr>
        <p:txBody>
          <a:bodyPr wrap="square" lIns="9144" rIns="9144" tIns="9144" bIns="9144">
            <a:spAutoFit/>
          </a:bodyPr>
          <a:lstStyle/>
          <a:p>
            <a:pPr>
              <a:lnSpc>
                <a:spcPct val="105000"/>
              </a:lnSpc>
              <a:spcBef>
                <a:spcPts val="0"/>
              </a:spcBef>
              <a:spcAft>
                <a:spcPts val="0"/>
              </a:spcAft>
              <a:defRPr sz="2200" b="0" i="0">
                <a:solidFill>
                  <a:srgbClr val="23392F"/>
                </a:solidFill>
                <a:latin typeface="Liberation Sans"/>
              </a:defRPr>
            </a:pPr>
            <a:r>
              <a:t>Roads &amp; traffic</a:t>
            </a:r>
          </a:p>
          <a:p>
            <a:pPr>
              <a:lnSpc>
                <a:spcPct val="105000"/>
              </a:lnSpc>
              <a:spcBef>
                <a:spcPts val="0"/>
              </a:spcBef>
              <a:spcAft>
                <a:spcPts val="0"/>
              </a:spcAft>
              <a:defRPr sz="2200" b="0" i="0">
                <a:solidFill>
                  <a:srgbClr val="23392F"/>
                </a:solidFill>
                <a:latin typeface="Liberation Sans"/>
              </a:defRPr>
            </a:pPr>
            <a:r>
              <a:t>Public transport</a:t>
            </a:r>
          </a:p>
          <a:p>
            <a:pPr>
              <a:lnSpc>
                <a:spcPct val="105000"/>
              </a:lnSpc>
              <a:spcBef>
                <a:spcPts val="0"/>
              </a:spcBef>
              <a:spcAft>
                <a:spcPts val="0"/>
              </a:spcAft>
              <a:defRPr sz="2200" b="0" i="0">
                <a:solidFill>
                  <a:srgbClr val="23392F"/>
                </a:solidFill>
                <a:latin typeface="Liberation Sans"/>
              </a:defRPr>
            </a:pPr>
            <a:r>
              <a:t>Infrastructure</a:t>
            </a:r>
          </a:p>
        </p:txBody>
      </p:sp>
      <p:cxnSp>
        <p:nvCxnSpPr>
          <p:cNvPr id="15" name="Connector 14"/>
          <p:cNvCxnSpPr/>
          <p:nvPr/>
        </p:nvCxnSpPr>
        <p:spPr>
          <a:xfrm>
            <a:off x="6281928" y="2377440"/>
            <a:ext cx="5257800" cy="0"/>
          </a:xfrm>
          <a:prstGeom prst="line">
            <a:avLst/>
          </a:prstGeom>
          <a:ln w="12700">
            <a:solidFill>
              <a:srgbClr val="DADDCE"/>
            </a:solidFill>
          </a:ln>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6281928" y="2551176"/>
            <a:ext cx="5166360" cy="237744"/>
          </a:xfrm>
          <a:prstGeom prst="rect">
            <a:avLst/>
          </a:prstGeom>
          <a:noFill/>
        </p:spPr>
        <p:txBody>
          <a:bodyPr wrap="square" lIns="9144" rIns="9144" tIns="9144" bIns="9144">
            <a:spAutoFit/>
          </a:bodyPr>
          <a:lstStyle/>
          <a:p>
            <a:pPr>
              <a:lnSpc>
                <a:spcPct val="105000"/>
              </a:lnSpc>
              <a:spcBef>
                <a:spcPts val="0"/>
              </a:spcBef>
              <a:spcAft>
                <a:spcPts val="0"/>
              </a:spcAft>
              <a:defRPr sz="1000" b="0" i="0">
                <a:solidFill>
                  <a:srgbClr val="A8472E"/>
                </a:solidFill>
                <a:latin typeface="Liberation Mono"/>
              </a:defRPr>
            </a:pPr>
            <a:r>
              <a:t>02 / LOCAL CONDITIONS</a:t>
            </a:r>
          </a:p>
        </p:txBody>
      </p:sp>
      <p:sp>
        <p:nvSpPr>
          <p:cNvPr id="17" name="TextBox 16"/>
          <p:cNvSpPr txBox="1"/>
          <p:nvPr/>
        </p:nvSpPr>
        <p:spPr>
          <a:xfrm>
            <a:off x="6281928" y="2962656"/>
            <a:ext cx="5212080" cy="1033271"/>
          </a:xfrm>
          <a:prstGeom prst="rect">
            <a:avLst/>
          </a:prstGeom>
          <a:noFill/>
        </p:spPr>
        <p:txBody>
          <a:bodyPr wrap="square" lIns="9144" rIns="9144" tIns="9144" bIns="9144">
            <a:spAutoFit/>
          </a:bodyPr>
          <a:lstStyle/>
          <a:p>
            <a:pPr>
              <a:lnSpc>
                <a:spcPct val="105000"/>
              </a:lnSpc>
              <a:spcBef>
                <a:spcPts val="0"/>
              </a:spcBef>
              <a:spcAft>
                <a:spcPts val="0"/>
              </a:spcAft>
              <a:defRPr sz="2200" b="0" i="0">
                <a:solidFill>
                  <a:srgbClr val="23392F"/>
                </a:solidFill>
                <a:latin typeface="Liberation Sans"/>
              </a:defRPr>
            </a:pPr>
            <a:r>
              <a:t>Civil unrest</a:t>
            </a:r>
          </a:p>
          <a:p>
            <a:pPr>
              <a:lnSpc>
                <a:spcPct val="105000"/>
              </a:lnSpc>
              <a:spcBef>
                <a:spcPts val="0"/>
              </a:spcBef>
              <a:spcAft>
                <a:spcPts val="0"/>
              </a:spcAft>
              <a:defRPr sz="2200" b="0" i="0">
                <a:solidFill>
                  <a:srgbClr val="23392F"/>
                </a:solidFill>
                <a:latin typeface="Liberation Sans"/>
              </a:defRPr>
            </a:pPr>
            <a:r>
              <a:t>Official advisories</a:t>
            </a:r>
          </a:p>
          <a:p>
            <a:pPr>
              <a:lnSpc>
                <a:spcPct val="105000"/>
              </a:lnSpc>
              <a:spcBef>
                <a:spcPts val="0"/>
              </a:spcBef>
              <a:spcAft>
                <a:spcPts val="0"/>
              </a:spcAft>
              <a:defRPr sz="2200" b="0" i="0">
                <a:solidFill>
                  <a:srgbClr val="23392F"/>
                </a:solidFill>
                <a:latin typeface="Liberation Sans"/>
              </a:defRPr>
            </a:pPr>
            <a:r>
              <a:t>Regional news</a:t>
            </a:r>
          </a:p>
        </p:txBody>
      </p:sp>
      <p:cxnSp>
        <p:nvCxnSpPr>
          <p:cNvPr id="18" name="Connector 17"/>
          <p:cNvCxnSpPr/>
          <p:nvPr/>
        </p:nvCxnSpPr>
        <p:spPr>
          <a:xfrm>
            <a:off x="640080" y="4078224"/>
            <a:ext cx="5257800" cy="0"/>
          </a:xfrm>
          <a:prstGeom prst="line">
            <a:avLst/>
          </a:prstGeom>
          <a:ln w="12700">
            <a:solidFill>
              <a:srgbClr val="DADDCE"/>
            </a:solidFill>
          </a:ln>
        </p:spPr>
        <p:style>
          <a:lnRef idx="2">
            <a:schemeClr val="accent1"/>
          </a:lnRef>
          <a:fillRef idx="0">
            <a:schemeClr val="accent1"/>
          </a:fillRef>
          <a:effectRef idx="0">
            <a:schemeClr val="accent1"/>
          </a:effectRef>
          <a:fontRef idx="minor">
            <a:schemeClr val="tx1"/>
          </a:fontRef>
        </p:style>
      </p:cxnSp>
      <p:sp>
        <p:nvSpPr>
          <p:cNvPr id="19" name="TextBox 18"/>
          <p:cNvSpPr txBox="1"/>
          <p:nvPr/>
        </p:nvSpPr>
        <p:spPr>
          <a:xfrm>
            <a:off x="640080" y="4251960"/>
            <a:ext cx="5166360" cy="237744"/>
          </a:xfrm>
          <a:prstGeom prst="rect">
            <a:avLst/>
          </a:prstGeom>
          <a:noFill/>
        </p:spPr>
        <p:txBody>
          <a:bodyPr wrap="square" lIns="9144" rIns="9144" tIns="9144" bIns="9144">
            <a:spAutoFit/>
          </a:bodyPr>
          <a:lstStyle/>
          <a:p>
            <a:pPr>
              <a:lnSpc>
                <a:spcPct val="105000"/>
              </a:lnSpc>
              <a:spcBef>
                <a:spcPts val="0"/>
              </a:spcBef>
              <a:spcAft>
                <a:spcPts val="0"/>
              </a:spcAft>
              <a:defRPr sz="1000" b="0" i="0">
                <a:solidFill>
                  <a:srgbClr val="A8472E"/>
                </a:solidFill>
                <a:latin typeface="Liberation Mono"/>
              </a:defRPr>
            </a:pPr>
            <a:r>
              <a:t>03 / PERSONAL AWARENESS</a:t>
            </a:r>
          </a:p>
        </p:txBody>
      </p:sp>
      <p:sp>
        <p:nvSpPr>
          <p:cNvPr id="20" name="TextBox 19"/>
          <p:cNvSpPr txBox="1"/>
          <p:nvPr/>
        </p:nvSpPr>
        <p:spPr>
          <a:xfrm>
            <a:off x="640080" y="4663440"/>
            <a:ext cx="5212080" cy="1033271"/>
          </a:xfrm>
          <a:prstGeom prst="rect">
            <a:avLst/>
          </a:prstGeom>
          <a:noFill/>
        </p:spPr>
        <p:txBody>
          <a:bodyPr wrap="square" lIns="9144" rIns="9144" tIns="9144" bIns="9144">
            <a:spAutoFit/>
          </a:bodyPr>
          <a:lstStyle/>
          <a:p>
            <a:pPr>
              <a:lnSpc>
                <a:spcPct val="105000"/>
              </a:lnSpc>
              <a:spcBef>
                <a:spcPts val="0"/>
              </a:spcBef>
              <a:spcAft>
                <a:spcPts val="0"/>
              </a:spcAft>
              <a:defRPr sz="2200" b="0" i="0">
                <a:solidFill>
                  <a:srgbClr val="23392F"/>
                </a:solidFill>
                <a:latin typeface="Liberation Sans"/>
              </a:defRPr>
            </a:pPr>
            <a:r>
              <a:t>Health reports</a:t>
            </a:r>
          </a:p>
          <a:p>
            <a:pPr>
              <a:lnSpc>
                <a:spcPct val="105000"/>
              </a:lnSpc>
              <a:spcBef>
                <a:spcPts val="0"/>
              </a:spcBef>
              <a:spcAft>
                <a:spcPts val="0"/>
              </a:spcAft>
              <a:defRPr sz="2200" b="0" i="0">
                <a:solidFill>
                  <a:srgbClr val="23392F"/>
                </a:solidFill>
                <a:latin typeface="Liberation Sans"/>
              </a:defRPr>
            </a:pPr>
            <a:r>
              <a:t>Crime reports</a:t>
            </a:r>
          </a:p>
        </p:txBody>
      </p:sp>
      <p:cxnSp>
        <p:nvCxnSpPr>
          <p:cNvPr id="21" name="Connector 20"/>
          <p:cNvCxnSpPr/>
          <p:nvPr/>
        </p:nvCxnSpPr>
        <p:spPr>
          <a:xfrm>
            <a:off x="6281928" y="4078224"/>
            <a:ext cx="5257800" cy="0"/>
          </a:xfrm>
          <a:prstGeom prst="line">
            <a:avLst/>
          </a:prstGeom>
          <a:ln w="12700">
            <a:solidFill>
              <a:srgbClr val="DADDCE"/>
            </a:solidFill>
          </a:ln>
        </p:spPr>
        <p:style>
          <a:lnRef idx="2">
            <a:schemeClr val="accent1"/>
          </a:lnRef>
          <a:fillRef idx="0">
            <a:schemeClr val="accent1"/>
          </a:fillRef>
          <a:effectRef idx="0">
            <a:schemeClr val="accent1"/>
          </a:effectRef>
          <a:fontRef idx="minor">
            <a:schemeClr val="tx1"/>
          </a:fontRef>
        </p:style>
      </p:cxnSp>
      <p:sp>
        <p:nvSpPr>
          <p:cNvPr id="22" name="TextBox 21"/>
          <p:cNvSpPr txBox="1"/>
          <p:nvPr/>
        </p:nvSpPr>
        <p:spPr>
          <a:xfrm>
            <a:off x="6281928" y="4251960"/>
            <a:ext cx="5166360" cy="237744"/>
          </a:xfrm>
          <a:prstGeom prst="rect">
            <a:avLst/>
          </a:prstGeom>
          <a:noFill/>
        </p:spPr>
        <p:txBody>
          <a:bodyPr wrap="square" lIns="9144" rIns="9144" tIns="9144" bIns="9144">
            <a:spAutoFit/>
          </a:bodyPr>
          <a:lstStyle/>
          <a:p>
            <a:pPr>
              <a:lnSpc>
                <a:spcPct val="105000"/>
              </a:lnSpc>
              <a:spcBef>
                <a:spcPts val="0"/>
              </a:spcBef>
              <a:spcAft>
                <a:spcPts val="0"/>
              </a:spcAft>
              <a:defRPr sz="1000" b="0" i="0">
                <a:solidFill>
                  <a:srgbClr val="A8472E"/>
                </a:solidFill>
                <a:latin typeface="Liberation Mono"/>
              </a:defRPr>
            </a:pPr>
            <a:r>
              <a:t>04 / NATURAL CONDITIONS</a:t>
            </a:r>
          </a:p>
        </p:txBody>
      </p:sp>
      <p:sp>
        <p:nvSpPr>
          <p:cNvPr id="23" name="TextBox 22"/>
          <p:cNvSpPr txBox="1"/>
          <p:nvPr/>
        </p:nvSpPr>
        <p:spPr>
          <a:xfrm>
            <a:off x="6281928" y="4663440"/>
            <a:ext cx="5212080" cy="1033271"/>
          </a:xfrm>
          <a:prstGeom prst="rect">
            <a:avLst/>
          </a:prstGeom>
          <a:noFill/>
        </p:spPr>
        <p:txBody>
          <a:bodyPr wrap="square" lIns="9144" rIns="9144" tIns="9144" bIns="9144">
            <a:spAutoFit/>
          </a:bodyPr>
          <a:lstStyle/>
          <a:p>
            <a:pPr>
              <a:lnSpc>
                <a:spcPct val="105000"/>
              </a:lnSpc>
              <a:spcBef>
                <a:spcPts val="0"/>
              </a:spcBef>
              <a:spcAft>
                <a:spcPts val="0"/>
              </a:spcAft>
              <a:defRPr sz="2200" b="0" i="0">
                <a:solidFill>
                  <a:srgbClr val="23392F"/>
                </a:solidFill>
                <a:latin typeface="Liberation Sans"/>
              </a:defRPr>
            </a:pPr>
            <a:r>
              <a:t>Weather forecasts</a:t>
            </a:r>
          </a:p>
          <a:p>
            <a:pPr>
              <a:lnSpc>
                <a:spcPct val="105000"/>
              </a:lnSpc>
              <a:spcBef>
                <a:spcPts val="0"/>
              </a:spcBef>
              <a:spcAft>
                <a:spcPts val="0"/>
              </a:spcAft>
              <a:defRPr sz="2200" b="0" i="0">
                <a:solidFill>
                  <a:srgbClr val="23392F"/>
                </a:solidFill>
                <a:latin typeface="Liberation Sans"/>
              </a:defRPr>
            </a:pPr>
            <a:r>
              <a:t>River-flow outlooks</a:t>
            </a:r>
          </a:p>
        </p:txBody>
      </p:sp>
      <p:sp>
        <p:nvSpPr>
          <p:cNvPr id="24" name="TextBox 23"/>
          <p:cNvSpPr txBox="1"/>
          <p:nvPr/>
        </p:nvSpPr>
        <p:spPr>
          <a:xfrm>
            <a:off x="658368" y="5989320"/>
            <a:ext cx="10972800" cy="237744"/>
          </a:xfrm>
          <a:prstGeom prst="rect">
            <a:avLst/>
          </a:prstGeom>
          <a:noFill/>
        </p:spPr>
        <p:txBody>
          <a:bodyPr wrap="square" lIns="9144" rIns="9144" tIns="9144" bIns="9144">
            <a:spAutoFit/>
          </a:bodyPr>
          <a:lstStyle/>
          <a:p>
            <a:pPr>
              <a:lnSpc>
                <a:spcPct val="105000"/>
              </a:lnSpc>
              <a:spcBef>
                <a:spcPts val="0"/>
              </a:spcBef>
              <a:spcAft>
                <a:spcPts val="0"/>
              </a:spcAft>
              <a:defRPr sz="900" b="0" i="0">
                <a:solidFill>
                  <a:srgbClr val="657268"/>
                </a:solidFill>
                <a:latin typeface="Liberation Mono"/>
              </a:defRPr>
            </a:pPr>
            <a:r>
              <a:t>MODELS PROVIDE PLANNING CONTEXT; OFFICIAL WARNINGS STILL NEED CHECKING.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4ED"/>
        </a:solidFill>
        <a:effectLst/>
      </p:bgPr>
    </p:bg>
    <p:spTree>
      <p:nvGrpSpPr>
        <p:cNvPr id="1" name=""/>
        <p:cNvGrpSpPr/>
        <p:nvPr/>
      </p:nvGrpSpPr>
      <p:grpSpPr/>
      <p:sp>
        <p:nvSpPr>
          <p:cNvPr id="2" name="Oval 1"/>
          <p:cNvSpPr/>
          <p:nvPr/>
        </p:nvSpPr>
        <p:spPr>
          <a:xfrm>
            <a:off x="548640" y="265176"/>
            <a:ext cx="256032" cy="256032"/>
          </a:xfrm>
          <a:prstGeom prst="ellipse">
            <a:avLst/>
          </a:prstGeom>
          <a:solidFill>
            <a:srgbClr val="F6F4ED"/>
          </a:solidFill>
          <a:ln w="20320">
            <a:solidFill>
              <a:srgbClr val="65726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Diamond 2"/>
          <p:cNvSpPr/>
          <p:nvPr/>
        </p:nvSpPr>
        <p:spPr>
          <a:xfrm rot="2100000">
            <a:off x="638251" y="318942"/>
            <a:ext cx="76809" cy="148498"/>
          </a:xfrm>
          <a:prstGeom prst="diamond">
            <a:avLst/>
          </a:prstGeom>
          <a:solidFill>
            <a:srgbClr val="65726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Oval 3"/>
          <p:cNvSpPr/>
          <p:nvPr/>
        </p:nvSpPr>
        <p:spPr>
          <a:xfrm>
            <a:off x="663854" y="380390"/>
            <a:ext cx="25603" cy="25603"/>
          </a:xfrm>
          <a:prstGeom prst="ellipse">
            <a:avLst/>
          </a:prstGeom>
          <a:solidFill>
            <a:srgbClr val="F6F4E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914400" y="292608"/>
            <a:ext cx="7955279" cy="237744"/>
          </a:xfrm>
          <a:prstGeom prst="rect">
            <a:avLst/>
          </a:prstGeom>
          <a:noFill/>
        </p:spPr>
        <p:txBody>
          <a:bodyPr wrap="square" lIns="9144" rIns="9144" tIns="9144" bIns="9144">
            <a:spAutoFit/>
          </a:bodyPr>
          <a:lstStyle/>
          <a:p>
            <a:pPr>
              <a:lnSpc>
                <a:spcPct val="105000"/>
              </a:lnSpc>
              <a:spcBef>
                <a:spcPts val="0"/>
              </a:spcBef>
              <a:spcAft>
                <a:spcPts val="0"/>
              </a:spcAft>
              <a:defRPr sz="1000" b="0" i="0">
                <a:solidFill>
                  <a:srgbClr val="657268"/>
                </a:solidFill>
                <a:latin typeface="Liberation Mono"/>
              </a:defRPr>
            </a:pPr>
            <a:r>
              <a:t>TRACERISK / HOW IT WORKS</a:t>
            </a:r>
          </a:p>
        </p:txBody>
      </p:sp>
      <p:sp>
        <p:nvSpPr>
          <p:cNvPr id="6" name="TextBox 5"/>
          <p:cNvSpPr txBox="1"/>
          <p:nvPr/>
        </p:nvSpPr>
        <p:spPr>
          <a:xfrm>
            <a:off x="9774936" y="292608"/>
            <a:ext cx="1965960" cy="237744"/>
          </a:xfrm>
          <a:prstGeom prst="rect">
            <a:avLst/>
          </a:prstGeom>
          <a:noFill/>
        </p:spPr>
        <p:txBody>
          <a:bodyPr wrap="square" lIns="9144" rIns="9144" tIns="9144" bIns="9144">
            <a:spAutoFit/>
          </a:bodyPr>
          <a:lstStyle/>
          <a:p>
            <a:pPr>
              <a:lnSpc>
                <a:spcPct val="105000"/>
              </a:lnSpc>
              <a:spcBef>
                <a:spcPts val="0"/>
              </a:spcBef>
              <a:spcAft>
                <a:spcPts val="0"/>
              </a:spcAft>
              <a:defRPr sz="1000" b="0" i="0">
                <a:solidFill>
                  <a:srgbClr val="657268"/>
                </a:solidFill>
                <a:latin typeface="Liberation Mono"/>
              </a:defRPr>
            </a:pPr>
            <a:r>
              <a:t>AZINHACK 2026</a:t>
            </a:r>
          </a:p>
        </p:txBody>
      </p:sp>
      <p:cxnSp>
        <p:nvCxnSpPr>
          <p:cNvPr id="7" name="Connector 6"/>
          <p:cNvCxnSpPr/>
          <p:nvPr/>
        </p:nvCxnSpPr>
        <p:spPr>
          <a:xfrm>
            <a:off x="548640" y="6345936"/>
            <a:ext cx="11091672" cy="0"/>
          </a:xfrm>
          <a:prstGeom prst="line">
            <a:avLst/>
          </a:prstGeom>
          <a:ln w="10160">
            <a:solidFill>
              <a:srgbClr val="DADDCE"/>
            </a:solidFill>
          </a:ln>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85216" y="6492240"/>
            <a:ext cx="7315200" cy="237744"/>
          </a:xfrm>
          <a:prstGeom prst="rect">
            <a:avLst/>
          </a:prstGeom>
          <a:noFill/>
        </p:spPr>
        <p:txBody>
          <a:bodyPr wrap="square" lIns="9144" rIns="9144" tIns="9144" bIns="9144">
            <a:spAutoFit/>
          </a:bodyPr>
          <a:lstStyle/>
          <a:p>
            <a:pPr>
              <a:lnSpc>
                <a:spcPct val="105000"/>
              </a:lnSpc>
              <a:spcBef>
                <a:spcPts val="0"/>
              </a:spcBef>
              <a:spcAft>
                <a:spcPts val="0"/>
              </a:spcAft>
              <a:defRPr sz="800" b="0" i="0">
                <a:solidFill>
                  <a:srgbClr val="657268"/>
                </a:solidFill>
                <a:latin typeface="Liberation Mono"/>
              </a:defRPr>
            </a:pPr>
            <a:r>
              <a:t>THE TRAVEL FIELD GUIDE FOR INDIA</a:t>
            </a:r>
          </a:p>
        </p:txBody>
      </p:sp>
      <p:sp>
        <p:nvSpPr>
          <p:cNvPr id="9" name="TextBox 8"/>
          <p:cNvSpPr txBox="1"/>
          <p:nvPr/>
        </p:nvSpPr>
        <p:spPr>
          <a:xfrm>
            <a:off x="10963656" y="6492240"/>
            <a:ext cx="731520" cy="237744"/>
          </a:xfrm>
          <a:prstGeom prst="rect">
            <a:avLst/>
          </a:prstGeom>
          <a:noFill/>
        </p:spPr>
        <p:txBody>
          <a:bodyPr wrap="square" lIns="9144" rIns="9144" tIns="9144" bIns="9144">
            <a:spAutoFit/>
          </a:bodyPr>
          <a:lstStyle/>
          <a:p>
            <a:pPr>
              <a:lnSpc>
                <a:spcPct val="105000"/>
              </a:lnSpc>
              <a:spcBef>
                <a:spcPts val="0"/>
              </a:spcBef>
              <a:spcAft>
                <a:spcPts val="0"/>
              </a:spcAft>
              <a:defRPr sz="800" b="0" i="0">
                <a:solidFill>
                  <a:srgbClr val="657268"/>
                </a:solidFill>
                <a:latin typeface="Liberation Mono"/>
              </a:defRPr>
            </a:pPr>
            <a:r>
              <a:t>06 / 12</a:t>
            </a:r>
          </a:p>
        </p:txBody>
      </p:sp>
      <p:sp>
        <p:nvSpPr>
          <p:cNvPr id="10" name="TextBox 9"/>
          <p:cNvSpPr txBox="1"/>
          <p:nvPr/>
        </p:nvSpPr>
        <p:spPr>
          <a:xfrm>
            <a:off x="594360" y="914400"/>
            <a:ext cx="11018520" cy="685800"/>
          </a:xfrm>
          <a:prstGeom prst="rect">
            <a:avLst/>
          </a:prstGeom>
          <a:noFill/>
        </p:spPr>
        <p:txBody>
          <a:bodyPr wrap="square" lIns="9144" rIns="9144" tIns="9144" bIns="9144">
            <a:spAutoFit/>
          </a:bodyPr>
          <a:lstStyle/>
          <a:p>
            <a:pPr>
              <a:lnSpc>
                <a:spcPct val="105000"/>
              </a:lnSpc>
              <a:spcBef>
                <a:spcPts val="0"/>
              </a:spcBef>
              <a:spcAft>
                <a:spcPts val="0"/>
              </a:spcAft>
              <a:defRPr sz="3800" b="0" i="0">
                <a:solidFill>
                  <a:srgbClr val="23392F"/>
                </a:solidFill>
                <a:latin typeface="Liberation Serif"/>
              </a:defRPr>
            </a:pPr>
            <a:r>
              <a:t>Collect. Review. Explain.</a:t>
            </a:r>
          </a:p>
        </p:txBody>
      </p:sp>
      <p:sp>
        <p:nvSpPr>
          <p:cNvPr id="11" name="TextBox 10"/>
          <p:cNvSpPr txBox="1"/>
          <p:nvPr/>
        </p:nvSpPr>
        <p:spPr>
          <a:xfrm>
            <a:off x="612648" y="1673352"/>
            <a:ext cx="10881360" cy="457200"/>
          </a:xfrm>
          <a:prstGeom prst="rect">
            <a:avLst/>
          </a:prstGeom>
          <a:noFill/>
        </p:spPr>
        <p:txBody>
          <a:bodyPr wrap="square" lIns="9144" rIns="9144" tIns="9144" bIns="9144">
            <a:spAutoFit/>
          </a:bodyPr>
          <a:lstStyle/>
          <a:p>
            <a:pPr>
              <a:lnSpc>
                <a:spcPct val="105000"/>
              </a:lnSpc>
              <a:spcBef>
                <a:spcPts val="0"/>
              </a:spcBef>
              <a:spcAft>
                <a:spcPts val="0"/>
              </a:spcAft>
              <a:defRPr sz="1800" b="0" i="0">
                <a:solidFill>
                  <a:srgbClr val="657268"/>
                </a:solidFill>
                <a:latin typeface="Liberation Sans"/>
              </a:defRPr>
            </a:pPr>
            <a:r>
              <a:t>A small pipeline turns scattered inputs into a readable briefing.</a:t>
            </a:r>
          </a:p>
        </p:txBody>
      </p:sp>
      <p:sp>
        <p:nvSpPr>
          <p:cNvPr id="12" name="Rectangle 11"/>
          <p:cNvSpPr/>
          <p:nvPr/>
        </p:nvSpPr>
        <p:spPr>
          <a:xfrm>
            <a:off x="640080" y="2514600"/>
            <a:ext cx="3410712" cy="2542032"/>
          </a:xfrm>
          <a:prstGeom prst="rect">
            <a:avLst/>
          </a:prstGeom>
          <a:solidFill>
            <a:srgbClr val="FFFEF9"/>
          </a:solidFill>
          <a:ln w="10160">
            <a:solidFill>
              <a:srgbClr val="DADDCE"/>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859536" y="2743200"/>
            <a:ext cx="914400" cy="237744"/>
          </a:xfrm>
          <a:prstGeom prst="rect">
            <a:avLst/>
          </a:prstGeom>
          <a:noFill/>
        </p:spPr>
        <p:txBody>
          <a:bodyPr wrap="square" lIns="9144" rIns="9144" tIns="9144" bIns="9144">
            <a:spAutoFit/>
          </a:bodyPr>
          <a:lstStyle/>
          <a:p>
            <a:pPr>
              <a:lnSpc>
                <a:spcPct val="105000"/>
              </a:lnSpc>
              <a:spcBef>
                <a:spcPts val="0"/>
              </a:spcBef>
              <a:spcAft>
                <a:spcPts val="0"/>
              </a:spcAft>
              <a:defRPr sz="1200" b="0" i="0">
                <a:solidFill>
                  <a:srgbClr val="A8472E"/>
                </a:solidFill>
                <a:latin typeface="Liberation Mono"/>
              </a:defRPr>
            </a:pPr>
            <a:r>
              <a:t>01</a:t>
            </a:r>
          </a:p>
        </p:txBody>
      </p:sp>
      <p:sp>
        <p:nvSpPr>
          <p:cNvPr id="14" name="TextBox 13"/>
          <p:cNvSpPr txBox="1"/>
          <p:nvPr/>
        </p:nvSpPr>
        <p:spPr>
          <a:xfrm>
            <a:off x="850392" y="3136392"/>
            <a:ext cx="2944368" cy="475488"/>
          </a:xfrm>
          <a:prstGeom prst="rect">
            <a:avLst/>
          </a:prstGeom>
          <a:noFill/>
        </p:spPr>
        <p:txBody>
          <a:bodyPr wrap="square" lIns="9144" rIns="9144" tIns="9144" bIns="9144">
            <a:spAutoFit/>
          </a:bodyPr>
          <a:lstStyle/>
          <a:p>
            <a:pPr>
              <a:lnSpc>
                <a:spcPct val="105000"/>
              </a:lnSpc>
              <a:spcBef>
                <a:spcPts val="0"/>
              </a:spcBef>
              <a:spcAft>
                <a:spcPts val="0"/>
              </a:spcAft>
              <a:defRPr sz="3000" b="0" i="0">
                <a:solidFill>
                  <a:srgbClr val="23392F"/>
                </a:solidFill>
                <a:latin typeface="Liberation Serif"/>
              </a:defRPr>
            </a:pPr>
            <a:r>
              <a:t>Collect</a:t>
            </a:r>
          </a:p>
        </p:txBody>
      </p:sp>
      <p:sp>
        <p:nvSpPr>
          <p:cNvPr id="15" name="TextBox 14"/>
          <p:cNvSpPr txBox="1"/>
          <p:nvPr/>
        </p:nvSpPr>
        <p:spPr>
          <a:xfrm>
            <a:off x="859536" y="3794760"/>
            <a:ext cx="2971800" cy="1014984"/>
          </a:xfrm>
          <a:prstGeom prst="rect">
            <a:avLst/>
          </a:prstGeom>
          <a:noFill/>
        </p:spPr>
        <p:txBody>
          <a:bodyPr wrap="square" lIns="9144" rIns="9144" tIns="9144" bIns="9144">
            <a:spAutoFit/>
          </a:bodyPr>
          <a:lstStyle/>
          <a:p>
            <a:pPr>
              <a:lnSpc>
                <a:spcPct val="105000"/>
              </a:lnSpc>
              <a:spcBef>
                <a:spcPts val="0"/>
              </a:spcBef>
              <a:spcAft>
                <a:spcPts val="0"/>
              </a:spcAft>
              <a:defRPr sz="1900" b="0" i="0">
                <a:solidFill>
                  <a:srgbClr val="657268"/>
                </a:solidFill>
                <a:latin typeface="Liberation Sans"/>
              </a:defRPr>
            </a:pPr>
            <a:r>
              <a:t>TinyFish: local reports.</a:t>
            </a:r>
          </a:p>
          <a:p>
            <a:pPr>
              <a:lnSpc>
                <a:spcPct val="105000"/>
              </a:lnSpc>
              <a:spcBef>
                <a:spcPts val="0"/>
              </a:spcBef>
              <a:spcAft>
                <a:spcPts val="0"/>
              </a:spcAft>
              <a:defRPr sz="1900" b="0" i="0">
                <a:solidFill>
                  <a:srgbClr val="657268"/>
                </a:solidFill>
                <a:latin typeface="Liberation Sans"/>
              </a:defRPr>
            </a:pPr>
            <a:r>
              <a:t>Open-Meteo: places</a:t>
            </a:r>
          </a:p>
          <a:p>
            <a:pPr>
              <a:lnSpc>
                <a:spcPct val="105000"/>
              </a:lnSpc>
              <a:spcBef>
                <a:spcPts val="0"/>
              </a:spcBef>
              <a:spcAft>
                <a:spcPts val="0"/>
              </a:spcAft>
              <a:defRPr sz="1900" b="0" i="0">
                <a:solidFill>
                  <a:srgbClr val="657268"/>
                </a:solidFill>
                <a:latin typeface="Liberation Sans"/>
              </a:defRPr>
            </a:pPr>
            <a:r>
              <a:t>and forecasts.</a:t>
            </a:r>
          </a:p>
        </p:txBody>
      </p:sp>
      <p:sp>
        <p:nvSpPr>
          <p:cNvPr id="16" name="TextBox 15"/>
          <p:cNvSpPr txBox="1"/>
          <p:nvPr/>
        </p:nvSpPr>
        <p:spPr>
          <a:xfrm>
            <a:off x="4105656" y="3401568"/>
            <a:ext cx="310896" cy="457200"/>
          </a:xfrm>
          <a:prstGeom prst="rect">
            <a:avLst/>
          </a:prstGeom>
          <a:noFill/>
        </p:spPr>
        <p:txBody>
          <a:bodyPr wrap="square" lIns="9144" rIns="9144" tIns="9144" bIns="9144">
            <a:spAutoFit/>
          </a:bodyPr>
          <a:lstStyle/>
          <a:p>
            <a:pPr>
              <a:lnSpc>
                <a:spcPct val="105000"/>
              </a:lnSpc>
              <a:spcBef>
                <a:spcPts val="0"/>
              </a:spcBef>
              <a:spcAft>
                <a:spcPts val="0"/>
              </a:spcAft>
              <a:defRPr sz="2400" b="0" i="0">
                <a:solidFill>
                  <a:srgbClr val="A8472E"/>
                </a:solidFill>
                <a:latin typeface="Liberation Sans"/>
              </a:defRPr>
            </a:pPr>
            <a:r>
              <a:t>→</a:t>
            </a:r>
          </a:p>
        </p:txBody>
      </p:sp>
      <p:sp>
        <p:nvSpPr>
          <p:cNvPr id="17" name="Rectangle 16"/>
          <p:cNvSpPr/>
          <p:nvPr/>
        </p:nvSpPr>
        <p:spPr>
          <a:xfrm>
            <a:off x="4425696" y="2514600"/>
            <a:ext cx="3410712" cy="2542032"/>
          </a:xfrm>
          <a:prstGeom prst="rect">
            <a:avLst/>
          </a:prstGeom>
          <a:solidFill>
            <a:srgbClr val="FFFEF9"/>
          </a:solidFill>
          <a:ln w="10160">
            <a:solidFill>
              <a:srgbClr val="DADDCE"/>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645152" y="2743200"/>
            <a:ext cx="914400" cy="237744"/>
          </a:xfrm>
          <a:prstGeom prst="rect">
            <a:avLst/>
          </a:prstGeom>
          <a:noFill/>
        </p:spPr>
        <p:txBody>
          <a:bodyPr wrap="square" lIns="9144" rIns="9144" tIns="9144" bIns="9144">
            <a:spAutoFit/>
          </a:bodyPr>
          <a:lstStyle/>
          <a:p>
            <a:pPr>
              <a:lnSpc>
                <a:spcPct val="105000"/>
              </a:lnSpc>
              <a:spcBef>
                <a:spcPts val="0"/>
              </a:spcBef>
              <a:spcAft>
                <a:spcPts val="0"/>
              </a:spcAft>
              <a:defRPr sz="1200" b="0" i="0">
                <a:solidFill>
                  <a:srgbClr val="A8472E"/>
                </a:solidFill>
                <a:latin typeface="Liberation Mono"/>
              </a:defRPr>
            </a:pPr>
            <a:r>
              <a:t>02</a:t>
            </a:r>
          </a:p>
        </p:txBody>
      </p:sp>
      <p:sp>
        <p:nvSpPr>
          <p:cNvPr id="19" name="TextBox 18"/>
          <p:cNvSpPr txBox="1"/>
          <p:nvPr/>
        </p:nvSpPr>
        <p:spPr>
          <a:xfrm>
            <a:off x="4636008" y="3136392"/>
            <a:ext cx="2944368" cy="475488"/>
          </a:xfrm>
          <a:prstGeom prst="rect">
            <a:avLst/>
          </a:prstGeom>
          <a:noFill/>
        </p:spPr>
        <p:txBody>
          <a:bodyPr wrap="square" lIns="9144" rIns="9144" tIns="9144" bIns="9144">
            <a:spAutoFit/>
          </a:bodyPr>
          <a:lstStyle/>
          <a:p>
            <a:pPr>
              <a:lnSpc>
                <a:spcPct val="105000"/>
              </a:lnSpc>
              <a:spcBef>
                <a:spcPts val="0"/>
              </a:spcBef>
              <a:spcAft>
                <a:spcPts val="0"/>
              </a:spcAft>
              <a:defRPr sz="3000" b="0" i="0">
                <a:solidFill>
                  <a:srgbClr val="23392F"/>
                </a:solidFill>
                <a:latin typeface="Liberation Serif"/>
              </a:defRPr>
            </a:pPr>
            <a:r>
              <a:t>Review</a:t>
            </a:r>
          </a:p>
        </p:txBody>
      </p:sp>
      <p:sp>
        <p:nvSpPr>
          <p:cNvPr id="20" name="TextBox 19"/>
          <p:cNvSpPr txBox="1"/>
          <p:nvPr/>
        </p:nvSpPr>
        <p:spPr>
          <a:xfrm>
            <a:off x="4645152" y="3794760"/>
            <a:ext cx="2971800" cy="1014984"/>
          </a:xfrm>
          <a:prstGeom prst="rect">
            <a:avLst/>
          </a:prstGeom>
          <a:noFill/>
        </p:spPr>
        <p:txBody>
          <a:bodyPr wrap="square" lIns="9144" rIns="9144" tIns="9144" bIns="9144">
            <a:spAutoFit/>
          </a:bodyPr>
          <a:lstStyle/>
          <a:p>
            <a:pPr>
              <a:lnSpc>
                <a:spcPct val="105000"/>
              </a:lnSpc>
              <a:spcBef>
                <a:spcPts val="0"/>
              </a:spcBef>
              <a:spcAft>
                <a:spcPts val="0"/>
              </a:spcAft>
              <a:defRPr sz="1900" b="0" i="0">
                <a:solidFill>
                  <a:srgbClr val="657268"/>
                </a:solidFill>
                <a:latin typeface="Liberation Sans"/>
              </a:defRPr>
            </a:pPr>
            <a:r>
              <a:t>Gemini reviews reports.</a:t>
            </a:r>
          </a:p>
          <a:p>
            <a:pPr>
              <a:lnSpc>
                <a:spcPct val="105000"/>
              </a:lnSpc>
              <a:spcBef>
                <a:spcPts val="0"/>
              </a:spcBef>
              <a:spcAft>
                <a:spcPts val="0"/>
              </a:spcAft>
              <a:defRPr sz="1900" b="0" i="0">
                <a:solidFill>
                  <a:srgbClr val="657268"/>
                </a:solidFill>
                <a:latin typeface="Liberation Sans"/>
              </a:defRPr>
            </a:pPr>
            <a:r>
              <a:t>Groq or labelled rules</a:t>
            </a:r>
          </a:p>
          <a:p>
            <a:pPr>
              <a:lnSpc>
                <a:spcPct val="105000"/>
              </a:lnSpc>
              <a:spcBef>
                <a:spcPts val="0"/>
              </a:spcBef>
              <a:spcAft>
                <a:spcPts val="0"/>
              </a:spcAft>
              <a:defRPr sz="1900" b="0" i="0">
                <a:solidFill>
                  <a:srgbClr val="657268"/>
                </a:solidFill>
                <a:latin typeface="Liberation Sans"/>
              </a:defRPr>
            </a:pPr>
            <a:r>
              <a:t>provide a fallback.</a:t>
            </a:r>
          </a:p>
        </p:txBody>
      </p:sp>
      <p:sp>
        <p:nvSpPr>
          <p:cNvPr id="21" name="TextBox 20"/>
          <p:cNvSpPr txBox="1"/>
          <p:nvPr/>
        </p:nvSpPr>
        <p:spPr>
          <a:xfrm>
            <a:off x="7891271" y="3401568"/>
            <a:ext cx="310896" cy="457200"/>
          </a:xfrm>
          <a:prstGeom prst="rect">
            <a:avLst/>
          </a:prstGeom>
          <a:noFill/>
        </p:spPr>
        <p:txBody>
          <a:bodyPr wrap="square" lIns="9144" rIns="9144" tIns="9144" bIns="9144">
            <a:spAutoFit/>
          </a:bodyPr>
          <a:lstStyle/>
          <a:p>
            <a:pPr>
              <a:lnSpc>
                <a:spcPct val="105000"/>
              </a:lnSpc>
              <a:spcBef>
                <a:spcPts val="0"/>
              </a:spcBef>
              <a:spcAft>
                <a:spcPts val="0"/>
              </a:spcAft>
              <a:defRPr sz="2400" b="0" i="0">
                <a:solidFill>
                  <a:srgbClr val="A8472E"/>
                </a:solidFill>
                <a:latin typeface="Liberation Sans"/>
              </a:defRPr>
            </a:pPr>
            <a:r>
              <a:t>→</a:t>
            </a:r>
          </a:p>
        </p:txBody>
      </p:sp>
      <p:sp>
        <p:nvSpPr>
          <p:cNvPr id="22" name="Rectangle 21"/>
          <p:cNvSpPr/>
          <p:nvPr/>
        </p:nvSpPr>
        <p:spPr>
          <a:xfrm>
            <a:off x="8211311" y="2514600"/>
            <a:ext cx="3410712" cy="2542032"/>
          </a:xfrm>
          <a:prstGeom prst="rect">
            <a:avLst/>
          </a:prstGeom>
          <a:solidFill>
            <a:srgbClr val="FFFEF9"/>
          </a:solidFill>
          <a:ln w="10160">
            <a:solidFill>
              <a:srgbClr val="DADDCE"/>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430767" y="2743200"/>
            <a:ext cx="914400" cy="237744"/>
          </a:xfrm>
          <a:prstGeom prst="rect">
            <a:avLst/>
          </a:prstGeom>
          <a:noFill/>
        </p:spPr>
        <p:txBody>
          <a:bodyPr wrap="square" lIns="9144" rIns="9144" tIns="9144" bIns="9144">
            <a:spAutoFit/>
          </a:bodyPr>
          <a:lstStyle/>
          <a:p>
            <a:pPr>
              <a:lnSpc>
                <a:spcPct val="105000"/>
              </a:lnSpc>
              <a:spcBef>
                <a:spcPts val="0"/>
              </a:spcBef>
              <a:spcAft>
                <a:spcPts val="0"/>
              </a:spcAft>
              <a:defRPr sz="1200" b="0" i="0">
                <a:solidFill>
                  <a:srgbClr val="A8472E"/>
                </a:solidFill>
                <a:latin typeface="Liberation Mono"/>
              </a:defRPr>
            </a:pPr>
            <a:r>
              <a:t>03</a:t>
            </a:r>
          </a:p>
        </p:txBody>
      </p:sp>
      <p:sp>
        <p:nvSpPr>
          <p:cNvPr id="24" name="TextBox 23"/>
          <p:cNvSpPr txBox="1"/>
          <p:nvPr/>
        </p:nvSpPr>
        <p:spPr>
          <a:xfrm>
            <a:off x="8421624" y="3136392"/>
            <a:ext cx="2944368" cy="475488"/>
          </a:xfrm>
          <a:prstGeom prst="rect">
            <a:avLst/>
          </a:prstGeom>
          <a:noFill/>
        </p:spPr>
        <p:txBody>
          <a:bodyPr wrap="square" lIns="9144" rIns="9144" tIns="9144" bIns="9144">
            <a:spAutoFit/>
          </a:bodyPr>
          <a:lstStyle/>
          <a:p>
            <a:pPr>
              <a:lnSpc>
                <a:spcPct val="105000"/>
              </a:lnSpc>
              <a:spcBef>
                <a:spcPts val="0"/>
              </a:spcBef>
              <a:spcAft>
                <a:spcPts val="0"/>
              </a:spcAft>
              <a:defRPr sz="3000" b="0" i="0">
                <a:solidFill>
                  <a:srgbClr val="23392F"/>
                </a:solidFill>
                <a:latin typeface="Liberation Serif"/>
              </a:defRPr>
            </a:pPr>
            <a:r>
              <a:t>Explain</a:t>
            </a:r>
          </a:p>
        </p:txBody>
      </p:sp>
      <p:sp>
        <p:nvSpPr>
          <p:cNvPr id="25" name="TextBox 24"/>
          <p:cNvSpPr txBox="1"/>
          <p:nvPr/>
        </p:nvSpPr>
        <p:spPr>
          <a:xfrm>
            <a:off x="8430767" y="3794760"/>
            <a:ext cx="2971800" cy="1014984"/>
          </a:xfrm>
          <a:prstGeom prst="rect">
            <a:avLst/>
          </a:prstGeom>
          <a:noFill/>
        </p:spPr>
        <p:txBody>
          <a:bodyPr wrap="square" lIns="9144" rIns="9144" tIns="9144" bIns="9144">
            <a:spAutoFit/>
          </a:bodyPr>
          <a:lstStyle/>
          <a:p>
            <a:pPr>
              <a:lnSpc>
                <a:spcPct val="105000"/>
              </a:lnSpc>
              <a:spcBef>
                <a:spcPts val="0"/>
              </a:spcBef>
              <a:spcAft>
                <a:spcPts val="0"/>
              </a:spcAft>
              <a:defRPr sz="1900" b="0" i="0">
                <a:solidFill>
                  <a:srgbClr val="657268"/>
                </a:solidFill>
                <a:latin typeface="Liberation Sans"/>
              </a:defRPr>
            </a:pPr>
            <a:r>
              <a:t>Cited findings.</a:t>
            </a:r>
          </a:p>
          <a:p>
            <a:pPr>
              <a:lnSpc>
                <a:spcPct val="105000"/>
              </a:lnSpc>
              <a:spcBef>
                <a:spcPts val="0"/>
              </a:spcBef>
              <a:spcAft>
                <a:spcPts val="0"/>
              </a:spcAft>
              <a:defRPr sz="1900" b="0" i="0">
                <a:solidFill>
                  <a:srgbClr val="657268"/>
                </a:solidFill>
                <a:latin typeface="Liberation Sans"/>
              </a:defRPr>
            </a:pPr>
            <a:r>
              <a:t>Collection coverage.</a:t>
            </a:r>
          </a:p>
          <a:p>
            <a:pPr>
              <a:lnSpc>
                <a:spcPct val="105000"/>
              </a:lnSpc>
              <a:spcBef>
                <a:spcPts val="0"/>
              </a:spcBef>
              <a:spcAft>
                <a:spcPts val="0"/>
              </a:spcAft>
              <a:defRPr sz="1900" b="0" i="0">
                <a:solidFill>
                  <a:srgbClr val="657268"/>
                </a:solidFill>
                <a:latin typeface="Liberation Sans"/>
              </a:defRPr>
            </a:pPr>
            <a:r>
              <a:t>Missing forecast dates.</a:t>
            </a:r>
          </a:p>
        </p:txBody>
      </p:sp>
      <p:sp>
        <p:nvSpPr>
          <p:cNvPr id="26" name="Rectangle 25"/>
          <p:cNvSpPr/>
          <p:nvPr/>
        </p:nvSpPr>
        <p:spPr>
          <a:xfrm>
            <a:off x="640080" y="5422392"/>
            <a:ext cx="10927080" cy="502920"/>
          </a:xfrm>
          <a:prstGeom prst="rect">
            <a:avLst/>
          </a:prstGeom>
          <a:solidFill>
            <a:srgbClr val="E9EFD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868680" y="5532120"/>
            <a:ext cx="10442448" cy="292608"/>
          </a:xfrm>
          <a:prstGeom prst="rect">
            <a:avLst/>
          </a:prstGeom>
          <a:noFill/>
        </p:spPr>
        <p:txBody>
          <a:bodyPr wrap="square" lIns="9144" rIns="9144" tIns="9144" bIns="9144">
            <a:spAutoFit/>
          </a:bodyPr>
          <a:lstStyle/>
          <a:p>
            <a:pPr>
              <a:lnSpc>
                <a:spcPct val="105000"/>
              </a:lnSpc>
              <a:spcBef>
                <a:spcPts val="0"/>
              </a:spcBef>
              <a:spcAft>
                <a:spcPts val="0"/>
              </a:spcAft>
              <a:defRPr sz="1900" b="0" i="0">
                <a:solidFill>
                  <a:srgbClr val="264B3A"/>
                </a:solidFill>
                <a:latin typeface="Liberation Sans"/>
              </a:defRPr>
            </a:pPr>
            <a:r>
              <a:t>Interface: React + Vite     |     Server: Node.js + Express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64B3A"/>
        </a:solidFill>
        <a:effectLst/>
      </p:bgPr>
    </p:bg>
    <p:spTree>
      <p:nvGrpSpPr>
        <p:cNvPr id="1" name=""/>
        <p:cNvGrpSpPr/>
        <p:nvPr/>
      </p:nvGrpSpPr>
      <p:grpSpPr/>
      <p:sp>
        <p:nvSpPr>
          <p:cNvPr id="2" name="Oval 1"/>
          <p:cNvSpPr/>
          <p:nvPr/>
        </p:nvSpPr>
        <p:spPr>
          <a:xfrm>
            <a:off x="548640" y="265176"/>
            <a:ext cx="256032" cy="256032"/>
          </a:xfrm>
          <a:prstGeom prst="ellipse">
            <a:avLst/>
          </a:prstGeom>
          <a:solidFill>
            <a:srgbClr val="264B3A"/>
          </a:solidFill>
          <a:ln w="20320">
            <a:solidFill>
              <a:srgbClr val="C6D8A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Diamond 2"/>
          <p:cNvSpPr/>
          <p:nvPr/>
        </p:nvSpPr>
        <p:spPr>
          <a:xfrm rot="2100000">
            <a:off x="638251" y="318942"/>
            <a:ext cx="76809" cy="148498"/>
          </a:xfrm>
          <a:prstGeom prst="diamond">
            <a:avLst/>
          </a:prstGeom>
          <a:solidFill>
            <a:srgbClr val="C6D8A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Oval 3"/>
          <p:cNvSpPr/>
          <p:nvPr/>
        </p:nvSpPr>
        <p:spPr>
          <a:xfrm>
            <a:off x="663854" y="380390"/>
            <a:ext cx="25603" cy="25603"/>
          </a:xfrm>
          <a:prstGeom prst="ellipse">
            <a:avLst/>
          </a:prstGeom>
          <a:solidFill>
            <a:srgbClr val="264B3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914400" y="292608"/>
            <a:ext cx="7955279" cy="237744"/>
          </a:xfrm>
          <a:prstGeom prst="rect">
            <a:avLst/>
          </a:prstGeom>
          <a:noFill/>
        </p:spPr>
        <p:txBody>
          <a:bodyPr wrap="square" lIns="9144" rIns="9144" tIns="9144" bIns="9144">
            <a:spAutoFit/>
          </a:bodyPr>
          <a:lstStyle/>
          <a:p>
            <a:pPr>
              <a:lnSpc>
                <a:spcPct val="105000"/>
              </a:lnSpc>
              <a:spcBef>
                <a:spcPts val="0"/>
              </a:spcBef>
              <a:spcAft>
                <a:spcPts val="0"/>
              </a:spcAft>
              <a:defRPr sz="1000" b="0" i="0">
                <a:solidFill>
                  <a:srgbClr val="C6D8AB"/>
                </a:solidFill>
                <a:latin typeface="Liberation Mono"/>
              </a:defRPr>
            </a:pPr>
            <a:r>
              <a:t>TRACERISK / TRUST &amp; LIMITATIONS</a:t>
            </a:r>
          </a:p>
        </p:txBody>
      </p:sp>
      <p:sp>
        <p:nvSpPr>
          <p:cNvPr id="6" name="TextBox 5"/>
          <p:cNvSpPr txBox="1"/>
          <p:nvPr/>
        </p:nvSpPr>
        <p:spPr>
          <a:xfrm>
            <a:off x="9774936" y="292608"/>
            <a:ext cx="1965960" cy="237744"/>
          </a:xfrm>
          <a:prstGeom prst="rect">
            <a:avLst/>
          </a:prstGeom>
          <a:noFill/>
        </p:spPr>
        <p:txBody>
          <a:bodyPr wrap="square" lIns="9144" rIns="9144" tIns="9144" bIns="9144">
            <a:spAutoFit/>
          </a:bodyPr>
          <a:lstStyle/>
          <a:p>
            <a:pPr>
              <a:lnSpc>
                <a:spcPct val="105000"/>
              </a:lnSpc>
              <a:spcBef>
                <a:spcPts val="0"/>
              </a:spcBef>
              <a:spcAft>
                <a:spcPts val="0"/>
              </a:spcAft>
              <a:defRPr sz="1000" b="0" i="0">
                <a:solidFill>
                  <a:srgbClr val="C6D8AB"/>
                </a:solidFill>
                <a:latin typeface="Liberation Mono"/>
              </a:defRPr>
            </a:pPr>
            <a:r>
              <a:t>AZINHACK 2026</a:t>
            </a:r>
          </a:p>
        </p:txBody>
      </p:sp>
      <p:cxnSp>
        <p:nvCxnSpPr>
          <p:cNvPr id="7" name="Connector 6"/>
          <p:cNvCxnSpPr/>
          <p:nvPr/>
        </p:nvCxnSpPr>
        <p:spPr>
          <a:xfrm>
            <a:off x="548640" y="6345936"/>
            <a:ext cx="11091672" cy="0"/>
          </a:xfrm>
          <a:prstGeom prst="line">
            <a:avLst/>
          </a:prstGeom>
          <a:ln w="10160">
            <a:solidFill>
              <a:srgbClr val="506D59"/>
            </a:solidFill>
          </a:ln>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85216" y="6492240"/>
            <a:ext cx="7315200" cy="237744"/>
          </a:xfrm>
          <a:prstGeom prst="rect">
            <a:avLst/>
          </a:prstGeom>
          <a:noFill/>
        </p:spPr>
        <p:txBody>
          <a:bodyPr wrap="square" lIns="9144" rIns="9144" tIns="9144" bIns="9144">
            <a:spAutoFit/>
          </a:bodyPr>
          <a:lstStyle/>
          <a:p>
            <a:pPr>
              <a:lnSpc>
                <a:spcPct val="105000"/>
              </a:lnSpc>
              <a:spcBef>
                <a:spcPts val="0"/>
              </a:spcBef>
              <a:spcAft>
                <a:spcPts val="0"/>
              </a:spcAft>
              <a:defRPr sz="800" b="0" i="0">
                <a:solidFill>
                  <a:srgbClr val="C6D8AB"/>
                </a:solidFill>
                <a:latin typeface="Liberation Mono"/>
              </a:defRPr>
            </a:pPr>
            <a:r>
              <a:t>THE TRAVEL FIELD GUIDE FOR INDIA</a:t>
            </a:r>
          </a:p>
        </p:txBody>
      </p:sp>
      <p:sp>
        <p:nvSpPr>
          <p:cNvPr id="9" name="TextBox 8"/>
          <p:cNvSpPr txBox="1"/>
          <p:nvPr/>
        </p:nvSpPr>
        <p:spPr>
          <a:xfrm>
            <a:off x="10963656" y="6492240"/>
            <a:ext cx="731520" cy="237744"/>
          </a:xfrm>
          <a:prstGeom prst="rect">
            <a:avLst/>
          </a:prstGeom>
          <a:noFill/>
        </p:spPr>
        <p:txBody>
          <a:bodyPr wrap="square" lIns="9144" rIns="9144" tIns="9144" bIns="9144">
            <a:spAutoFit/>
          </a:bodyPr>
          <a:lstStyle/>
          <a:p>
            <a:pPr>
              <a:lnSpc>
                <a:spcPct val="105000"/>
              </a:lnSpc>
              <a:spcBef>
                <a:spcPts val="0"/>
              </a:spcBef>
              <a:spcAft>
                <a:spcPts val="0"/>
              </a:spcAft>
              <a:defRPr sz="800" b="0" i="0">
                <a:solidFill>
                  <a:srgbClr val="C6D8AB"/>
                </a:solidFill>
                <a:latin typeface="Liberation Mono"/>
              </a:defRPr>
            </a:pPr>
            <a:r>
              <a:t>07 / 12</a:t>
            </a:r>
          </a:p>
        </p:txBody>
      </p:sp>
      <p:sp>
        <p:nvSpPr>
          <p:cNvPr id="10" name="TextBox 9"/>
          <p:cNvSpPr txBox="1"/>
          <p:nvPr/>
        </p:nvSpPr>
        <p:spPr>
          <a:xfrm>
            <a:off x="594360" y="914400"/>
            <a:ext cx="11018520" cy="685800"/>
          </a:xfrm>
          <a:prstGeom prst="rect">
            <a:avLst/>
          </a:prstGeom>
          <a:noFill/>
        </p:spPr>
        <p:txBody>
          <a:bodyPr wrap="square" lIns="9144" rIns="9144" tIns="9144" bIns="9144">
            <a:spAutoFit/>
          </a:bodyPr>
          <a:lstStyle/>
          <a:p>
            <a:pPr>
              <a:lnSpc>
                <a:spcPct val="105000"/>
              </a:lnSpc>
              <a:spcBef>
                <a:spcPts val="0"/>
              </a:spcBef>
              <a:spcAft>
                <a:spcPts val="0"/>
              </a:spcAft>
              <a:defRPr sz="3800" b="0" i="0">
                <a:solidFill>
                  <a:srgbClr val="F6F4ED"/>
                </a:solidFill>
                <a:latin typeface="Liberation Serif"/>
              </a:defRPr>
            </a:pPr>
            <a:r>
              <a:t>Confidence starts with honesty.</a:t>
            </a:r>
          </a:p>
        </p:txBody>
      </p:sp>
      <p:sp>
        <p:nvSpPr>
          <p:cNvPr id="11" name="TextBox 10"/>
          <p:cNvSpPr txBox="1"/>
          <p:nvPr/>
        </p:nvSpPr>
        <p:spPr>
          <a:xfrm>
            <a:off x="658368" y="2240280"/>
            <a:ext cx="502920" cy="237744"/>
          </a:xfrm>
          <a:prstGeom prst="rect">
            <a:avLst/>
          </a:prstGeom>
          <a:noFill/>
        </p:spPr>
        <p:txBody>
          <a:bodyPr wrap="square" lIns="9144" rIns="9144" tIns="9144" bIns="9144">
            <a:spAutoFit/>
          </a:bodyPr>
          <a:lstStyle/>
          <a:p>
            <a:pPr>
              <a:lnSpc>
                <a:spcPct val="105000"/>
              </a:lnSpc>
              <a:spcBef>
                <a:spcPts val="0"/>
              </a:spcBef>
              <a:spcAft>
                <a:spcPts val="0"/>
              </a:spcAft>
              <a:defRPr sz="1100" b="0" i="0">
                <a:solidFill>
                  <a:srgbClr val="C6D8AB"/>
                </a:solidFill>
                <a:latin typeface="Liberation Mono"/>
              </a:defRPr>
            </a:pPr>
            <a:r>
              <a:t>01</a:t>
            </a:r>
          </a:p>
        </p:txBody>
      </p:sp>
      <p:sp>
        <p:nvSpPr>
          <p:cNvPr id="12" name="TextBox 11"/>
          <p:cNvSpPr txBox="1"/>
          <p:nvPr/>
        </p:nvSpPr>
        <p:spPr>
          <a:xfrm>
            <a:off x="1307592" y="2176272"/>
            <a:ext cx="4572000" cy="484632"/>
          </a:xfrm>
          <a:prstGeom prst="rect">
            <a:avLst/>
          </a:prstGeom>
          <a:noFill/>
        </p:spPr>
        <p:txBody>
          <a:bodyPr wrap="square" lIns="9144" rIns="9144" tIns="9144" bIns="9144">
            <a:spAutoFit/>
          </a:bodyPr>
          <a:lstStyle/>
          <a:p>
            <a:pPr>
              <a:lnSpc>
                <a:spcPct val="105000"/>
              </a:lnSpc>
              <a:spcBef>
                <a:spcPts val="0"/>
              </a:spcBef>
              <a:spcAft>
                <a:spcPts val="0"/>
              </a:spcAft>
              <a:defRPr sz="2700" b="0" i="0">
                <a:solidFill>
                  <a:srgbClr val="F6F4ED"/>
                </a:solidFill>
                <a:latin typeface="Liberation Serif"/>
              </a:defRPr>
            </a:pPr>
            <a:r>
              <a:t>Show the evidence</a:t>
            </a:r>
          </a:p>
        </p:txBody>
      </p:sp>
      <p:sp>
        <p:nvSpPr>
          <p:cNvPr id="13" name="TextBox 12"/>
          <p:cNvSpPr txBox="1"/>
          <p:nvPr/>
        </p:nvSpPr>
        <p:spPr>
          <a:xfrm>
            <a:off x="6272784" y="2258568"/>
            <a:ext cx="5212080" cy="548640"/>
          </a:xfrm>
          <a:prstGeom prst="rect">
            <a:avLst/>
          </a:prstGeom>
          <a:noFill/>
        </p:spPr>
        <p:txBody>
          <a:bodyPr wrap="square" lIns="9144" rIns="9144" tIns="9144" bIns="9144">
            <a:spAutoFit/>
          </a:bodyPr>
          <a:lstStyle/>
          <a:p>
            <a:pPr>
              <a:lnSpc>
                <a:spcPct val="105000"/>
              </a:lnSpc>
              <a:spcBef>
                <a:spcPts val="0"/>
              </a:spcBef>
              <a:spcAft>
                <a:spcPts val="0"/>
              </a:spcAft>
              <a:defRPr sz="2100" b="0" i="0">
                <a:solidFill>
                  <a:srgbClr val="C6D8AB"/>
                </a:solidFill>
                <a:latin typeface="Liberation Sans"/>
              </a:defRPr>
            </a:pPr>
            <a:r>
              <a:t>Citations, dates and source-quality labels.</a:t>
            </a:r>
          </a:p>
        </p:txBody>
      </p:sp>
      <p:cxnSp>
        <p:nvCxnSpPr>
          <p:cNvPr id="14" name="Connector 13"/>
          <p:cNvCxnSpPr/>
          <p:nvPr/>
        </p:nvCxnSpPr>
        <p:spPr>
          <a:xfrm>
            <a:off x="667512" y="3017520"/>
            <a:ext cx="10835640" cy="0"/>
          </a:xfrm>
          <a:prstGeom prst="line">
            <a:avLst/>
          </a:prstGeom>
          <a:ln w="10160">
            <a:solidFill>
              <a:srgbClr val="506D59"/>
            </a:solidFill>
          </a:ln>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658368" y="3264408"/>
            <a:ext cx="502920" cy="237744"/>
          </a:xfrm>
          <a:prstGeom prst="rect">
            <a:avLst/>
          </a:prstGeom>
          <a:noFill/>
        </p:spPr>
        <p:txBody>
          <a:bodyPr wrap="square" lIns="9144" rIns="9144" tIns="9144" bIns="9144">
            <a:spAutoFit/>
          </a:bodyPr>
          <a:lstStyle/>
          <a:p>
            <a:pPr>
              <a:lnSpc>
                <a:spcPct val="105000"/>
              </a:lnSpc>
              <a:spcBef>
                <a:spcPts val="0"/>
              </a:spcBef>
              <a:spcAft>
                <a:spcPts val="0"/>
              </a:spcAft>
              <a:defRPr sz="1100" b="0" i="0">
                <a:solidFill>
                  <a:srgbClr val="C6D8AB"/>
                </a:solidFill>
                <a:latin typeface="Liberation Mono"/>
              </a:defRPr>
            </a:pPr>
            <a:r>
              <a:t>02</a:t>
            </a:r>
          </a:p>
        </p:txBody>
      </p:sp>
      <p:sp>
        <p:nvSpPr>
          <p:cNvPr id="16" name="TextBox 15"/>
          <p:cNvSpPr txBox="1"/>
          <p:nvPr/>
        </p:nvSpPr>
        <p:spPr>
          <a:xfrm>
            <a:off x="1307592" y="3200400"/>
            <a:ext cx="4572000" cy="484632"/>
          </a:xfrm>
          <a:prstGeom prst="rect">
            <a:avLst/>
          </a:prstGeom>
          <a:noFill/>
        </p:spPr>
        <p:txBody>
          <a:bodyPr wrap="square" lIns="9144" rIns="9144" tIns="9144" bIns="9144">
            <a:spAutoFit/>
          </a:bodyPr>
          <a:lstStyle/>
          <a:p>
            <a:pPr>
              <a:lnSpc>
                <a:spcPct val="105000"/>
              </a:lnSpc>
              <a:spcBef>
                <a:spcPts val="0"/>
              </a:spcBef>
              <a:spcAft>
                <a:spcPts val="0"/>
              </a:spcAft>
              <a:defRPr sz="2700" b="0" i="0">
                <a:solidFill>
                  <a:srgbClr val="F6F4ED"/>
                </a:solidFill>
                <a:latin typeface="Liberation Serif"/>
              </a:defRPr>
            </a:pPr>
            <a:r>
              <a:t>Show what is missing</a:t>
            </a:r>
          </a:p>
        </p:txBody>
      </p:sp>
      <p:sp>
        <p:nvSpPr>
          <p:cNvPr id="17" name="TextBox 16"/>
          <p:cNvSpPr txBox="1"/>
          <p:nvPr/>
        </p:nvSpPr>
        <p:spPr>
          <a:xfrm>
            <a:off x="6272784" y="3282696"/>
            <a:ext cx="5212080" cy="548640"/>
          </a:xfrm>
          <a:prstGeom prst="rect">
            <a:avLst/>
          </a:prstGeom>
          <a:noFill/>
        </p:spPr>
        <p:txBody>
          <a:bodyPr wrap="square" lIns="9144" rIns="9144" tIns="9144" bIns="9144">
            <a:spAutoFit/>
          </a:bodyPr>
          <a:lstStyle/>
          <a:p>
            <a:pPr>
              <a:lnSpc>
                <a:spcPct val="105000"/>
              </a:lnSpc>
              <a:spcBef>
                <a:spcPts val="0"/>
              </a:spcBef>
              <a:spcAft>
                <a:spcPts val="0"/>
              </a:spcAft>
              <a:defRPr sz="2100" b="0" i="0">
                <a:solidFill>
                  <a:srgbClr val="C6D8AB"/>
                </a:solidFill>
                <a:latin typeface="Liberation Sans"/>
              </a:defRPr>
            </a:pPr>
            <a:r>
              <a:t>Collection gaps and uncovered forecast dates.</a:t>
            </a:r>
          </a:p>
        </p:txBody>
      </p:sp>
      <p:cxnSp>
        <p:nvCxnSpPr>
          <p:cNvPr id="18" name="Connector 17"/>
          <p:cNvCxnSpPr/>
          <p:nvPr/>
        </p:nvCxnSpPr>
        <p:spPr>
          <a:xfrm>
            <a:off x="667512" y="4041648"/>
            <a:ext cx="10835640" cy="0"/>
          </a:xfrm>
          <a:prstGeom prst="line">
            <a:avLst/>
          </a:prstGeom>
          <a:ln w="10160">
            <a:solidFill>
              <a:srgbClr val="506D59"/>
            </a:solidFill>
          </a:ln>
        </p:spPr>
        <p:style>
          <a:lnRef idx="2">
            <a:schemeClr val="accent1"/>
          </a:lnRef>
          <a:fillRef idx="0">
            <a:schemeClr val="accent1"/>
          </a:fillRef>
          <a:effectRef idx="0">
            <a:schemeClr val="accent1"/>
          </a:effectRef>
          <a:fontRef idx="minor">
            <a:schemeClr val="tx1"/>
          </a:fontRef>
        </p:style>
      </p:cxnSp>
      <p:sp>
        <p:nvSpPr>
          <p:cNvPr id="19" name="TextBox 18"/>
          <p:cNvSpPr txBox="1"/>
          <p:nvPr/>
        </p:nvSpPr>
        <p:spPr>
          <a:xfrm>
            <a:off x="658368" y="4288536"/>
            <a:ext cx="502920" cy="237744"/>
          </a:xfrm>
          <a:prstGeom prst="rect">
            <a:avLst/>
          </a:prstGeom>
          <a:noFill/>
        </p:spPr>
        <p:txBody>
          <a:bodyPr wrap="square" lIns="9144" rIns="9144" tIns="9144" bIns="9144">
            <a:spAutoFit/>
          </a:bodyPr>
          <a:lstStyle/>
          <a:p>
            <a:pPr>
              <a:lnSpc>
                <a:spcPct val="105000"/>
              </a:lnSpc>
              <a:spcBef>
                <a:spcPts val="0"/>
              </a:spcBef>
              <a:spcAft>
                <a:spcPts val="0"/>
              </a:spcAft>
              <a:defRPr sz="1100" b="0" i="0">
                <a:solidFill>
                  <a:srgbClr val="C6D8AB"/>
                </a:solidFill>
                <a:latin typeface="Liberation Mono"/>
              </a:defRPr>
            </a:pPr>
            <a:r>
              <a:t>03</a:t>
            </a:r>
          </a:p>
        </p:txBody>
      </p:sp>
      <p:sp>
        <p:nvSpPr>
          <p:cNvPr id="20" name="TextBox 19"/>
          <p:cNvSpPr txBox="1"/>
          <p:nvPr/>
        </p:nvSpPr>
        <p:spPr>
          <a:xfrm>
            <a:off x="1307592" y="4224528"/>
            <a:ext cx="4572000" cy="484632"/>
          </a:xfrm>
          <a:prstGeom prst="rect">
            <a:avLst/>
          </a:prstGeom>
          <a:noFill/>
        </p:spPr>
        <p:txBody>
          <a:bodyPr wrap="square" lIns="9144" rIns="9144" tIns="9144" bIns="9144">
            <a:spAutoFit/>
          </a:bodyPr>
          <a:lstStyle/>
          <a:p>
            <a:pPr>
              <a:lnSpc>
                <a:spcPct val="105000"/>
              </a:lnSpc>
              <a:spcBef>
                <a:spcPts val="0"/>
              </a:spcBef>
              <a:spcAft>
                <a:spcPts val="0"/>
              </a:spcAft>
              <a:defRPr sz="2700" b="0" i="0">
                <a:solidFill>
                  <a:srgbClr val="F6F4ED"/>
                </a:solidFill>
                <a:latin typeface="Liberation Serif"/>
              </a:defRPr>
            </a:pPr>
            <a:r>
              <a:t>Keep the score in context</a:t>
            </a:r>
          </a:p>
        </p:txBody>
      </p:sp>
      <p:sp>
        <p:nvSpPr>
          <p:cNvPr id="21" name="TextBox 20"/>
          <p:cNvSpPr txBox="1"/>
          <p:nvPr/>
        </p:nvSpPr>
        <p:spPr>
          <a:xfrm>
            <a:off x="6272784" y="4306824"/>
            <a:ext cx="5212080" cy="548640"/>
          </a:xfrm>
          <a:prstGeom prst="rect">
            <a:avLst/>
          </a:prstGeom>
          <a:noFill/>
        </p:spPr>
        <p:txBody>
          <a:bodyPr wrap="square" lIns="9144" rIns="9144" tIns="9144" bIns="9144">
            <a:spAutoFit/>
          </a:bodyPr>
          <a:lstStyle/>
          <a:p>
            <a:pPr>
              <a:lnSpc>
                <a:spcPct val="105000"/>
              </a:lnSpc>
              <a:spcBef>
                <a:spcPts val="0"/>
              </a:spcBef>
              <a:spcAft>
                <a:spcPts val="0"/>
              </a:spcAft>
              <a:defRPr sz="2100" b="0" i="0">
                <a:solidFill>
                  <a:srgbClr val="C6D8AB"/>
                </a:solidFill>
                <a:latin typeface="Liberation Sans"/>
              </a:defRPr>
            </a:pPr>
            <a:r>
              <a:t>A planning signal, not a probability of harm.</a:t>
            </a:r>
          </a:p>
        </p:txBody>
      </p:sp>
      <p:cxnSp>
        <p:nvCxnSpPr>
          <p:cNvPr id="22" name="Connector 21"/>
          <p:cNvCxnSpPr/>
          <p:nvPr/>
        </p:nvCxnSpPr>
        <p:spPr>
          <a:xfrm>
            <a:off x="667512" y="5065776"/>
            <a:ext cx="10835640" cy="0"/>
          </a:xfrm>
          <a:prstGeom prst="line">
            <a:avLst/>
          </a:prstGeom>
          <a:ln w="10160">
            <a:solidFill>
              <a:srgbClr val="506D59"/>
            </a:solidFill>
          </a:ln>
        </p:spPr>
        <p:style>
          <a:lnRef idx="2">
            <a:schemeClr val="accent1"/>
          </a:lnRef>
          <a:fillRef idx="0">
            <a:schemeClr val="accent1"/>
          </a:fillRef>
          <a:effectRef idx="0">
            <a:schemeClr val="accent1"/>
          </a:effectRef>
          <a:fontRef idx="minor">
            <a:schemeClr val="tx1"/>
          </a:fontRef>
        </p:style>
      </p:cxnSp>
      <p:sp>
        <p:nvSpPr>
          <p:cNvPr id="23" name="TextBox 22"/>
          <p:cNvSpPr txBox="1"/>
          <p:nvPr/>
        </p:nvSpPr>
        <p:spPr>
          <a:xfrm>
            <a:off x="685800" y="5513832"/>
            <a:ext cx="10789920" cy="521207"/>
          </a:xfrm>
          <a:prstGeom prst="rect">
            <a:avLst/>
          </a:prstGeom>
          <a:noFill/>
        </p:spPr>
        <p:txBody>
          <a:bodyPr wrap="square" lIns="9144" rIns="9144" tIns="9144" bIns="9144">
            <a:spAutoFit/>
          </a:bodyPr>
          <a:lstStyle/>
          <a:p>
            <a:pPr>
              <a:lnSpc>
                <a:spcPct val="105000"/>
              </a:lnSpc>
              <a:spcBef>
                <a:spcPts val="0"/>
              </a:spcBef>
              <a:spcAft>
                <a:spcPts val="0"/>
              </a:spcAft>
              <a:defRPr sz="2900" b="0" i="1">
                <a:solidFill>
                  <a:srgbClr val="F6F4ED"/>
                </a:solidFill>
                <a:latin typeface="Liberation Serif"/>
              </a:defRPr>
            </a:pPr>
            <a:r>
              <a:t>No findings does not mean no risk.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4ED"/>
        </a:solidFill>
        <a:effectLst/>
      </p:bgPr>
    </p:bg>
    <p:spTree>
      <p:nvGrpSpPr>
        <p:cNvPr id="1" name=""/>
        <p:cNvGrpSpPr/>
        <p:nvPr/>
      </p:nvGrpSpPr>
      <p:grpSpPr/>
      <p:sp>
        <p:nvSpPr>
          <p:cNvPr id="2" name="Oval 1"/>
          <p:cNvSpPr/>
          <p:nvPr/>
        </p:nvSpPr>
        <p:spPr>
          <a:xfrm>
            <a:off x="548640" y="265176"/>
            <a:ext cx="256032" cy="256032"/>
          </a:xfrm>
          <a:prstGeom prst="ellipse">
            <a:avLst/>
          </a:prstGeom>
          <a:solidFill>
            <a:srgbClr val="F6F4ED"/>
          </a:solidFill>
          <a:ln w="20320">
            <a:solidFill>
              <a:srgbClr val="65726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Diamond 2"/>
          <p:cNvSpPr/>
          <p:nvPr/>
        </p:nvSpPr>
        <p:spPr>
          <a:xfrm rot="2100000">
            <a:off x="638251" y="318942"/>
            <a:ext cx="76809" cy="148498"/>
          </a:xfrm>
          <a:prstGeom prst="diamond">
            <a:avLst/>
          </a:prstGeom>
          <a:solidFill>
            <a:srgbClr val="65726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Oval 3"/>
          <p:cNvSpPr/>
          <p:nvPr/>
        </p:nvSpPr>
        <p:spPr>
          <a:xfrm>
            <a:off x="663854" y="380390"/>
            <a:ext cx="25603" cy="25603"/>
          </a:xfrm>
          <a:prstGeom prst="ellipse">
            <a:avLst/>
          </a:prstGeom>
          <a:solidFill>
            <a:srgbClr val="F6F4E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914400" y="292608"/>
            <a:ext cx="7955279" cy="237744"/>
          </a:xfrm>
          <a:prstGeom prst="rect">
            <a:avLst/>
          </a:prstGeom>
          <a:noFill/>
        </p:spPr>
        <p:txBody>
          <a:bodyPr wrap="square" lIns="9144" rIns="9144" tIns="9144" bIns="9144">
            <a:spAutoFit/>
          </a:bodyPr>
          <a:lstStyle/>
          <a:p>
            <a:pPr>
              <a:lnSpc>
                <a:spcPct val="105000"/>
              </a:lnSpc>
              <a:spcBef>
                <a:spcPts val="0"/>
              </a:spcBef>
              <a:spcAft>
                <a:spcPts val="0"/>
              </a:spcAft>
              <a:defRPr sz="1000" b="0" i="0">
                <a:solidFill>
                  <a:srgbClr val="657268"/>
                </a:solidFill>
                <a:latin typeface="Liberation Mono"/>
              </a:defRPr>
            </a:pPr>
            <a:r>
              <a:t>TRACERISK / WHAT IS READY</a:t>
            </a:r>
          </a:p>
        </p:txBody>
      </p:sp>
      <p:sp>
        <p:nvSpPr>
          <p:cNvPr id="6" name="TextBox 5"/>
          <p:cNvSpPr txBox="1"/>
          <p:nvPr/>
        </p:nvSpPr>
        <p:spPr>
          <a:xfrm>
            <a:off x="9774936" y="292608"/>
            <a:ext cx="1965960" cy="237744"/>
          </a:xfrm>
          <a:prstGeom prst="rect">
            <a:avLst/>
          </a:prstGeom>
          <a:noFill/>
        </p:spPr>
        <p:txBody>
          <a:bodyPr wrap="square" lIns="9144" rIns="9144" tIns="9144" bIns="9144">
            <a:spAutoFit/>
          </a:bodyPr>
          <a:lstStyle/>
          <a:p>
            <a:pPr>
              <a:lnSpc>
                <a:spcPct val="105000"/>
              </a:lnSpc>
              <a:spcBef>
                <a:spcPts val="0"/>
              </a:spcBef>
              <a:spcAft>
                <a:spcPts val="0"/>
              </a:spcAft>
              <a:defRPr sz="1000" b="0" i="0">
                <a:solidFill>
                  <a:srgbClr val="657268"/>
                </a:solidFill>
                <a:latin typeface="Liberation Mono"/>
              </a:defRPr>
            </a:pPr>
            <a:r>
              <a:t>AZINHACK 2026</a:t>
            </a:r>
          </a:p>
        </p:txBody>
      </p:sp>
      <p:cxnSp>
        <p:nvCxnSpPr>
          <p:cNvPr id="7" name="Connector 6"/>
          <p:cNvCxnSpPr/>
          <p:nvPr/>
        </p:nvCxnSpPr>
        <p:spPr>
          <a:xfrm>
            <a:off x="548640" y="6345936"/>
            <a:ext cx="11091672" cy="0"/>
          </a:xfrm>
          <a:prstGeom prst="line">
            <a:avLst/>
          </a:prstGeom>
          <a:ln w="10160">
            <a:solidFill>
              <a:srgbClr val="DADDCE"/>
            </a:solidFill>
          </a:ln>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85216" y="6492240"/>
            <a:ext cx="7315200" cy="237744"/>
          </a:xfrm>
          <a:prstGeom prst="rect">
            <a:avLst/>
          </a:prstGeom>
          <a:noFill/>
        </p:spPr>
        <p:txBody>
          <a:bodyPr wrap="square" lIns="9144" rIns="9144" tIns="9144" bIns="9144">
            <a:spAutoFit/>
          </a:bodyPr>
          <a:lstStyle/>
          <a:p>
            <a:pPr>
              <a:lnSpc>
                <a:spcPct val="105000"/>
              </a:lnSpc>
              <a:spcBef>
                <a:spcPts val="0"/>
              </a:spcBef>
              <a:spcAft>
                <a:spcPts val="0"/>
              </a:spcAft>
              <a:defRPr sz="800" b="0" i="0">
                <a:solidFill>
                  <a:srgbClr val="657268"/>
                </a:solidFill>
                <a:latin typeface="Liberation Mono"/>
              </a:defRPr>
            </a:pPr>
            <a:r>
              <a:t>THE TRAVEL FIELD GUIDE FOR INDIA</a:t>
            </a:r>
          </a:p>
        </p:txBody>
      </p:sp>
      <p:sp>
        <p:nvSpPr>
          <p:cNvPr id="9" name="TextBox 8"/>
          <p:cNvSpPr txBox="1"/>
          <p:nvPr/>
        </p:nvSpPr>
        <p:spPr>
          <a:xfrm>
            <a:off x="10963656" y="6492240"/>
            <a:ext cx="731520" cy="237744"/>
          </a:xfrm>
          <a:prstGeom prst="rect">
            <a:avLst/>
          </a:prstGeom>
          <a:noFill/>
        </p:spPr>
        <p:txBody>
          <a:bodyPr wrap="square" lIns="9144" rIns="9144" tIns="9144" bIns="9144">
            <a:spAutoFit/>
          </a:bodyPr>
          <a:lstStyle/>
          <a:p>
            <a:pPr>
              <a:lnSpc>
                <a:spcPct val="105000"/>
              </a:lnSpc>
              <a:spcBef>
                <a:spcPts val="0"/>
              </a:spcBef>
              <a:spcAft>
                <a:spcPts val="0"/>
              </a:spcAft>
              <a:defRPr sz="800" b="0" i="0">
                <a:solidFill>
                  <a:srgbClr val="657268"/>
                </a:solidFill>
                <a:latin typeface="Liberation Mono"/>
              </a:defRPr>
            </a:pPr>
            <a:r>
              <a:t>08 / 12</a:t>
            </a:r>
          </a:p>
        </p:txBody>
      </p:sp>
      <p:sp>
        <p:nvSpPr>
          <p:cNvPr id="10" name="TextBox 9"/>
          <p:cNvSpPr txBox="1"/>
          <p:nvPr/>
        </p:nvSpPr>
        <p:spPr>
          <a:xfrm>
            <a:off x="594360" y="914400"/>
            <a:ext cx="11018520" cy="685800"/>
          </a:xfrm>
          <a:prstGeom prst="rect">
            <a:avLst/>
          </a:prstGeom>
          <a:noFill/>
        </p:spPr>
        <p:txBody>
          <a:bodyPr wrap="square" lIns="9144" rIns="9144" tIns="9144" bIns="9144">
            <a:spAutoFit/>
          </a:bodyPr>
          <a:lstStyle/>
          <a:p>
            <a:pPr>
              <a:lnSpc>
                <a:spcPct val="105000"/>
              </a:lnSpc>
              <a:spcBef>
                <a:spcPts val="0"/>
              </a:spcBef>
              <a:spcAft>
                <a:spcPts val="0"/>
              </a:spcAft>
              <a:defRPr sz="3800" b="0" i="0">
                <a:solidFill>
                  <a:srgbClr val="23392F"/>
                </a:solidFill>
                <a:latin typeface="Liberation Serif"/>
              </a:defRPr>
            </a:pPr>
            <a:r>
              <a:t>A working prototype, with a clear next step.</a:t>
            </a:r>
          </a:p>
        </p:txBody>
      </p:sp>
      <p:sp>
        <p:nvSpPr>
          <p:cNvPr id="11" name="TextBox 10"/>
          <p:cNvSpPr txBox="1"/>
          <p:nvPr/>
        </p:nvSpPr>
        <p:spPr>
          <a:xfrm>
            <a:off x="658368" y="2048256"/>
            <a:ext cx="4572000" cy="237744"/>
          </a:xfrm>
          <a:prstGeom prst="rect">
            <a:avLst/>
          </a:prstGeom>
          <a:noFill/>
        </p:spPr>
        <p:txBody>
          <a:bodyPr wrap="square" lIns="9144" rIns="9144" tIns="9144" bIns="9144">
            <a:spAutoFit/>
          </a:bodyPr>
          <a:lstStyle/>
          <a:p>
            <a:pPr>
              <a:lnSpc>
                <a:spcPct val="105000"/>
              </a:lnSpc>
              <a:spcBef>
                <a:spcPts val="0"/>
              </a:spcBef>
              <a:spcAft>
                <a:spcPts val="0"/>
              </a:spcAft>
              <a:defRPr sz="1100" b="0" i="0">
                <a:solidFill>
                  <a:srgbClr val="A8472E"/>
                </a:solidFill>
                <a:latin typeface="Liberation Mono"/>
              </a:defRPr>
            </a:pPr>
            <a:r>
              <a:t>BUILT TODAY</a:t>
            </a:r>
          </a:p>
        </p:txBody>
      </p:sp>
      <p:sp>
        <p:nvSpPr>
          <p:cNvPr id="12" name="Oval 11"/>
          <p:cNvSpPr/>
          <p:nvPr/>
        </p:nvSpPr>
        <p:spPr>
          <a:xfrm>
            <a:off x="694944" y="2724912"/>
            <a:ext cx="82296" cy="82296"/>
          </a:xfrm>
          <a:prstGeom prst="ellipse">
            <a:avLst/>
          </a:prstGeom>
          <a:solidFill>
            <a:srgbClr val="264B3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932688" y="2633472"/>
            <a:ext cx="6263640" cy="466344"/>
          </a:xfrm>
          <a:prstGeom prst="rect">
            <a:avLst/>
          </a:prstGeom>
          <a:noFill/>
        </p:spPr>
        <p:txBody>
          <a:bodyPr wrap="square" lIns="9144" rIns="9144" tIns="9144" bIns="9144">
            <a:spAutoFit/>
          </a:bodyPr>
          <a:lstStyle/>
          <a:p>
            <a:pPr>
              <a:lnSpc>
                <a:spcPct val="105000"/>
              </a:lnSpc>
              <a:spcBef>
                <a:spcPts val="0"/>
              </a:spcBef>
              <a:spcAft>
                <a:spcPts val="0"/>
              </a:spcAft>
              <a:defRPr sz="2200" b="0" i="0">
                <a:solidFill>
                  <a:srgbClr val="23392F"/>
                </a:solidFill>
                <a:latin typeface="Liberation Sans"/>
              </a:defRPr>
            </a:pPr>
            <a:r>
              <a:t>Trip planning, saved plans &amp; themes</a:t>
            </a:r>
          </a:p>
        </p:txBody>
      </p:sp>
      <p:sp>
        <p:nvSpPr>
          <p:cNvPr id="14" name="Oval 13"/>
          <p:cNvSpPr/>
          <p:nvPr/>
        </p:nvSpPr>
        <p:spPr>
          <a:xfrm>
            <a:off x="694944" y="3355848"/>
            <a:ext cx="82296" cy="82296"/>
          </a:xfrm>
          <a:prstGeom prst="ellipse">
            <a:avLst/>
          </a:prstGeom>
          <a:solidFill>
            <a:srgbClr val="264B3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932688" y="3264408"/>
            <a:ext cx="6263640" cy="466344"/>
          </a:xfrm>
          <a:prstGeom prst="rect">
            <a:avLst/>
          </a:prstGeom>
          <a:noFill/>
        </p:spPr>
        <p:txBody>
          <a:bodyPr wrap="square" lIns="9144" rIns="9144" tIns="9144" bIns="9144">
            <a:spAutoFit/>
          </a:bodyPr>
          <a:lstStyle/>
          <a:p>
            <a:pPr>
              <a:lnSpc>
                <a:spcPct val="105000"/>
              </a:lnSpc>
              <a:spcBef>
                <a:spcPts val="0"/>
              </a:spcBef>
              <a:spcAft>
                <a:spcPts val="0"/>
              </a:spcAft>
              <a:defRPr sz="2200" b="0" i="0">
                <a:solidFill>
                  <a:srgbClr val="23392F"/>
                </a:solidFill>
                <a:latin typeface="Liberation Sans"/>
              </a:defRPr>
            </a:pPr>
            <a:r>
              <a:t>Source-linked findings &amp; coverage gaps</a:t>
            </a:r>
          </a:p>
        </p:txBody>
      </p:sp>
      <p:sp>
        <p:nvSpPr>
          <p:cNvPr id="16" name="Oval 15"/>
          <p:cNvSpPr/>
          <p:nvPr/>
        </p:nvSpPr>
        <p:spPr>
          <a:xfrm>
            <a:off x="694944" y="3986784"/>
            <a:ext cx="82296" cy="82296"/>
          </a:xfrm>
          <a:prstGeom prst="ellipse">
            <a:avLst/>
          </a:prstGeom>
          <a:solidFill>
            <a:srgbClr val="264B3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932688" y="3895344"/>
            <a:ext cx="6263640" cy="466344"/>
          </a:xfrm>
          <a:prstGeom prst="rect">
            <a:avLst/>
          </a:prstGeom>
          <a:noFill/>
        </p:spPr>
        <p:txBody>
          <a:bodyPr wrap="square" lIns="9144" rIns="9144" tIns="9144" bIns="9144">
            <a:spAutoFit/>
          </a:bodyPr>
          <a:lstStyle/>
          <a:p>
            <a:pPr>
              <a:lnSpc>
                <a:spcPct val="105000"/>
              </a:lnSpc>
              <a:spcBef>
                <a:spcPts val="0"/>
              </a:spcBef>
              <a:spcAft>
                <a:spcPts val="0"/>
              </a:spcAft>
              <a:defRPr sz="2200" b="0" i="0">
                <a:solidFill>
                  <a:srgbClr val="23392F"/>
                </a:solidFill>
                <a:latin typeface="Liberation Sans"/>
              </a:defRPr>
            </a:pPr>
            <a:r>
              <a:t>Filters, briefing download &amp; print</a:t>
            </a:r>
          </a:p>
        </p:txBody>
      </p:sp>
      <p:sp>
        <p:nvSpPr>
          <p:cNvPr id="18" name="Oval 17"/>
          <p:cNvSpPr/>
          <p:nvPr/>
        </p:nvSpPr>
        <p:spPr>
          <a:xfrm>
            <a:off x="694944" y="4617720"/>
            <a:ext cx="82296" cy="82296"/>
          </a:xfrm>
          <a:prstGeom prst="ellipse">
            <a:avLst/>
          </a:prstGeom>
          <a:solidFill>
            <a:srgbClr val="264B3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932688" y="4526280"/>
            <a:ext cx="6263640" cy="466344"/>
          </a:xfrm>
          <a:prstGeom prst="rect">
            <a:avLst/>
          </a:prstGeom>
          <a:noFill/>
        </p:spPr>
        <p:txBody>
          <a:bodyPr wrap="square" lIns="9144" rIns="9144" tIns="9144" bIns="9144">
            <a:spAutoFit/>
          </a:bodyPr>
          <a:lstStyle/>
          <a:p>
            <a:pPr>
              <a:lnSpc>
                <a:spcPct val="105000"/>
              </a:lnSpc>
              <a:spcBef>
                <a:spcPts val="0"/>
              </a:spcBef>
              <a:spcAft>
                <a:spcPts val="0"/>
              </a:spcAft>
              <a:defRPr sz="2200" b="0" i="0">
                <a:solidFill>
                  <a:srgbClr val="23392F"/>
                </a:solidFill>
                <a:latin typeface="Liberation Sans"/>
              </a:defRPr>
            </a:pPr>
            <a:r>
              <a:t>Cancellation, fallbacks &amp; request limits</a:t>
            </a:r>
          </a:p>
        </p:txBody>
      </p:sp>
      <p:sp>
        <p:nvSpPr>
          <p:cNvPr id="20" name="Rectangle 19"/>
          <p:cNvSpPr/>
          <p:nvPr/>
        </p:nvSpPr>
        <p:spPr>
          <a:xfrm>
            <a:off x="7863840" y="2011680"/>
            <a:ext cx="3657600" cy="3246120"/>
          </a:xfrm>
          <a:prstGeom prst="rect">
            <a:avLst/>
          </a:prstGeom>
          <a:solidFill>
            <a:srgbClr val="E9EFD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119872" y="2295144"/>
            <a:ext cx="3200400" cy="237744"/>
          </a:xfrm>
          <a:prstGeom prst="rect">
            <a:avLst/>
          </a:prstGeom>
          <a:noFill/>
        </p:spPr>
        <p:txBody>
          <a:bodyPr wrap="square" lIns="9144" rIns="9144" tIns="9144" bIns="9144">
            <a:spAutoFit/>
          </a:bodyPr>
          <a:lstStyle/>
          <a:p>
            <a:pPr>
              <a:lnSpc>
                <a:spcPct val="105000"/>
              </a:lnSpc>
              <a:spcBef>
                <a:spcPts val="0"/>
              </a:spcBef>
              <a:spcAft>
                <a:spcPts val="0"/>
              </a:spcAft>
              <a:defRPr sz="1000" b="0" i="0">
                <a:solidFill>
                  <a:srgbClr val="264B3A"/>
                </a:solidFill>
                <a:latin typeface="Liberation Mono"/>
              </a:defRPr>
            </a:pPr>
            <a:r>
              <a:t>LOCAL VERIFICATION</a:t>
            </a:r>
          </a:p>
        </p:txBody>
      </p:sp>
      <p:sp>
        <p:nvSpPr>
          <p:cNvPr id="22" name="TextBox 21"/>
          <p:cNvSpPr txBox="1"/>
          <p:nvPr/>
        </p:nvSpPr>
        <p:spPr>
          <a:xfrm>
            <a:off x="8092440" y="2724912"/>
            <a:ext cx="3200400" cy="777240"/>
          </a:xfrm>
          <a:prstGeom prst="rect">
            <a:avLst/>
          </a:prstGeom>
          <a:noFill/>
        </p:spPr>
        <p:txBody>
          <a:bodyPr wrap="square" lIns="9144" rIns="9144" tIns="9144" bIns="9144">
            <a:spAutoFit/>
          </a:bodyPr>
          <a:lstStyle/>
          <a:p>
            <a:pPr>
              <a:lnSpc>
                <a:spcPct val="105000"/>
              </a:lnSpc>
              <a:spcBef>
                <a:spcPts val="0"/>
              </a:spcBef>
              <a:spcAft>
                <a:spcPts val="0"/>
              </a:spcAft>
              <a:defRPr sz="4800" b="0" i="0">
                <a:solidFill>
                  <a:srgbClr val="264B3A"/>
                </a:solidFill>
                <a:latin typeface="Liberation Serif"/>
              </a:defRPr>
            </a:pPr>
            <a:r>
              <a:t>33 + 12</a:t>
            </a:r>
          </a:p>
        </p:txBody>
      </p:sp>
      <p:sp>
        <p:nvSpPr>
          <p:cNvPr id="23" name="TextBox 22"/>
          <p:cNvSpPr txBox="1"/>
          <p:nvPr/>
        </p:nvSpPr>
        <p:spPr>
          <a:xfrm>
            <a:off x="8138160" y="3602736"/>
            <a:ext cx="3063240" cy="722376"/>
          </a:xfrm>
          <a:prstGeom prst="rect">
            <a:avLst/>
          </a:prstGeom>
          <a:noFill/>
        </p:spPr>
        <p:txBody>
          <a:bodyPr wrap="square" lIns="9144" rIns="9144" tIns="9144" bIns="9144">
            <a:spAutoFit/>
          </a:bodyPr>
          <a:lstStyle/>
          <a:p>
            <a:pPr>
              <a:lnSpc>
                <a:spcPct val="105000"/>
              </a:lnSpc>
              <a:spcBef>
                <a:spcPts val="0"/>
              </a:spcBef>
              <a:spcAft>
                <a:spcPts val="0"/>
              </a:spcAft>
              <a:defRPr sz="2200" b="0" i="0">
                <a:solidFill>
                  <a:srgbClr val="23392F"/>
                </a:solidFill>
                <a:latin typeface="Liberation Sans"/>
              </a:defRPr>
            </a:pPr>
            <a:r>
              <a:t>Node tests +</a:t>
            </a:r>
          </a:p>
          <a:p>
            <a:pPr>
              <a:lnSpc>
                <a:spcPct val="105000"/>
              </a:lnSpc>
              <a:spcBef>
                <a:spcPts val="0"/>
              </a:spcBef>
              <a:spcAft>
                <a:spcPts val="0"/>
              </a:spcAft>
              <a:defRPr sz="2200" b="0" i="0">
                <a:solidFill>
                  <a:srgbClr val="23392F"/>
                </a:solidFill>
                <a:latin typeface="Liberation Sans"/>
              </a:defRPr>
            </a:pPr>
            <a:r>
              <a:t>browser tests</a:t>
            </a:r>
          </a:p>
        </p:txBody>
      </p:sp>
      <p:sp>
        <p:nvSpPr>
          <p:cNvPr id="24" name="TextBox 23"/>
          <p:cNvSpPr txBox="1"/>
          <p:nvPr/>
        </p:nvSpPr>
        <p:spPr>
          <a:xfrm>
            <a:off x="8138160" y="4443984"/>
            <a:ext cx="2971800" cy="393192"/>
          </a:xfrm>
          <a:prstGeom prst="rect">
            <a:avLst/>
          </a:prstGeom>
          <a:noFill/>
        </p:spPr>
        <p:txBody>
          <a:bodyPr wrap="square" lIns="9144" rIns="9144" tIns="9144" bIns="9144">
            <a:spAutoFit/>
          </a:bodyPr>
          <a:lstStyle/>
          <a:p>
            <a:pPr>
              <a:lnSpc>
                <a:spcPct val="105000"/>
              </a:lnSpc>
              <a:spcBef>
                <a:spcPts val="0"/>
              </a:spcBef>
              <a:spcAft>
                <a:spcPts val="0"/>
              </a:spcAft>
              <a:defRPr sz="1800" b="0" i="0">
                <a:solidFill>
                  <a:srgbClr val="657268"/>
                </a:solidFill>
                <a:latin typeface="Liberation Sans"/>
              </a:defRPr>
            </a:pPr>
            <a:r>
              <a:t>Production build passed.</a:t>
            </a:r>
          </a:p>
        </p:txBody>
      </p:sp>
      <p:sp>
        <p:nvSpPr>
          <p:cNvPr id="25" name="TextBox 24"/>
          <p:cNvSpPr txBox="1"/>
          <p:nvPr/>
        </p:nvSpPr>
        <p:spPr>
          <a:xfrm>
            <a:off x="8138160" y="4754880"/>
            <a:ext cx="2980944" cy="457200"/>
          </a:xfrm>
          <a:prstGeom prst="rect">
            <a:avLst/>
          </a:prstGeom>
          <a:noFill/>
        </p:spPr>
        <p:txBody>
          <a:bodyPr wrap="square" lIns="9144" rIns="9144" tIns="9144" bIns="9144">
            <a:spAutoFit/>
          </a:bodyPr>
          <a:lstStyle/>
          <a:p>
            <a:pPr>
              <a:lnSpc>
                <a:spcPct val="105000"/>
              </a:lnSpc>
              <a:spcBef>
                <a:spcPts val="0"/>
              </a:spcBef>
              <a:spcAft>
                <a:spcPts val="0"/>
              </a:spcAft>
              <a:defRPr sz="1200" b="0" i="0">
                <a:solidFill>
                  <a:srgbClr val="657268"/>
                </a:solidFill>
                <a:latin typeface="Liberation Sans"/>
              </a:defRPr>
            </a:pPr>
            <a:r>
              <a:t>Fixture-based checks; not a live-provider certification.</a:t>
            </a:r>
          </a:p>
        </p:txBody>
      </p:sp>
      <p:cxnSp>
        <p:nvCxnSpPr>
          <p:cNvPr id="26" name="Connector 25"/>
          <p:cNvCxnSpPr/>
          <p:nvPr/>
        </p:nvCxnSpPr>
        <p:spPr>
          <a:xfrm>
            <a:off x="676656" y="5513832"/>
            <a:ext cx="10826496" cy="0"/>
          </a:xfrm>
          <a:prstGeom prst="line">
            <a:avLst/>
          </a:prstGeom>
          <a:ln w="12700">
            <a:solidFill>
              <a:srgbClr val="DADDCE"/>
            </a:solidFill>
          </a:ln>
        </p:spPr>
        <p:style>
          <a:lnRef idx="2">
            <a:schemeClr val="accent1"/>
          </a:lnRef>
          <a:fillRef idx="0">
            <a:schemeClr val="accent1"/>
          </a:fillRef>
          <a:effectRef idx="0">
            <a:schemeClr val="accent1"/>
          </a:effectRef>
          <a:fontRef idx="minor">
            <a:schemeClr val="tx1"/>
          </a:fontRef>
        </p:style>
      </p:cxnSp>
      <p:sp>
        <p:nvSpPr>
          <p:cNvPr id="27" name="TextBox 26"/>
          <p:cNvSpPr txBox="1"/>
          <p:nvPr/>
        </p:nvSpPr>
        <p:spPr>
          <a:xfrm>
            <a:off x="676656" y="5733288"/>
            <a:ext cx="10789920" cy="393192"/>
          </a:xfrm>
          <a:prstGeom prst="rect">
            <a:avLst/>
          </a:prstGeom>
          <a:noFill/>
        </p:spPr>
        <p:txBody>
          <a:bodyPr wrap="square" lIns="9144" rIns="9144" tIns="9144" bIns="9144">
            <a:spAutoFit/>
          </a:bodyPr>
          <a:lstStyle/>
          <a:p>
            <a:pPr>
              <a:lnSpc>
                <a:spcPct val="105000"/>
              </a:lnSpc>
              <a:spcBef>
                <a:spcPts val="0"/>
              </a:spcBef>
              <a:spcAft>
                <a:spcPts val="0"/>
              </a:spcAft>
              <a:defRPr sz="2100" b="0" i="0">
                <a:solidFill>
                  <a:srgbClr val="A8472E"/>
                </a:solidFill>
                <a:latin typeface="Liberation Sans"/>
              </a:defRPr>
            </a:pPr>
            <a:r>
              <a:t>Next: traveller feedback and a small, clearly labelled hotel-ad pilot.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4ED"/>
        </a:solidFill>
        <a:effectLst/>
      </p:bgPr>
    </p:bg>
    <p:spTree>
      <p:nvGrpSpPr>
        <p:cNvPr id="1" name=""/>
        <p:cNvGrpSpPr/>
        <p:nvPr/>
      </p:nvGrpSpPr>
      <p:grpSpPr/>
      <p:sp>
        <p:nvSpPr>
          <p:cNvPr id="2" name="Oval 1"/>
          <p:cNvSpPr/>
          <p:nvPr/>
        </p:nvSpPr>
        <p:spPr>
          <a:xfrm>
            <a:off x="548640" y="265176"/>
            <a:ext cx="256032" cy="256032"/>
          </a:xfrm>
          <a:prstGeom prst="ellipse">
            <a:avLst/>
          </a:prstGeom>
          <a:solidFill>
            <a:srgbClr val="F6F4ED"/>
          </a:solidFill>
          <a:ln w="20320">
            <a:solidFill>
              <a:srgbClr val="65726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Diamond 2"/>
          <p:cNvSpPr/>
          <p:nvPr/>
        </p:nvSpPr>
        <p:spPr>
          <a:xfrm rot="2100000">
            <a:off x="638251" y="318942"/>
            <a:ext cx="76809" cy="148498"/>
          </a:xfrm>
          <a:prstGeom prst="diamond">
            <a:avLst/>
          </a:prstGeom>
          <a:solidFill>
            <a:srgbClr val="65726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Oval 3"/>
          <p:cNvSpPr/>
          <p:nvPr/>
        </p:nvSpPr>
        <p:spPr>
          <a:xfrm>
            <a:off x="663854" y="380390"/>
            <a:ext cx="25603" cy="25603"/>
          </a:xfrm>
          <a:prstGeom prst="ellipse">
            <a:avLst/>
          </a:prstGeom>
          <a:solidFill>
            <a:srgbClr val="F6F4E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914400" y="292608"/>
            <a:ext cx="7955279" cy="237744"/>
          </a:xfrm>
          <a:prstGeom prst="rect">
            <a:avLst/>
          </a:prstGeom>
          <a:noFill/>
        </p:spPr>
        <p:txBody>
          <a:bodyPr wrap="square" lIns="9144" rIns="9144" tIns="9144" bIns="9144">
            <a:spAutoFit/>
          </a:bodyPr>
          <a:lstStyle/>
          <a:p>
            <a:pPr>
              <a:lnSpc>
                <a:spcPct val="105000"/>
              </a:lnSpc>
              <a:spcBef>
                <a:spcPts val="0"/>
              </a:spcBef>
              <a:spcAft>
                <a:spcPts val="0"/>
              </a:spcAft>
              <a:defRPr sz="1000" b="0" i="0">
                <a:solidFill>
                  <a:srgbClr val="657268"/>
                </a:solidFill>
                <a:latin typeface="Liberation Mono"/>
              </a:defRPr>
            </a:pPr>
            <a:r>
              <a:t>TRACERISK / MONETIZATION / PROPOSED</a:t>
            </a:r>
          </a:p>
        </p:txBody>
      </p:sp>
      <p:sp>
        <p:nvSpPr>
          <p:cNvPr id="6" name="TextBox 5"/>
          <p:cNvSpPr txBox="1"/>
          <p:nvPr/>
        </p:nvSpPr>
        <p:spPr>
          <a:xfrm>
            <a:off x="9774936" y="292608"/>
            <a:ext cx="1965960" cy="237744"/>
          </a:xfrm>
          <a:prstGeom prst="rect">
            <a:avLst/>
          </a:prstGeom>
          <a:noFill/>
        </p:spPr>
        <p:txBody>
          <a:bodyPr wrap="square" lIns="9144" rIns="9144" tIns="9144" bIns="9144">
            <a:spAutoFit/>
          </a:bodyPr>
          <a:lstStyle/>
          <a:p>
            <a:pPr>
              <a:lnSpc>
                <a:spcPct val="105000"/>
              </a:lnSpc>
              <a:spcBef>
                <a:spcPts val="0"/>
              </a:spcBef>
              <a:spcAft>
                <a:spcPts val="0"/>
              </a:spcAft>
              <a:defRPr sz="1000" b="0" i="0">
                <a:solidFill>
                  <a:srgbClr val="657268"/>
                </a:solidFill>
                <a:latin typeface="Liberation Mono"/>
              </a:defRPr>
            </a:pPr>
            <a:r>
              <a:t>AZINHACK 2026</a:t>
            </a:r>
          </a:p>
        </p:txBody>
      </p:sp>
      <p:cxnSp>
        <p:nvCxnSpPr>
          <p:cNvPr id="7" name="Connector 6"/>
          <p:cNvCxnSpPr/>
          <p:nvPr/>
        </p:nvCxnSpPr>
        <p:spPr>
          <a:xfrm>
            <a:off x="548640" y="6345936"/>
            <a:ext cx="11091672" cy="0"/>
          </a:xfrm>
          <a:prstGeom prst="line">
            <a:avLst/>
          </a:prstGeom>
          <a:ln w="10160">
            <a:solidFill>
              <a:srgbClr val="DADDCE"/>
            </a:solidFill>
          </a:ln>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85216" y="6492240"/>
            <a:ext cx="7315200" cy="237744"/>
          </a:xfrm>
          <a:prstGeom prst="rect">
            <a:avLst/>
          </a:prstGeom>
          <a:noFill/>
        </p:spPr>
        <p:txBody>
          <a:bodyPr wrap="square" lIns="9144" rIns="9144" tIns="9144" bIns="9144">
            <a:spAutoFit/>
          </a:bodyPr>
          <a:lstStyle/>
          <a:p>
            <a:pPr>
              <a:lnSpc>
                <a:spcPct val="105000"/>
              </a:lnSpc>
              <a:spcBef>
                <a:spcPts val="0"/>
              </a:spcBef>
              <a:spcAft>
                <a:spcPts val="0"/>
              </a:spcAft>
              <a:defRPr sz="800" b="0" i="0">
                <a:solidFill>
                  <a:srgbClr val="657268"/>
                </a:solidFill>
                <a:latin typeface="Liberation Mono"/>
              </a:defRPr>
            </a:pPr>
            <a:r>
              <a:t>THE TRAVEL FIELD GUIDE FOR INDIA</a:t>
            </a:r>
          </a:p>
        </p:txBody>
      </p:sp>
      <p:sp>
        <p:nvSpPr>
          <p:cNvPr id="9" name="TextBox 8"/>
          <p:cNvSpPr txBox="1"/>
          <p:nvPr/>
        </p:nvSpPr>
        <p:spPr>
          <a:xfrm>
            <a:off x="10963656" y="6492240"/>
            <a:ext cx="731520" cy="237744"/>
          </a:xfrm>
          <a:prstGeom prst="rect">
            <a:avLst/>
          </a:prstGeom>
          <a:noFill/>
        </p:spPr>
        <p:txBody>
          <a:bodyPr wrap="square" lIns="9144" rIns="9144" tIns="9144" bIns="9144">
            <a:spAutoFit/>
          </a:bodyPr>
          <a:lstStyle/>
          <a:p>
            <a:pPr>
              <a:lnSpc>
                <a:spcPct val="105000"/>
              </a:lnSpc>
              <a:spcBef>
                <a:spcPts val="0"/>
              </a:spcBef>
              <a:spcAft>
                <a:spcPts val="0"/>
              </a:spcAft>
              <a:defRPr sz="800" b="0" i="0">
                <a:solidFill>
                  <a:srgbClr val="657268"/>
                </a:solidFill>
                <a:latin typeface="Liberation Mono"/>
              </a:defRPr>
            </a:pPr>
            <a:r>
              <a:t>09 / 12</a:t>
            </a:r>
          </a:p>
        </p:txBody>
      </p:sp>
      <p:sp>
        <p:nvSpPr>
          <p:cNvPr id="10" name="TextBox 9"/>
          <p:cNvSpPr txBox="1"/>
          <p:nvPr/>
        </p:nvSpPr>
        <p:spPr>
          <a:xfrm>
            <a:off x="594360" y="914400"/>
            <a:ext cx="11018520" cy="685800"/>
          </a:xfrm>
          <a:prstGeom prst="rect">
            <a:avLst/>
          </a:prstGeom>
          <a:noFill/>
        </p:spPr>
        <p:txBody>
          <a:bodyPr wrap="square" lIns="9144" rIns="9144" tIns="9144" bIns="9144">
            <a:spAutoFit/>
          </a:bodyPr>
          <a:lstStyle/>
          <a:p>
            <a:pPr>
              <a:lnSpc>
                <a:spcPct val="105000"/>
              </a:lnSpc>
              <a:spcBef>
                <a:spcPts val="0"/>
              </a:spcBef>
              <a:spcAft>
                <a:spcPts val="0"/>
              </a:spcAft>
              <a:defRPr sz="3800" b="0" i="0">
                <a:solidFill>
                  <a:srgbClr val="23392F"/>
                </a:solidFill>
                <a:latin typeface="Liberation Serif"/>
              </a:defRPr>
            </a:pPr>
            <a:r>
              <a:t>Evidence first. Sponsored stays second.</a:t>
            </a:r>
          </a:p>
        </p:txBody>
      </p:sp>
      <p:sp>
        <p:nvSpPr>
          <p:cNvPr id="11" name="TextBox 10"/>
          <p:cNvSpPr txBox="1"/>
          <p:nvPr/>
        </p:nvSpPr>
        <p:spPr>
          <a:xfrm>
            <a:off x="612648" y="1673352"/>
            <a:ext cx="10881360" cy="457200"/>
          </a:xfrm>
          <a:prstGeom prst="rect">
            <a:avLst/>
          </a:prstGeom>
          <a:noFill/>
        </p:spPr>
        <p:txBody>
          <a:bodyPr wrap="square" lIns="9144" rIns="9144" tIns="9144" bIns="9144">
            <a:spAutoFit/>
          </a:bodyPr>
          <a:lstStyle/>
          <a:p>
            <a:pPr>
              <a:lnSpc>
                <a:spcPct val="105000"/>
              </a:lnSpc>
              <a:spcBef>
                <a:spcPts val="0"/>
              </a:spcBef>
              <a:spcAft>
                <a:spcPts val="0"/>
              </a:spcAft>
              <a:defRPr sz="1800" b="0" i="0">
                <a:solidFill>
                  <a:srgbClr val="657268"/>
                </a:solidFill>
                <a:latin typeface="Liberation Sans"/>
              </a:defRPr>
            </a:pPr>
            <a:r>
              <a:t>Earn from hotel visibility while keeping the travel briefing independent.</a:t>
            </a:r>
          </a:p>
        </p:txBody>
      </p:sp>
      <p:sp>
        <p:nvSpPr>
          <p:cNvPr id="12" name="TextBox 11"/>
          <p:cNvSpPr txBox="1"/>
          <p:nvPr/>
        </p:nvSpPr>
        <p:spPr>
          <a:xfrm>
            <a:off x="676656" y="2423160"/>
            <a:ext cx="6400800" cy="374904"/>
          </a:xfrm>
          <a:prstGeom prst="rect">
            <a:avLst/>
          </a:prstGeom>
          <a:noFill/>
        </p:spPr>
        <p:txBody>
          <a:bodyPr wrap="square" lIns="9144" rIns="9144" tIns="9144" bIns="9144">
            <a:spAutoFit/>
          </a:bodyPr>
          <a:lstStyle/>
          <a:p>
            <a:pPr>
              <a:lnSpc>
                <a:spcPct val="105000"/>
              </a:lnSpc>
              <a:spcBef>
                <a:spcPts val="0"/>
              </a:spcBef>
              <a:spcAft>
                <a:spcPts val="0"/>
              </a:spcAft>
              <a:defRPr sz="2400" b="0" i="0">
                <a:solidFill>
                  <a:srgbClr val="23392F"/>
                </a:solidFill>
                <a:latin typeface="Liberation Serif"/>
              </a:defRPr>
            </a:pPr>
            <a:r>
              <a:t>1. Check the destination</a:t>
            </a:r>
          </a:p>
        </p:txBody>
      </p:sp>
      <p:sp>
        <p:nvSpPr>
          <p:cNvPr id="13" name="TextBox 12"/>
          <p:cNvSpPr txBox="1"/>
          <p:nvPr/>
        </p:nvSpPr>
        <p:spPr>
          <a:xfrm>
            <a:off x="694944" y="2862072"/>
            <a:ext cx="6355080" cy="521207"/>
          </a:xfrm>
          <a:prstGeom prst="rect">
            <a:avLst/>
          </a:prstGeom>
          <a:noFill/>
        </p:spPr>
        <p:txBody>
          <a:bodyPr wrap="square" lIns="9144" rIns="9144" tIns="9144" bIns="9144">
            <a:spAutoFit/>
          </a:bodyPr>
          <a:lstStyle/>
          <a:p>
            <a:pPr>
              <a:lnSpc>
                <a:spcPct val="105000"/>
              </a:lnSpc>
              <a:spcBef>
                <a:spcPts val="0"/>
              </a:spcBef>
              <a:spcAft>
                <a:spcPts val="0"/>
              </a:spcAft>
              <a:defRPr sz="1800" b="0" i="0">
                <a:solidFill>
                  <a:srgbClr val="657268"/>
                </a:solidFill>
                <a:latin typeface="Liberation Sans"/>
              </a:defRPr>
            </a:pPr>
            <a:r>
              <a:t>Use fresh, adequate evidence and review warnings.</a:t>
            </a:r>
          </a:p>
        </p:txBody>
      </p:sp>
      <p:sp>
        <p:nvSpPr>
          <p:cNvPr id="14" name="TextBox 13"/>
          <p:cNvSpPr txBox="1"/>
          <p:nvPr/>
        </p:nvSpPr>
        <p:spPr>
          <a:xfrm>
            <a:off x="676656" y="3374136"/>
            <a:ext cx="6400800" cy="374904"/>
          </a:xfrm>
          <a:prstGeom prst="rect">
            <a:avLst/>
          </a:prstGeom>
          <a:noFill/>
        </p:spPr>
        <p:txBody>
          <a:bodyPr wrap="square" lIns="9144" rIns="9144" tIns="9144" bIns="9144">
            <a:spAutoFit/>
          </a:bodyPr>
          <a:lstStyle/>
          <a:p>
            <a:pPr>
              <a:lnSpc>
                <a:spcPct val="105000"/>
              </a:lnSpc>
              <a:spcBef>
                <a:spcPts val="0"/>
              </a:spcBef>
              <a:spcAft>
                <a:spcPts val="0"/>
              </a:spcAft>
              <a:defRPr sz="2400" b="0" i="0">
                <a:solidFill>
                  <a:srgbClr val="23392F"/>
                </a:solidFill>
                <a:latin typeface="Liberation Serif"/>
              </a:defRPr>
            </a:pPr>
            <a:r>
              <a:t>2. Show relevant hotel ads</a:t>
            </a:r>
          </a:p>
        </p:txBody>
      </p:sp>
      <p:sp>
        <p:nvSpPr>
          <p:cNvPr id="15" name="TextBox 14"/>
          <p:cNvSpPr txBox="1"/>
          <p:nvPr/>
        </p:nvSpPr>
        <p:spPr>
          <a:xfrm>
            <a:off x="694944" y="3813048"/>
            <a:ext cx="6355080" cy="521207"/>
          </a:xfrm>
          <a:prstGeom prst="rect">
            <a:avLst/>
          </a:prstGeom>
          <a:noFill/>
        </p:spPr>
        <p:txBody>
          <a:bodyPr wrap="square" lIns="9144" rIns="9144" tIns="9144" bIns="9144">
            <a:spAutoFit/>
          </a:bodyPr>
          <a:lstStyle/>
          <a:p>
            <a:pPr>
              <a:lnSpc>
                <a:spcPct val="105000"/>
              </a:lnSpc>
              <a:spcBef>
                <a:spcPts val="0"/>
              </a:spcBef>
              <a:spcAft>
                <a:spcPts val="0"/>
              </a:spcAft>
              <a:defRPr sz="1800" b="0" i="0">
                <a:solidFill>
                  <a:srgbClr val="657268"/>
                </a:solidFill>
                <a:latin typeface="Liberation Sans"/>
              </a:defRPr>
            </a:pPr>
            <a:r>
              <a:t>Hide ads if evidence is weak or warnings appear.</a:t>
            </a:r>
          </a:p>
        </p:txBody>
      </p:sp>
      <p:sp>
        <p:nvSpPr>
          <p:cNvPr id="16" name="TextBox 15"/>
          <p:cNvSpPr txBox="1"/>
          <p:nvPr/>
        </p:nvSpPr>
        <p:spPr>
          <a:xfrm>
            <a:off x="676656" y="4325112"/>
            <a:ext cx="6400800" cy="374904"/>
          </a:xfrm>
          <a:prstGeom prst="rect">
            <a:avLst/>
          </a:prstGeom>
          <a:noFill/>
        </p:spPr>
        <p:txBody>
          <a:bodyPr wrap="square" lIns="9144" rIns="9144" tIns="9144" bIns="9144">
            <a:spAutoFit/>
          </a:bodyPr>
          <a:lstStyle/>
          <a:p>
            <a:pPr>
              <a:lnSpc>
                <a:spcPct val="105000"/>
              </a:lnSpc>
              <a:spcBef>
                <a:spcPts val="0"/>
              </a:spcBef>
              <a:spcAft>
                <a:spcPts val="0"/>
              </a:spcAft>
              <a:defRPr sz="2400" b="0" i="0">
                <a:solidFill>
                  <a:srgbClr val="23392F"/>
                </a:solidFill>
                <a:latin typeface="Liberation Serif"/>
              </a:defRPr>
            </a:pPr>
            <a:r>
              <a:t>3. Keep a clear boundary</a:t>
            </a:r>
          </a:p>
        </p:txBody>
      </p:sp>
      <p:sp>
        <p:nvSpPr>
          <p:cNvPr id="17" name="TextBox 16"/>
          <p:cNvSpPr txBox="1"/>
          <p:nvPr/>
        </p:nvSpPr>
        <p:spPr>
          <a:xfrm>
            <a:off x="694944" y="4764024"/>
            <a:ext cx="6355080" cy="521207"/>
          </a:xfrm>
          <a:prstGeom prst="rect">
            <a:avLst/>
          </a:prstGeom>
          <a:noFill/>
        </p:spPr>
        <p:txBody>
          <a:bodyPr wrap="square" lIns="9144" rIns="9144" tIns="9144" bIns="9144">
            <a:spAutoFit/>
          </a:bodyPr>
          <a:lstStyle/>
          <a:p>
            <a:pPr>
              <a:lnSpc>
                <a:spcPct val="105000"/>
              </a:lnSpc>
              <a:spcBef>
                <a:spcPts val="0"/>
              </a:spcBef>
              <a:spcAft>
                <a:spcPts val="0"/>
              </a:spcAft>
              <a:defRPr sz="1800" b="0" i="0">
                <a:solidFill>
                  <a:srgbClr val="657268"/>
                </a:solidFill>
                <a:latin typeface="Liberation Sans"/>
              </a:defRPr>
            </a:pPr>
            <a:r>
              <a:t>Label ads. Payment never changes the assessment.</a:t>
            </a:r>
          </a:p>
        </p:txBody>
      </p:sp>
      <p:sp>
        <p:nvSpPr>
          <p:cNvPr id="18" name="Rectangle 17"/>
          <p:cNvSpPr/>
          <p:nvPr/>
        </p:nvSpPr>
        <p:spPr>
          <a:xfrm>
            <a:off x="7726679" y="2395728"/>
            <a:ext cx="3803904" cy="3008376"/>
          </a:xfrm>
          <a:prstGeom prst="rect">
            <a:avLst/>
          </a:prstGeom>
          <a:solidFill>
            <a:srgbClr val="FFFEF9"/>
          </a:solidFill>
          <a:ln w="10160">
            <a:solidFill>
              <a:srgbClr val="DADDCE"/>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7955279" y="2642616"/>
            <a:ext cx="1207008" cy="310896"/>
          </a:xfrm>
          <a:prstGeom prst="rect">
            <a:avLst/>
          </a:prstGeom>
          <a:solidFill>
            <a:srgbClr val="F0E7D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065008" y="2715768"/>
            <a:ext cx="1051560" cy="237744"/>
          </a:xfrm>
          <a:prstGeom prst="rect">
            <a:avLst/>
          </a:prstGeom>
          <a:noFill/>
        </p:spPr>
        <p:txBody>
          <a:bodyPr wrap="square" lIns="9144" rIns="9144" tIns="9144" bIns="9144">
            <a:spAutoFit/>
          </a:bodyPr>
          <a:lstStyle/>
          <a:p>
            <a:pPr>
              <a:lnSpc>
                <a:spcPct val="105000"/>
              </a:lnSpc>
              <a:spcBef>
                <a:spcPts val="0"/>
              </a:spcBef>
              <a:spcAft>
                <a:spcPts val="0"/>
              </a:spcAft>
              <a:defRPr sz="800" b="0" i="0">
                <a:solidFill>
                  <a:srgbClr val="A8472E"/>
                </a:solidFill>
                <a:latin typeface="Liberation Mono"/>
              </a:defRPr>
            </a:pPr>
            <a:r>
              <a:t>SPONSORED</a:t>
            </a:r>
          </a:p>
        </p:txBody>
      </p:sp>
      <p:sp>
        <p:nvSpPr>
          <p:cNvPr id="21" name="TextBox 20"/>
          <p:cNvSpPr txBox="1"/>
          <p:nvPr/>
        </p:nvSpPr>
        <p:spPr>
          <a:xfrm>
            <a:off x="10305288" y="2734056"/>
            <a:ext cx="1005840" cy="237744"/>
          </a:xfrm>
          <a:prstGeom prst="rect">
            <a:avLst/>
          </a:prstGeom>
          <a:noFill/>
        </p:spPr>
        <p:txBody>
          <a:bodyPr wrap="square" lIns="9144" rIns="9144" tIns="9144" bIns="9144">
            <a:spAutoFit/>
          </a:bodyPr>
          <a:lstStyle/>
          <a:p>
            <a:pPr>
              <a:lnSpc>
                <a:spcPct val="105000"/>
              </a:lnSpc>
              <a:spcBef>
                <a:spcPts val="0"/>
              </a:spcBef>
              <a:spcAft>
                <a:spcPts val="0"/>
              </a:spcAft>
              <a:defRPr sz="800" b="0" i="0">
                <a:solidFill>
                  <a:srgbClr val="657268"/>
                </a:solidFill>
                <a:latin typeface="Liberation Mono"/>
              </a:defRPr>
            </a:pPr>
            <a:r>
              <a:t>MOCK-UP</a:t>
            </a:r>
          </a:p>
        </p:txBody>
      </p:sp>
      <p:sp>
        <p:nvSpPr>
          <p:cNvPr id="22" name="TextBox 21"/>
          <p:cNvSpPr txBox="1"/>
          <p:nvPr/>
        </p:nvSpPr>
        <p:spPr>
          <a:xfrm>
            <a:off x="8001000" y="3337560"/>
            <a:ext cx="3255264" cy="502920"/>
          </a:xfrm>
          <a:prstGeom prst="rect">
            <a:avLst/>
          </a:prstGeom>
          <a:noFill/>
        </p:spPr>
        <p:txBody>
          <a:bodyPr wrap="square" lIns="9144" rIns="9144" tIns="9144" bIns="9144">
            <a:spAutoFit/>
          </a:bodyPr>
          <a:lstStyle/>
          <a:p>
            <a:pPr>
              <a:lnSpc>
                <a:spcPct val="105000"/>
              </a:lnSpc>
              <a:spcBef>
                <a:spcPts val="0"/>
              </a:spcBef>
              <a:spcAft>
                <a:spcPts val="0"/>
              </a:spcAft>
              <a:defRPr sz="2900" b="0" i="0">
                <a:solidFill>
                  <a:srgbClr val="23392F"/>
                </a:solidFill>
                <a:latin typeface="Liberation Serif"/>
              </a:defRPr>
            </a:pPr>
            <a:r>
              <a:t>Example stay</a:t>
            </a:r>
          </a:p>
        </p:txBody>
      </p:sp>
      <p:sp>
        <p:nvSpPr>
          <p:cNvPr id="23" name="TextBox 22"/>
          <p:cNvSpPr txBox="1"/>
          <p:nvPr/>
        </p:nvSpPr>
        <p:spPr>
          <a:xfrm>
            <a:off x="8019288" y="3986784"/>
            <a:ext cx="3191256" cy="713232"/>
          </a:xfrm>
          <a:prstGeom prst="rect">
            <a:avLst/>
          </a:prstGeom>
          <a:noFill/>
        </p:spPr>
        <p:txBody>
          <a:bodyPr wrap="square" lIns="9144" rIns="9144" tIns="9144" bIns="9144">
            <a:spAutoFit/>
          </a:bodyPr>
          <a:lstStyle/>
          <a:p>
            <a:pPr>
              <a:lnSpc>
                <a:spcPct val="105000"/>
              </a:lnSpc>
              <a:spcBef>
                <a:spcPts val="0"/>
              </a:spcBef>
              <a:spcAft>
                <a:spcPts val="0"/>
              </a:spcAft>
              <a:defRPr sz="2100" b="0" i="0">
                <a:solidFill>
                  <a:srgbClr val="657268"/>
                </a:solidFill>
                <a:latin typeface="Liberation Sans"/>
              </a:defRPr>
            </a:pPr>
            <a:r>
              <a:t>A hotel near your</a:t>
            </a:r>
          </a:p>
          <a:p>
            <a:pPr>
              <a:lnSpc>
                <a:spcPct val="105000"/>
              </a:lnSpc>
              <a:spcBef>
                <a:spcPts val="0"/>
              </a:spcBef>
              <a:spcAft>
                <a:spcPts val="0"/>
              </a:spcAft>
              <a:defRPr sz="2100" b="0" i="0">
                <a:solidFill>
                  <a:srgbClr val="657268"/>
                </a:solidFill>
                <a:latin typeface="Liberation Sans"/>
              </a:defRPr>
            </a:pPr>
            <a:r>
              <a:t>selected destination.</a:t>
            </a:r>
          </a:p>
        </p:txBody>
      </p:sp>
      <p:cxnSp>
        <p:nvCxnSpPr>
          <p:cNvPr id="24" name="Connector 23"/>
          <p:cNvCxnSpPr/>
          <p:nvPr/>
        </p:nvCxnSpPr>
        <p:spPr>
          <a:xfrm>
            <a:off x="8001000" y="4882896"/>
            <a:ext cx="3200400" cy="0"/>
          </a:xfrm>
          <a:prstGeom prst="line">
            <a:avLst/>
          </a:prstGeom>
          <a:ln w="12700">
            <a:solidFill>
              <a:srgbClr val="DADDCE"/>
            </a:solidFill>
          </a:ln>
        </p:spPr>
        <p:style>
          <a:lnRef idx="2">
            <a:schemeClr val="accent1"/>
          </a:lnRef>
          <a:fillRef idx="0">
            <a:schemeClr val="accent1"/>
          </a:fillRef>
          <a:effectRef idx="0">
            <a:schemeClr val="accent1"/>
          </a:effectRef>
          <a:fontRef idx="minor">
            <a:schemeClr val="tx1"/>
          </a:fontRef>
        </p:style>
      </p:cxnSp>
      <p:sp>
        <p:nvSpPr>
          <p:cNvPr id="25" name="TextBox 24"/>
          <p:cNvSpPr txBox="1"/>
          <p:nvPr/>
        </p:nvSpPr>
        <p:spPr>
          <a:xfrm>
            <a:off x="8028431" y="5038344"/>
            <a:ext cx="3154680" cy="320040"/>
          </a:xfrm>
          <a:prstGeom prst="rect">
            <a:avLst/>
          </a:prstGeom>
          <a:noFill/>
        </p:spPr>
        <p:txBody>
          <a:bodyPr wrap="square" lIns="9144" rIns="9144" tIns="9144" bIns="9144">
            <a:spAutoFit/>
          </a:bodyPr>
          <a:lstStyle/>
          <a:p>
            <a:pPr>
              <a:lnSpc>
                <a:spcPct val="105000"/>
              </a:lnSpc>
              <a:spcBef>
                <a:spcPts val="0"/>
              </a:spcBef>
              <a:spcAft>
                <a:spcPts val="0"/>
              </a:spcAft>
              <a:defRPr sz="1800" b="0" i="0">
                <a:solidFill>
                  <a:srgbClr val="264B3A"/>
                </a:solidFill>
                <a:latin typeface="Liberation Sans"/>
              </a:defRPr>
            </a:pPr>
            <a:r>
              <a:t>View hotel details  →</a:t>
            </a:r>
          </a:p>
        </p:txBody>
      </p:sp>
      <p:sp>
        <p:nvSpPr>
          <p:cNvPr id="26" name="Rectangle 25"/>
          <p:cNvSpPr/>
          <p:nvPr/>
        </p:nvSpPr>
        <p:spPr>
          <a:xfrm>
            <a:off x="685800" y="5605272"/>
            <a:ext cx="10844784" cy="457200"/>
          </a:xfrm>
          <a:prstGeom prst="rect">
            <a:avLst/>
          </a:prstGeom>
          <a:solidFill>
            <a:srgbClr val="E9EFD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859536" y="5696712"/>
            <a:ext cx="10469880" cy="292608"/>
          </a:xfrm>
          <a:prstGeom prst="rect">
            <a:avLst/>
          </a:prstGeom>
          <a:noFill/>
        </p:spPr>
        <p:txBody>
          <a:bodyPr wrap="square" lIns="9144" rIns="9144" tIns="9144" bIns="9144">
            <a:spAutoFit/>
          </a:bodyPr>
          <a:lstStyle/>
          <a:p>
            <a:pPr>
              <a:lnSpc>
                <a:spcPct val="105000"/>
              </a:lnSpc>
              <a:spcBef>
                <a:spcPts val="0"/>
              </a:spcBef>
              <a:spcAft>
                <a:spcPts val="0"/>
              </a:spcAft>
              <a:defRPr sz="1700" b="0" i="0">
                <a:solidFill>
                  <a:srgbClr val="264B3A"/>
                </a:solidFill>
                <a:latin typeface="Liberation Sans"/>
              </a:defRPr>
            </a:pPr>
            <a:r>
              <a:t>Lower concern is not a safety guarantee. Hotel quality needs separate checks.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4ED"/>
        </a:solidFill>
        <a:effectLst/>
      </p:bgPr>
    </p:bg>
    <p:spTree>
      <p:nvGrpSpPr>
        <p:cNvPr id="1" name=""/>
        <p:cNvGrpSpPr/>
        <p:nvPr/>
      </p:nvGrpSpPr>
      <p:grpSpPr/>
      <p:sp>
        <p:nvSpPr>
          <p:cNvPr id="2" name="Oval 1"/>
          <p:cNvSpPr/>
          <p:nvPr/>
        </p:nvSpPr>
        <p:spPr>
          <a:xfrm>
            <a:off x="548640" y="265176"/>
            <a:ext cx="256032" cy="256032"/>
          </a:xfrm>
          <a:prstGeom prst="ellipse">
            <a:avLst/>
          </a:prstGeom>
          <a:solidFill>
            <a:srgbClr val="F6F4ED"/>
          </a:solidFill>
          <a:ln w="20320">
            <a:solidFill>
              <a:srgbClr val="65726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Diamond 2"/>
          <p:cNvSpPr/>
          <p:nvPr/>
        </p:nvSpPr>
        <p:spPr>
          <a:xfrm rot="2100000">
            <a:off x="638251" y="318942"/>
            <a:ext cx="76809" cy="148498"/>
          </a:xfrm>
          <a:prstGeom prst="diamond">
            <a:avLst/>
          </a:prstGeom>
          <a:solidFill>
            <a:srgbClr val="65726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Oval 3"/>
          <p:cNvSpPr/>
          <p:nvPr/>
        </p:nvSpPr>
        <p:spPr>
          <a:xfrm>
            <a:off x="663854" y="380390"/>
            <a:ext cx="25603" cy="25603"/>
          </a:xfrm>
          <a:prstGeom prst="ellipse">
            <a:avLst/>
          </a:prstGeom>
          <a:solidFill>
            <a:srgbClr val="F6F4E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914400" y="292608"/>
            <a:ext cx="7955279" cy="237744"/>
          </a:xfrm>
          <a:prstGeom prst="rect">
            <a:avLst/>
          </a:prstGeom>
          <a:noFill/>
        </p:spPr>
        <p:txBody>
          <a:bodyPr wrap="square" lIns="9144" rIns="9144" tIns="9144" bIns="9144">
            <a:spAutoFit/>
          </a:bodyPr>
          <a:lstStyle/>
          <a:p>
            <a:pPr>
              <a:lnSpc>
                <a:spcPct val="105000"/>
              </a:lnSpc>
              <a:spcBef>
                <a:spcPts val="0"/>
              </a:spcBef>
              <a:spcAft>
                <a:spcPts val="0"/>
              </a:spcAft>
              <a:defRPr sz="1000" b="0" i="0">
                <a:solidFill>
                  <a:srgbClr val="657268"/>
                </a:solidFill>
                <a:latin typeface="Liberation Mono"/>
              </a:defRPr>
            </a:pPr>
            <a:r>
              <a:t>TRACERISK / THE REVENUE MODEL / PROPOSED</a:t>
            </a:r>
          </a:p>
        </p:txBody>
      </p:sp>
      <p:sp>
        <p:nvSpPr>
          <p:cNvPr id="6" name="TextBox 5"/>
          <p:cNvSpPr txBox="1"/>
          <p:nvPr/>
        </p:nvSpPr>
        <p:spPr>
          <a:xfrm>
            <a:off x="9774936" y="292608"/>
            <a:ext cx="1965960" cy="237744"/>
          </a:xfrm>
          <a:prstGeom prst="rect">
            <a:avLst/>
          </a:prstGeom>
          <a:noFill/>
        </p:spPr>
        <p:txBody>
          <a:bodyPr wrap="square" lIns="9144" rIns="9144" tIns="9144" bIns="9144">
            <a:spAutoFit/>
          </a:bodyPr>
          <a:lstStyle/>
          <a:p>
            <a:pPr>
              <a:lnSpc>
                <a:spcPct val="105000"/>
              </a:lnSpc>
              <a:spcBef>
                <a:spcPts val="0"/>
              </a:spcBef>
              <a:spcAft>
                <a:spcPts val="0"/>
              </a:spcAft>
              <a:defRPr sz="1000" b="0" i="0">
                <a:solidFill>
                  <a:srgbClr val="657268"/>
                </a:solidFill>
                <a:latin typeface="Liberation Mono"/>
              </a:defRPr>
            </a:pPr>
            <a:r>
              <a:t>AZINHACK 2026</a:t>
            </a:r>
          </a:p>
        </p:txBody>
      </p:sp>
      <p:cxnSp>
        <p:nvCxnSpPr>
          <p:cNvPr id="7" name="Connector 6"/>
          <p:cNvCxnSpPr/>
          <p:nvPr/>
        </p:nvCxnSpPr>
        <p:spPr>
          <a:xfrm>
            <a:off x="548640" y="6345936"/>
            <a:ext cx="11091672" cy="0"/>
          </a:xfrm>
          <a:prstGeom prst="line">
            <a:avLst/>
          </a:prstGeom>
          <a:ln w="10160">
            <a:solidFill>
              <a:srgbClr val="DADDCE"/>
            </a:solidFill>
          </a:ln>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85216" y="6492240"/>
            <a:ext cx="7315200" cy="237744"/>
          </a:xfrm>
          <a:prstGeom prst="rect">
            <a:avLst/>
          </a:prstGeom>
          <a:noFill/>
        </p:spPr>
        <p:txBody>
          <a:bodyPr wrap="square" lIns="9144" rIns="9144" tIns="9144" bIns="9144">
            <a:spAutoFit/>
          </a:bodyPr>
          <a:lstStyle/>
          <a:p>
            <a:pPr>
              <a:lnSpc>
                <a:spcPct val="105000"/>
              </a:lnSpc>
              <a:spcBef>
                <a:spcPts val="0"/>
              </a:spcBef>
              <a:spcAft>
                <a:spcPts val="0"/>
              </a:spcAft>
              <a:defRPr sz="800" b="0" i="0">
                <a:solidFill>
                  <a:srgbClr val="657268"/>
                </a:solidFill>
                <a:latin typeface="Liberation Mono"/>
              </a:defRPr>
            </a:pPr>
            <a:r>
              <a:t>THE TRAVEL FIELD GUIDE FOR INDIA</a:t>
            </a:r>
          </a:p>
        </p:txBody>
      </p:sp>
      <p:sp>
        <p:nvSpPr>
          <p:cNvPr id="9" name="TextBox 8"/>
          <p:cNvSpPr txBox="1"/>
          <p:nvPr/>
        </p:nvSpPr>
        <p:spPr>
          <a:xfrm>
            <a:off x="10963656" y="6492240"/>
            <a:ext cx="731520" cy="237744"/>
          </a:xfrm>
          <a:prstGeom prst="rect">
            <a:avLst/>
          </a:prstGeom>
          <a:noFill/>
        </p:spPr>
        <p:txBody>
          <a:bodyPr wrap="square" lIns="9144" rIns="9144" tIns="9144" bIns="9144">
            <a:spAutoFit/>
          </a:bodyPr>
          <a:lstStyle/>
          <a:p>
            <a:pPr>
              <a:lnSpc>
                <a:spcPct val="105000"/>
              </a:lnSpc>
              <a:spcBef>
                <a:spcPts val="0"/>
              </a:spcBef>
              <a:spcAft>
                <a:spcPts val="0"/>
              </a:spcAft>
              <a:defRPr sz="800" b="0" i="0">
                <a:solidFill>
                  <a:srgbClr val="657268"/>
                </a:solidFill>
                <a:latin typeface="Liberation Mono"/>
              </a:defRPr>
            </a:pPr>
            <a:r>
              <a:t>10 / 12</a:t>
            </a:r>
          </a:p>
        </p:txBody>
      </p:sp>
      <p:sp>
        <p:nvSpPr>
          <p:cNvPr id="10" name="TextBox 9"/>
          <p:cNvSpPr txBox="1"/>
          <p:nvPr/>
        </p:nvSpPr>
        <p:spPr>
          <a:xfrm>
            <a:off x="594360" y="914400"/>
            <a:ext cx="11018520" cy="685800"/>
          </a:xfrm>
          <a:prstGeom prst="rect">
            <a:avLst/>
          </a:prstGeom>
          <a:noFill/>
        </p:spPr>
        <p:txBody>
          <a:bodyPr wrap="square" lIns="9144" rIns="9144" tIns="9144" bIns="9144">
            <a:spAutoFit/>
          </a:bodyPr>
          <a:lstStyle/>
          <a:p>
            <a:pPr>
              <a:lnSpc>
                <a:spcPct val="105000"/>
              </a:lnSpc>
              <a:spcBef>
                <a:spcPts val="0"/>
              </a:spcBef>
              <a:spcAft>
                <a:spcPts val="0"/>
              </a:spcAft>
              <a:defRPr sz="3800" b="0" i="0">
                <a:solidFill>
                  <a:srgbClr val="23392F"/>
                </a:solidFill>
                <a:latin typeface="Liberation Serif"/>
              </a:defRPr>
            </a:pPr>
            <a:r>
              <a:t>Start with a simple hotel subscription.</a:t>
            </a:r>
          </a:p>
        </p:txBody>
      </p:sp>
      <p:sp>
        <p:nvSpPr>
          <p:cNvPr id="11" name="TextBox 10"/>
          <p:cNvSpPr txBox="1"/>
          <p:nvPr/>
        </p:nvSpPr>
        <p:spPr>
          <a:xfrm>
            <a:off x="676656" y="1965960"/>
            <a:ext cx="10789920" cy="237744"/>
          </a:xfrm>
          <a:prstGeom prst="rect">
            <a:avLst/>
          </a:prstGeom>
          <a:noFill/>
        </p:spPr>
        <p:txBody>
          <a:bodyPr wrap="square" lIns="9144" rIns="9144" tIns="9144" bIns="9144">
            <a:spAutoFit/>
          </a:bodyPr>
          <a:lstStyle/>
          <a:p>
            <a:pPr>
              <a:lnSpc>
                <a:spcPct val="105000"/>
              </a:lnSpc>
              <a:spcBef>
                <a:spcPts val="0"/>
              </a:spcBef>
              <a:spcAft>
                <a:spcPts val="0"/>
              </a:spcAft>
              <a:defRPr sz="1100" b="0" i="0">
                <a:solidFill>
                  <a:srgbClr val="A8472E"/>
                </a:solidFill>
                <a:latin typeface="Liberation Mono"/>
              </a:defRPr>
            </a:pPr>
            <a:r>
              <a:t>ILLUSTRATIVE PILOT PRICING / NO CURRENT REVENUE</a:t>
            </a:r>
          </a:p>
        </p:txBody>
      </p:sp>
      <p:sp>
        <p:nvSpPr>
          <p:cNvPr id="12" name="Rectangle 11"/>
          <p:cNvSpPr/>
          <p:nvPr/>
        </p:nvSpPr>
        <p:spPr>
          <a:xfrm>
            <a:off x="676656" y="2523744"/>
            <a:ext cx="6510528" cy="2331720"/>
          </a:xfrm>
          <a:prstGeom prst="rect">
            <a:avLst/>
          </a:prstGeom>
          <a:solidFill>
            <a:srgbClr val="264B3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969264" y="2862072"/>
            <a:ext cx="5943600" cy="557784"/>
          </a:xfrm>
          <a:prstGeom prst="rect">
            <a:avLst/>
          </a:prstGeom>
          <a:noFill/>
        </p:spPr>
        <p:txBody>
          <a:bodyPr wrap="square" lIns="9144" rIns="9144" tIns="9144" bIns="9144">
            <a:spAutoFit/>
          </a:bodyPr>
          <a:lstStyle/>
          <a:p>
            <a:pPr>
              <a:lnSpc>
                <a:spcPct val="105000"/>
              </a:lnSpc>
              <a:spcBef>
                <a:spcPts val="0"/>
              </a:spcBef>
              <a:spcAft>
                <a:spcPts val="0"/>
              </a:spcAft>
              <a:defRPr sz="2900" b="0" i="0">
                <a:solidFill>
                  <a:srgbClr val="F6F4ED"/>
                </a:solidFill>
                <a:latin typeface="Liberation Serif"/>
              </a:defRPr>
            </a:pPr>
            <a:r>
              <a:t>10 hotels × ₹1,000 / month</a:t>
            </a:r>
          </a:p>
        </p:txBody>
      </p:sp>
      <p:sp>
        <p:nvSpPr>
          <p:cNvPr id="14" name="TextBox 13"/>
          <p:cNvSpPr txBox="1"/>
          <p:nvPr/>
        </p:nvSpPr>
        <p:spPr>
          <a:xfrm>
            <a:off x="950976" y="3584448"/>
            <a:ext cx="4206240" cy="777240"/>
          </a:xfrm>
          <a:prstGeom prst="rect">
            <a:avLst/>
          </a:prstGeom>
          <a:noFill/>
        </p:spPr>
        <p:txBody>
          <a:bodyPr wrap="square" lIns="9144" rIns="9144" tIns="9144" bIns="9144">
            <a:spAutoFit/>
          </a:bodyPr>
          <a:lstStyle/>
          <a:p>
            <a:pPr>
              <a:lnSpc>
                <a:spcPct val="105000"/>
              </a:lnSpc>
              <a:spcBef>
                <a:spcPts val="0"/>
              </a:spcBef>
              <a:spcAft>
                <a:spcPts val="0"/>
              </a:spcAft>
              <a:defRPr sz="5400" b="0" i="0">
                <a:solidFill>
                  <a:srgbClr val="F6F4ED"/>
                </a:solidFill>
                <a:latin typeface="Liberation Serif"/>
              </a:defRPr>
            </a:pPr>
            <a:r>
              <a:t>₹10,000</a:t>
            </a:r>
          </a:p>
        </p:txBody>
      </p:sp>
      <p:sp>
        <p:nvSpPr>
          <p:cNvPr id="15" name="TextBox 14"/>
          <p:cNvSpPr txBox="1"/>
          <p:nvPr/>
        </p:nvSpPr>
        <p:spPr>
          <a:xfrm>
            <a:off x="4727448" y="3831336"/>
            <a:ext cx="2121408" cy="676656"/>
          </a:xfrm>
          <a:prstGeom prst="rect">
            <a:avLst/>
          </a:prstGeom>
          <a:noFill/>
        </p:spPr>
        <p:txBody>
          <a:bodyPr wrap="square" lIns="9144" rIns="9144" tIns="9144" bIns="9144">
            <a:spAutoFit/>
          </a:bodyPr>
          <a:lstStyle/>
          <a:p>
            <a:pPr>
              <a:lnSpc>
                <a:spcPct val="105000"/>
              </a:lnSpc>
              <a:spcBef>
                <a:spcPts val="0"/>
              </a:spcBef>
              <a:spcAft>
                <a:spcPts val="0"/>
              </a:spcAft>
              <a:defRPr sz="1900" b="0" i="0">
                <a:solidFill>
                  <a:srgbClr val="C6D8AB"/>
                </a:solidFill>
                <a:latin typeface="Liberation Sans"/>
              </a:defRPr>
            </a:pPr>
            <a:r>
              <a:t>gross revenue / month</a:t>
            </a:r>
          </a:p>
        </p:txBody>
      </p:sp>
      <p:sp>
        <p:nvSpPr>
          <p:cNvPr id="16" name="TextBox 15"/>
          <p:cNvSpPr txBox="1"/>
          <p:nvPr/>
        </p:nvSpPr>
        <p:spPr>
          <a:xfrm>
            <a:off x="7818120" y="2633472"/>
            <a:ext cx="3383280" cy="237744"/>
          </a:xfrm>
          <a:prstGeom prst="rect">
            <a:avLst/>
          </a:prstGeom>
          <a:noFill/>
        </p:spPr>
        <p:txBody>
          <a:bodyPr wrap="square" lIns="9144" rIns="9144" tIns="9144" bIns="9144">
            <a:spAutoFit/>
          </a:bodyPr>
          <a:lstStyle/>
          <a:p>
            <a:pPr>
              <a:lnSpc>
                <a:spcPct val="105000"/>
              </a:lnSpc>
              <a:spcBef>
                <a:spcPts val="0"/>
              </a:spcBef>
              <a:spcAft>
                <a:spcPts val="0"/>
              </a:spcAft>
              <a:defRPr sz="1100" b="0" i="0">
                <a:solidFill>
                  <a:srgbClr val="A8472E"/>
                </a:solidFill>
                <a:latin typeface="Liberation Mono"/>
              </a:defRPr>
            </a:pPr>
            <a:r>
              <a:t>FIRST</a:t>
            </a:r>
          </a:p>
        </p:txBody>
      </p:sp>
      <p:sp>
        <p:nvSpPr>
          <p:cNvPr id="17" name="TextBox 16"/>
          <p:cNvSpPr txBox="1"/>
          <p:nvPr/>
        </p:nvSpPr>
        <p:spPr>
          <a:xfrm>
            <a:off x="7818120" y="3017520"/>
            <a:ext cx="3602736" cy="777240"/>
          </a:xfrm>
          <a:prstGeom prst="rect">
            <a:avLst/>
          </a:prstGeom>
          <a:noFill/>
        </p:spPr>
        <p:txBody>
          <a:bodyPr wrap="square" lIns="9144" rIns="9144" tIns="9144" bIns="9144">
            <a:spAutoFit/>
          </a:bodyPr>
          <a:lstStyle/>
          <a:p>
            <a:pPr>
              <a:lnSpc>
                <a:spcPct val="105000"/>
              </a:lnSpc>
              <a:spcBef>
                <a:spcPts val="0"/>
              </a:spcBef>
              <a:spcAft>
                <a:spcPts val="0"/>
              </a:spcAft>
              <a:defRPr sz="2600" b="0" i="0">
                <a:solidFill>
                  <a:srgbClr val="23392F"/>
                </a:solidFill>
                <a:latin typeface="Liberation Serif"/>
              </a:defRPr>
            </a:pPr>
            <a:r>
              <a:t>Monthly sponsored placement</a:t>
            </a:r>
          </a:p>
        </p:txBody>
      </p:sp>
      <p:sp>
        <p:nvSpPr>
          <p:cNvPr id="18" name="TextBox 17"/>
          <p:cNvSpPr txBox="1"/>
          <p:nvPr/>
        </p:nvSpPr>
        <p:spPr>
          <a:xfrm>
            <a:off x="7818120" y="4069080"/>
            <a:ext cx="3474720" cy="237744"/>
          </a:xfrm>
          <a:prstGeom prst="rect">
            <a:avLst/>
          </a:prstGeom>
          <a:noFill/>
        </p:spPr>
        <p:txBody>
          <a:bodyPr wrap="square" lIns="9144" rIns="9144" tIns="9144" bIns="9144">
            <a:spAutoFit/>
          </a:bodyPr>
          <a:lstStyle/>
          <a:p>
            <a:pPr>
              <a:lnSpc>
                <a:spcPct val="105000"/>
              </a:lnSpc>
              <a:spcBef>
                <a:spcPts val="0"/>
              </a:spcBef>
              <a:spcAft>
                <a:spcPts val="0"/>
              </a:spcAft>
              <a:defRPr sz="1100" b="0" i="0">
                <a:solidFill>
                  <a:srgbClr val="A8472E"/>
                </a:solidFill>
                <a:latin typeface="Liberation Mono"/>
              </a:defRPr>
            </a:pPr>
            <a:r>
              <a:t>LATER / OPTIONAL</a:t>
            </a:r>
          </a:p>
        </p:txBody>
      </p:sp>
      <p:sp>
        <p:nvSpPr>
          <p:cNvPr id="19" name="TextBox 18"/>
          <p:cNvSpPr txBox="1"/>
          <p:nvPr/>
        </p:nvSpPr>
        <p:spPr>
          <a:xfrm>
            <a:off x="7818120" y="4434840"/>
            <a:ext cx="3593592" cy="786384"/>
          </a:xfrm>
          <a:prstGeom prst="rect">
            <a:avLst/>
          </a:prstGeom>
          <a:noFill/>
        </p:spPr>
        <p:txBody>
          <a:bodyPr wrap="square" lIns="9144" rIns="9144" tIns="9144" bIns="9144">
            <a:spAutoFit/>
          </a:bodyPr>
          <a:lstStyle/>
          <a:p>
            <a:pPr>
              <a:lnSpc>
                <a:spcPct val="105000"/>
              </a:lnSpc>
              <a:spcBef>
                <a:spcPts val="0"/>
              </a:spcBef>
              <a:spcAft>
                <a:spcPts val="0"/>
              </a:spcAft>
              <a:defRPr sz="2200" b="0" i="0">
                <a:solidFill>
                  <a:srgbClr val="23392F"/>
                </a:solidFill>
                <a:latin typeface="Liberation Sans"/>
              </a:defRPr>
            </a:pPr>
            <a:r>
              <a:t>Booking-referral fees,</a:t>
            </a:r>
          </a:p>
          <a:p>
            <a:pPr>
              <a:lnSpc>
                <a:spcPct val="105000"/>
              </a:lnSpc>
              <a:spcBef>
                <a:spcPts val="0"/>
              </a:spcBef>
              <a:spcAft>
                <a:spcPts val="0"/>
              </a:spcAft>
              <a:defRPr sz="2200" b="0" i="0">
                <a:solidFill>
                  <a:srgbClr val="23392F"/>
                </a:solidFill>
                <a:latin typeface="Liberation Sans"/>
              </a:defRPr>
            </a:pPr>
            <a:r>
              <a:t>if partners agree</a:t>
            </a:r>
          </a:p>
        </p:txBody>
      </p:sp>
      <p:sp>
        <p:nvSpPr>
          <p:cNvPr id="20" name="TextBox 19"/>
          <p:cNvSpPr txBox="1"/>
          <p:nvPr/>
        </p:nvSpPr>
        <p:spPr>
          <a:xfrm>
            <a:off x="694944" y="5321808"/>
            <a:ext cx="10780776" cy="548640"/>
          </a:xfrm>
          <a:prstGeom prst="rect">
            <a:avLst/>
          </a:prstGeom>
          <a:noFill/>
        </p:spPr>
        <p:txBody>
          <a:bodyPr wrap="square" lIns="9144" rIns="9144" tIns="9144" bIns="9144">
            <a:spAutoFit/>
          </a:bodyPr>
          <a:lstStyle/>
          <a:p>
            <a:pPr>
              <a:lnSpc>
                <a:spcPct val="105000"/>
              </a:lnSpc>
              <a:spcBef>
                <a:spcPts val="0"/>
              </a:spcBef>
              <a:spcAft>
                <a:spcPts val="0"/>
              </a:spcAft>
              <a:defRPr sz="2100" b="0" i="0">
                <a:solidFill>
                  <a:srgbClr val="23392F"/>
                </a:solidFill>
                <a:latin typeface="Liberation Sans"/>
              </a:defRPr>
            </a:pPr>
            <a:r>
              <a:t>Pilot questions: will hotels pay, will travellers click, and what does each scan cost?</a:t>
            </a:r>
          </a:p>
        </p:txBody>
      </p:sp>
      <p:sp>
        <p:nvSpPr>
          <p:cNvPr id="21" name="TextBox 20"/>
          <p:cNvSpPr txBox="1"/>
          <p:nvPr/>
        </p:nvSpPr>
        <p:spPr>
          <a:xfrm>
            <a:off x="704088" y="5943600"/>
            <a:ext cx="10744200" cy="246888"/>
          </a:xfrm>
          <a:prstGeom prst="rect">
            <a:avLst/>
          </a:prstGeom>
          <a:noFill/>
        </p:spPr>
        <p:txBody>
          <a:bodyPr wrap="square" lIns="9144" rIns="9144" tIns="9144" bIns="9144">
            <a:spAutoFit/>
          </a:bodyPr>
          <a:lstStyle/>
          <a:p>
            <a:pPr>
              <a:lnSpc>
                <a:spcPct val="105000"/>
              </a:lnSpc>
              <a:spcBef>
                <a:spcPts val="0"/>
              </a:spcBef>
              <a:spcAft>
                <a:spcPts val="0"/>
              </a:spcAft>
              <a:defRPr sz="1300" b="0" i="0">
                <a:solidFill>
                  <a:srgbClr val="657268"/>
                </a:solidFill>
                <a:latin typeface="Liberation Sans"/>
              </a:defRPr>
            </a:pPr>
            <a:r>
              <a:t>Hypothetical math. API, hosting, marketing, fees and taxes reduce net income.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4ED"/>
        </a:solidFill>
        <a:effectLst/>
      </p:bgPr>
    </p:bg>
    <p:spTree>
      <p:nvGrpSpPr>
        <p:cNvPr id="1" name=""/>
        <p:cNvGrpSpPr/>
        <p:nvPr/>
      </p:nvGrpSpPr>
      <p:grpSpPr/>
      <p:sp>
        <p:nvSpPr>
          <p:cNvPr id="2" name="Oval 1"/>
          <p:cNvSpPr/>
          <p:nvPr/>
        </p:nvSpPr>
        <p:spPr>
          <a:xfrm>
            <a:off x="548640" y="265176"/>
            <a:ext cx="256032" cy="256032"/>
          </a:xfrm>
          <a:prstGeom prst="ellipse">
            <a:avLst/>
          </a:prstGeom>
          <a:solidFill>
            <a:srgbClr val="F6F4ED"/>
          </a:solidFill>
          <a:ln w="20320">
            <a:solidFill>
              <a:srgbClr val="65726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Diamond 2"/>
          <p:cNvSpPr/>
          <p:nvPr/>
        </p:nvSpPr>
        <p:spPr>
          <a:xfrm rot="2100000">
            <a:off x="638251" y="318942"/>
            <a:ext cx="76809" cy="148498"/>
          </a:xfrm>
          <a:prstGeom prst="diamond">
            <a:avLst/>
          </a:prstGeom>
          <a:solidFill>
            <a:srgbClr val="65726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Oval 3"/>
          <p:cNvSpPr/>
          <p:nvPr/>
        </p:nvSpPr>
        <p:spPr>
          <a:xfrm>
            <a:off x="663854" y="380390"/>
            <a:ext cx="25603" cy="25603"/>
          </a:xfrm>
          <a:prstGeom prst="ellipse">
            <a:avLst/>
          </a:prstGeom>
          <a:solidFill>
            <a:srgbClr val="F6F4E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914400" y="292608"/>
            <a:ext cx="7955279" cy="237744"/>
          </a:xfrm>
          <a:prstGeom prst="rect">
            <a:avLst/>
          </a:prstGeom>
          <a:noFill/>
        </p:spPr>
        <p:txBody>
          <a:bodyPr wrap="square" lIns="9144" rIns="9144" tIns="9144" bIns="9144">
            <a:spAutoFit/>
          </a:bodyPr>
          <a:lstStyle/>
          <a:p>
            <a:pPr>
              <a:lnSpc>
                <a:spcPct val="105000"/>
              </a:lnSpc>
              <a:spcBef>
                <a:spcPts val="0"/>
              </a:spcBef>
              <a:spcAft>
                <a:spcPts val="0"/>
              </a:spcAft>
              <a:defRPr sz="1000" b="0" i="0">
                <a:solidFill>
                  <a:srgbClr val="657268"/>
                </a:solidFill>
                <a:latin typeface="Liberation Mono"/>
              </a:defRPr>
            </a:pPr>
            <a:r>
              <a:t>TRACERISK / THE NEXT CHAPTER</a:t>
            </a:r>
          </a:p>
        </p:txBody>
      </p:sp>
      <p:sp>
        <p:nvSpPr>
          <p:cNvPr id="6" name="TextBox 5"/>
          <p:cNvSpPr txBox="1"/>
          <p:nvPr/>
        </p:nvSpPr>
        <p:spPr>
          <a:xfrm>
            <a:off x="9774936" y="292608"/>
            <a:ext cx="1965960" cy="237744"/>
          </a:xfrm>
          <a:prstGeom prst="rect">
            <a:avLst/>
          </a:prstGeom>
          <a:noFill/>
        </p:spPr>
        <p:txBody>
          <a:bodyPr wrap="square" lIns="9144" rIns="9144" tIns="9144" bIns="9144">
            <a:spAutoFit/>
          </a:bodyPr>
          <a:lstStyle/>
          <a:p>
            <a:pPr>
              <a:lnSpc>
                <a:spcPct val="105000"/>
              </a:lnSpc>
              <a:spcBef>
                <a:spcPts val="0"/>
              </a:spcBef>
              <a:spcAft>
                <a:spcPts val="0"/>
              </a:spcAft>
              <a:defRPr sz="1000" b="0" i="0">
                <a:solidFill>
                  <a:srgbClr val="657268"/>
                </a:solidFill>
                <a:latin typeface="Liberation Mono"/>
              </a:defRPr>
            </a:pPr>
            <a:r>
              <a:t>AZINHACK 2026</a:t>
            </a:r>
          </a:p>
        </p:txBody>
      </p:sp>
      <p:cxnSp>
        <p:nvCxnSpPr>
          <p:cNvPr id="7" name="Connector 6"/>
          <p:cNvCxnSpPr/>
          <p:nvPr/>
        </p:nvCxnSpPr>
        <p:spPr>
          <a:xfrm>
            <a:off x="548640" y="6345936"/>
            <a:ext cx="11091672" cy="0"/>
          </a:xfrm>
          <a:prstGeom prst="line">
            <a:avLst/>
          </a:prstGeom>
          <a:ln w="10160">
            <a:solidFill>
              <a:srgbClr val="DADDCE"/>
            </a:solidFill>
          </a:ln>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85216" y="6492240"/>
            <a:ext cx="7315200" cy="237744"/>
          </a:xfrm>
          <a:prstGeom prst="rect">
            <a:avLst/>
          </a:prstGeom>
          <a:noFill/>
        </p:spPr>
        <p:txBody>
          <a:bodyPr wrap="square" lIns="9144" rIns="9144" tIns="9144" bIns="9144">
            <a:spAutoFit/>
          </a:bodyPr>
          <a:lstStyle/>
          <a:p>
            <a:pPr>
              <a:lnSpc>
                <a:spcPct val="105000"/>
              </a:lnSpc>
              <a:spcBef>
                <a:spcPts val="0"/>
              </a:spcBef>
              <a:spcAft>
                <a:spcPts val="0"/>
              </a:spcAft>
              <a:defRPr sz="800" b="0" i="0">
                <a:solidFill>
                  <a:srgbClr val="657268"/>
                </a:solidFill>
                <a:latin typeface="Liberation Mono"/>
              </a:defRPr>
            </a:pPr>
            <a:r>
              <a:t>THE TRAVEL FIELD GUIDE FOR INDIA</a:t>
            </a:r>
          </a:p>
        </p:txBody>
      </p:sp>
      <p:sp>
        <p:nvSpPr>
          <p:cNvPr id="9" name="TextBox 8"/>
          <p:cNvSpPr txBox="1"/>
          <p:nvPr/>
        </p:nvSpPr>
        <p:spPr>
          <a:xfrm>
            <a:off x="10963656" y="6492240"/>
            <a:ext cx="731520" cy="237744"/>
          </a:xfrm>
          <a:prstGeom prst="rect">
            <a:avLst/>
          </a:prstGeom>
          <a:noFill/>
        </p:spPr>
        <p:txBody>
          <a:bodyPr wrap="square" lIns="9144" rIns="9144" tIns="9144" bIns="9144">
            <a:spAutoFit/>
          </a:bodyPr>
          <a:lstStyle/>
          <a:p>
            <a:pPr>
              <a:lnSpc>
                <a:spcPct val="105000"/>
              </a:lnSpc>
              <a:spcBef>
                <a:spcPts val="0"/>
              </a:spcBef>
              <a:spcAft>
                <a:spcPts val="0"/>
              </a:spcAft>
              <a:defRPr sz="800" b="0" i="0">
                <a:solidFill>
                  <a:srgbClr val="657268"/>
                </a:solidFill>
                <a:latin typeface="Liberation Mono"/>
              </a:defRPr>
            </a:pPr>
            <a:r>
              <a:t>11 / 12</a:t>
            </a:r>
          </a:p>
        </p:txBody>
      </p:sp>
      <p:sp>
        <p:nvSpPr>
          <p:cNvPr id="10" name="TextBox 9"/>
          <p:cNvSpPr txBox="1"/>
          <p:nvPr/>
        </p:nvSpPr>
        <p:spPr>
          <a:xfrm>
            <a:off x="594360" y="914400"/>
            <a:ext cx="11018520" cy="685800"/>
          </a:xfrm>
          <a:prstGeom prst="rect">
            <a:avLst/>
          </a:prstGeom>
          <a:noFill/>
        </p:spPr>
        <p:txBody>
          <a:bodyPr wrap="square" lIns="9144" rIns="9144" tIns="9144" bIns="9144">
            <a:spAutoFit/>
          </a:bodyPr>
          <a:lstStyle/>
          <a:p>
            <a:pPr>
              <a:lnSpc>
                <a:spcPct val="105000"/>
              </a:lnSpc>
              <a:spcBef>
                <a:spcPts val="0"/>
              </a:spcBef>
              <a:spcAft>
                <a:spcPts val="0"/>
              </a:spcAft>
              <a:defRPr sz="3800" b="0" i="0">
                <a:solidFill>
                  <a:srgbClr val="23392F"/>
                </a:solidFill>
                <a:latin typeface="Liberation Serif"/>
              </a:defRPr>
            </a:pPr>
            <a:r>
              <a:t>A focused path from prototype to pilot.</a:t>
            </a:r>
          </a:p>
        </p:txBody>
      </p:sp>
      <p:cxnSp>
        <p:nvCxnSpPr>
          <p:cNvPr id="11" name="Connector 10"/>
          <p:cNvCxnSpPr/>
          <p:nvPr/>
        </p:nvCxnSpPr>
        <p:spPr>
          <a:xfrm>
            <a:off x="667512" y="2441448"/>
            <a:ext cx="3401568" cy="0"/>
          </a:xfrm>
          <a:prstGeom prst="line">
            <a:avLst/>
          </a:prstGeom>
          <a:ln w="25400">
            <a:solidFill>
              <a:srgbClr val="264B3A"/>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67512" y="2706624"/>
            <a:ext cx="3383280" cy="237744"/>
          </a:xfrm>
          <a:prstGeom prst="rect">
            <a:avLst/>
          </a:prstGeom>
          <a:noFill/>
        </p:spPr>
        <p:txBody>
          <a:bodyPr wrap="square" lIns="9144" rIns="9144" tIns="9144" bIns="9144">
            <a:spAutoFit/>
          </a:bodyPr>
          <a:lstStyle/>
          <a:p>
            <a:pPr>
              <a:lnSpc>
                <a:spcPct val="105000"/>
              </a:lnSpc>
              <a:spcBef>
                <a:spcPts val="0"/>
              </a:spcBef>
              <a:spcAft>
                <a:spcPts val="0"/>
              </a:spcAft>
              <a:defRPr sz="1000" b="0" i="0">
                <a:solidFill>
                  <a:srgbClr val="A8472E"/>
                </a:solidFill>
                <a:latin typeface="Liberation Mono"/>
              </a:defRPr>
            </a:pPr>
            <a:r>
              <a:t>01 / LEARN</a:t>
            </a:r>
          </a:p>
        </p:txBody>
      </p:sp>
      <p:sp>
        <p:nvSpPr>
          <p:cNvPr id="13" name="TextBox 12"/>
          <p:cNvSpPr txBox="1"/>
          <p:nvPr/>
        </p:nvSpPr>
        <p:spPr>
          <a:xfrm>
            <a:off x="667512" y="3182112"/>
            <a:ext cx="3401568" cy="822960"/>
          </a:xfrm>
          <a:prstGeom prst="rect">
            <a:avLst/>
          </a:prstGeom>
          <a:noFill/>
        </p:spPr>
        <p:txBody>
          <a:bodyPr wrap="square" lIns="9144" rIns="9144" tIns="9144" bIns="9144">
            <a:spAutoFit/>
          </a:bodyPr>
          <a:lstStyle/>
          <a:p>
            <a:pPr>
              <a:lnSpc>
                <a:spcPct val="105000"/>
              </a:lnSpc>
              <a:spcBef>
                <a:spcPts val="0"/>
              </a:spcBef>
              <a:spcAft>
                <a:spcPts val="0"/>
              </a:spcAft>
              <a:defRPr sz="2700" b="0" i="0">
                <a:solidFill>
                  <a:srgbClr val="23392F"/>
                </a:solidFill>
                <a:latin typeface="Liberation Serif"/>
              </a:defRPr>
            </a:pPr>
            <a:r>
              <a:t>Test with travellers</a:t>
            </a:r>
          </a:p>
        </p:txBody>
      </p:sp>
      <p:sp>
        <p:nvSpPr>
          <p:cNvPr id="14" name="TextBox 13"/>
          <p:cNvSpPr txBox="1"/>
          <p:nvPr/>
        </p:nvSpPr>
        <p:spPr>
          <a:xfrm>
            <a:off x="667512" y="4023360"/>
            <a:ext cx="3419856" cy="1508760"/>
          </a:xfrm>
          <a:prstGeom prst="rect">
            <a:avLst/>
          </a:prstGeom>
          <a:noFill/>
        </p:spPr>
        <p:txBody>
          <a:bodyPr wrap="square" lIns="9144" rIns="9144" tIns="9144" bIns="9144">
            <a:spAutoFit/>
          </a:bodyPr>
          <a:lstStyle/>
          <a:p>
            <a:pPr>
              <a:lnSpc>
                <a:spcPct val="105000"/>
              </a:lnSpc>
              <a:spcBef>
                <a:spcPts val="0"/>
              </a:spcBef>
              <a:spcAft>
                <a:spcPts val="0"/>
              </a:spcAft>
              <a:defRPr sz="1900" b="0" i="0">
                <a:solidFill>
                  <a:srgbClr val="657268"/>
                </a:solidFill>
                <a:latin typeface="Liberation Sans"/>
              </a:defRPr>
            </a:pPr>
            <a:r>
              <a:t>Test with travellers.</a:t>
            </a:r>
          </a:p>
          <a:p>
            <a:pPr>
              <a:lnSpc>
                <a:spcPct val="105000"/>
              </a:lnSpc>
              <a:spcBef>
                <a:spcPts val="0"/>
              </a:spcBef>
              <a:spcAft>
                <a:spcPts val="0"/>
              </a:spcAft>
              <a:defRPr sz="1900" b="0" i="0">
                <a:solidFill>
                  <a:srgbClr val="657268"/>
                </a:solidFill>
                <a:latin typeface="Liberation Sans"/>
              </a:defRPr>
            </a:pPr>
            <a:r>
              <a:t>Improve clarity.</a:t>
            </a:r>
          </a:p>
          <a:p>
            <a:pPr>
              <a:lnSpc>
                <a:spcPct val="105000"/>
              </a:lnSpc>
              <a:spcBef>
                <a:spcPts val="0"/>
              </a:spcBef>
              <a:spcAft>
                <a:spcPts val="0"/>
              </a:spcAft>
              <a:defRPr sz="1900" b="0" i="0">
                <a:solidFill>
                  <a:srgbClr val="657268"/>
                </a:solidFill>
                <a:latin typeface="Liberation Sans"/>
              </a:defRPr>
            </a:pPr>
            <a:r>
              <a:t>Measure usefulness.</a:t>
            </a:r>
          </a:p>
        </p:txBody>
      </p:sp>
      <p:cxnSp>
        <p:nvCxnSpPr>
          <p:cNvPr id="15" name="Connector 14"/>
          <p:cNvCxnSpPr/>
          <p:nvPr/>
        </p:nvCxnSpPr>
        <p:spPr>
          <a:xfrm>
            <a:off x="4443983" y="2441448"/>
            <a:ext cx="3401569" cy="0"/>
          </a:xfrm>
          <a:prstGeom prst="line">
            <a:avLst/>
          </a:prstGeom>
          <a:ln w="25400">
            <a:solidFill>
              <a:srgbClr val="264B3A"/>
            </a:solidFill>
          </a:ln>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4443983" y="2706624"/>
            <a:ext cx="3383280" cy="237744"/>
          </a:xfrm>
          <a:prstGeom prst="rect">
            <a:avLst/>
          </a:prstGeom>
          <a:noFill/>
        </p:spPr>
        <p:txBody>
          <a:bodyPr wrap="square" lIns="9144" rIns="9144" tIns="9144" bIns="9144">
            <a:spAutoFit/>
          </a:bodyPr>
          <a:lstStyle/>
          <a:p>
            <a:pPr>
              <a:lnSpc>
                <a:spcPct val="105000"/>
              </a:lnSpc>
              <a:spcBef>
                <a:spcPts val="0"/>
              </a:spcBef>
              <a:spcAft>
                <a:spcPts val="0"/>
              </a:spcAft>
              <a:defRPr sz="1000" b="0" i="0">
                <a:solidFill>
                  <a:srgbClr val="A8472E"/>
                </a:solidFill>
                <a:latin typeface="Liberation Mono"/>
              </a:defRPr>
            </a:pPr>
            <a:r>
              <a:t>02 / PILOT</a:t>
            </a:r>
          </a:p>
        </p:txBody>
      </p:sp>
      <p:sp>
        <p:nvSpPr>
          <p:cNvPr id="17" name="TextBox 16"/>
          <p:cNvSpPr txBox="1"/>
          <p:nvPr/>
        </p:nvSpPr>
        <p:spPr>
          <a:xfrm>
            <a:off x="4443983" y="3182112"/>
            <a:ext cx="3401568" cy="822960"/>
          </a:xfrm>
          <a:prstGeom prst="rect">
            <a:avLst/>
          </a:prstGeom>
          <a:noFill/>
        </p:spPr>
        <p:txBody>
          <a:bodyPr wrap="square" lIns="9144" rIns="9144" tIns="9144" bIns="9144">
            <a:spAutoFit/>
          </a:bodyPr>
          <a:lstStyle/>
          <a:p>
            <a:pPr>
              <a:lnSpc>
                <a:spcPct val="105000"/>
              </a:lnSpc>
              <a:spcBef>
                <a:spcPts val="0"/>
              </a:spcBef>
              <a:spcAft>
                <a:spcPts val="0"/>
              </a:spcAft>
              <a:defRPr sz="2700" b="0" i="0">
                <a:solidFill>
                  <a:srgbClr val="23392F"/>
                </a:solidFill>
                <a:latin typeface="Liberation Serif"/>
              </a:defRPr>
            </a:pPr>
            <a:r>
              <a:t>Pilot hotel ads</a:t>
            </a:r>
          </a:p>
        </p:txBody>
      </p:sp>
      <p:sp>
        <p:nvSpPr>
          <p:cNvPr id="18" name="TextBox 17"/>
          <p:cNvSpPr txBox="1"/>
          <p:nvPr/>
        </p:nvSpPr>
        <p:spPr>
          <a:xfrm>
            <a:off x="4443983" y="4023360"/>
            <a:ext cx="3419856" cy="1508760"/>
          </a:xfrm>
          <a:prstGeom prst="rect">
            <a:avLst/>
          </a:prstGeom>
          <a:noFill/>
        </p:spPr>
        <p:txBody>
          <a:bodyPr wrap="square" lIns="9144" rIns="9144" tIns="9144" bIns="9144">
            <a:spAutoFit/>
          </a:bodyPr>
          <a:lstStyle/>
          <a:p>
            <a:pPr>
              <a:lnSpc>
                <a:spcPct val="105000"/>
              </a:lnSpc>
              <a:spcBef>
                <a:spcPts val="0"/>
              </a:spcBef>
              <a:spcAft>
                <a:spcPts val="0"/>
              </a:spcAft>
              <a:defRPr sz="1900" b="0" i="0">
                <a:solidFill>
                  <a:srgbClr val="657268"/>
                </a:solidFill>
                <a:latin typeface="Liberation Sans"/>
              </a:defRPr>
            </a:pPr>
            <a:r>
              <a:t>Verify hotel details.</a:t>
            </a:r>
          </a:p>
          <a:p>
            <a:pPr>
              <a:lnSpc>
                <a:spcPct val="105000"/>
              </a:lnSpc>
              <a:spcBef>
                <a:spcPts val="0"/>
              </a:spcBef>
              <a:spcAft>
                <a:spcPts val="0"/>
              </a:spcAft>
              <a:defRPr sz="1900" b="0" i="0">
                <a:solidFill>
                  <a:srgbClr val="657268"/>
                </a:solidFill>
                <a:latin typeface="Liberation Sans"/>
              </a:defRPr>
            </a:pPr>
            <a:r>
              <a:t>Label every promotion.</a:t>
            </a:r>
          </a:p>
          <a:p>
            <a:pPr>
              <a:lnSpc>
                <a:spcPct val="105000"/>
              </a:lnSpc>
              <a:spcBef>
                <a:spcPts val="0"/>
              </a:spcBef>
              <a:spcAft>
                <a:spcPts val="0"/>
              </a:spcAft>
              <a:defRPr sz="1900" b="0" i="0">
                <a:solidFill>
                  <a:srgbClr val="657268"/>
                </a:solidFill>
                <a:latin typeface="Liberation Sans"/>
              </a:defRPr>
            </a:pPr>
            <a:r>
              <a:t>Test willingness to pay.</a:t>
            </a:r>
          </a:p>
        </p:txBody>
      </p:sp>
      <p:cxnSp>
        <p:nvCxnSpPr>
          <p:cNvPr id="19" name="Connector 18"/>
          <p:cNvCxnSpPr/>
          <p:nvPr/>
        </p:nvCxnSpPr>
        <p:spPr>
          <a:xfrm>
            <a:off x="8220456" y="2441448"/>
            <a:ext cx="3401568" cy="0"/>
          </a:xfrm>
          <a:prstGeom prst="line">
            <a:avLst/>
          </a:prstGeom>
          <a:ln w="25400">
            <a:solidFill>
              <a:srgbClr val="264B3A"/>
            </a:solidFill>
          </a:ln>
        </p:spPr>
        <p:style>
          <a:lnRef idx="2">
            <a:schemeClr val="accent1"/>
          </a:lnRef>
          <a:fillRef idx="0">
            <a:schemeClr val="accent1"/>
          </a:fillRef>
          <a:effectRef idx="0">
            <a:schemeClr val="accent1"/>
          </a:effectRef>
          <a:fontRef idx="minor">
            <a:schemeClr val="tx1"/>
          </a:fontRef>
        </p:style>
      </p:cxnSp>
      <p:sp>
        <p:nvSpPr>
          <p:cNvPr id="20" name="TextBox 19"/>
          <p:cNvSpPr txBox="1"/>
          <p:nvPr/>
        </p:nvSpPr>
        <p:spPr>
          <a:xfrm>
            <a:off x="8220456" y="2706624"/>
            <a:ext cx="3383280" cy="237744"/>
          </a:xfrm>
          <a:prstGeom prst="rect">
            <a:avLst/>
          </a:prstGeom>
          <a:noFill/>
        </p:spPr>
        <p:txBody>
          <a:bodyPr wrap="square" lIns="9144" rIns="9144" tIns="9144" bIns="9144">
            <a:spAutoFit/>
          </a:bodyPr>
          <a:lstStyle/>
          <a:p>
            <a:pPr>
              <a:lnSpc>
                <a:spcPct val="105000"/>
              </a:lnSpc>
              <a:spcBef>
                <a:spcPts val="0"/>
              </a:spcBef>
              <a:spcAft>
                <a:spcPts val="0"/>
              </a:spcAft>
              <a:defRPr sz="1000" b="0" i="0">
                <a:solidFill>
                  <a:srgbClr val="A8472E"/>
                </a:solidFill>
                <a:latin typeface="Liberation Mono"/>
              </a:defRPr>
            </a:pPr>
            <a:r>
              <a:t>03 / IMPROVE</a:t>
            </a:r>
          </a:p>
        </p:txBody>
      </p:sp>
      <p:sp>
        <p:nvSpPr>
          <p:cNvPr id="21" name="TextBox 20"/>
          <p:cNvSpPr txBox="1"/>
          <p:nvPr/>
        </p:nvSpPr>
        <p:spPr>
          <a:xfrm>
            <a:off x="8220456" y="3182112"/>
            <a:ext cx="3401568" cy="822960"/>
          </a:xfrm>
          <a:prstGeom prst="rect">
            <a:avLst/>
          </a:prstGeom>
          <a:noFill/>
        </p:spPr>
        <p:txBody>
          <a:bodyPr wrap="square" lIns="9144" rIns="9144" tIns="9144" bIns="9144">
            <a:spAutoFit/>
          </a:bodyPr>
          <a:lstStyle/>
          <a:p>
            <a:pPr>
              <a:lnSpc>
                <a:spcPct val="105000"/>
              </a:lnSpc>
              <a:spcBef>
                <a:spcPts val="0"/>
              </a:spcBef>
              <a:spcAft>
                <a:spcPts val="0"/>
              </a:spcAft>
              <a:defRPr sz="2700" b="0" i="0">
                <a:solidFill>
                  <a:srgbClr val="23392F"/>
                </a:solidFill>
                <a:latin typeface="Liberation Serif"/>
              </a:defRPr>
            </a:pPr>
            <a:r>
              <a:t>Improve coverage</a:t>
            </a:r>
          </a:p>
        </p:txBody>
      </p:sp>
      <p:sp>
        <p:nvSpPr>
          <p:cNvPr id="22" name="TextBox 21"/>
          <p:cNvSpPr txBox="1"/>
          <p:nvPr/>
        </p:nvSpPr>
        <p:spPr>
          <a:xfrm>
            <a:off x="8220456" y="4023360"/>
            <a:ext cx="3419856" cy="1508760"/>
          </a:xfrm>
          <a:prstGeom prst="rect">
            <a:avLst/>
          </a:prstGeom>
          <a:noFill/>
        </p:spPr>
        <p:txBody>
          <a:bodyPr wrap="square" lIns="9144" rIns="9144" tIns="9144" bIns="9144">
            <a:spAutoFit/>
          </a:bodyPr>
          <a:lstStyle/>
          <a:p>
            <a:pPr>
              <a:lnSpc>
                <a:spcPct val="105000"/>
              </a:lnSpc>
              <a:spcBef>
                <a:spcPts val="0"/>
              </a:spcBef>
              <a:spcAft>
                <a:spcPts val="0"/>
              </a:spcAft>
              <a:defRPr sz="1900" b="0" i="0">
                <a:solidFill>
                  <a:srgbClr val="657268"/>
                </a:solidFill>
                <a:latin typeface="Liberation Sans"/>
              </a:defRPr>
            </a:pPr>
            <a:r>
              <a:t>Evaluate source freshness.</a:t>
            </a:r>
          </a:p>
          <a:p>
            <a:pPr>
              <a:lnSpc>
                <a:spcPct val="105000"/>
              </a:lnSpc>
              <a:spcBef>
                <a:spcPts val="0"/>
              </a:spcBef>
              <a:spcAft>
                <a:spcPts val="0"/>
              </a:spcAft>
              <a:defRPr sz="1900" b="0" i="0">
                <a:solidFill>
                  <a:srgbClr val="657268"/>
                </a:solidFill>
                <a:latin typeface="Liberation Sans"/>
              </a:defRPr>
            </a:pPr>
            <a:r>
              <a:t>Add local-language reporting.</a:t>
            </a:r>
          </a:p>
          <a:p>
            <a:pPr>
              <a:lnSpc>
                <a:spcPct val="105000"/>
              </a:lnSpc>
              <a:spcBef>
                <a:spcPts val="0"/>
              </a:spcBef>
              <a:spcAft>
                <a:spcPts val="0"/>
              </a:spcAft>
              <a:defRPr sz="1900" b="0" i="0">
                <a:solidFill>
                  <a:srgbClr val="657268"/>
                </a:solidFill>
                <a:latin typeface="Liberation Sans"/>
              </a:defRPr>
            </a:pPr>
            <a:r>
              <a:t>Prepare to scale.</a:t>
            </a:r>
          </a:p>
        </p:txBody>
      </p:sp>
      <p:sp>
        <p:nvSpPr>
          <p:cNvPr id="23" name="TextBox 22"/>
          <p:cNvSpPr txBox="1"/>
          <p:nvPr/>
        </p:nvSpPr>
        <p:spPr>
          <a:xfrm>
            <a:off x="685800" y="5852160"/>
            <a:ext cx="10881360" cy="320040"/>
          </a:xfrm>
          <a:prstGeom prst="rect">
            <a:avLst/>
          </a:prstGeom>
          <a:noFill/>
        </p:spPr>
        <p:txBody>
          <a:bodyPr wrap="square" lIns="9144" rIns="9144" tIns="9144" bIns="9144">
            <a:spAutoFit/>
          </a:bodyPr>
          <a:lstStyle/>
          <a:p>
            <a:pPr>
              <a:lnSpc>
                <a:spcPct val="105000"/>
              </a:lnSpc>
              <a:spcBef>
                <a:spcPts val="0"/>
              </a:spcBef>
              <a:spcAft>
                <a:spcPts val="0"/>
              </a:spcAft>
              <a:defRPr sz="1500" b="0" i="0">
                <a:solidFill>
                  <a:srgbClr val="657268"/>
                </a:solidFill>
                <a:latin typeface="Liberation Sans"/>
              </a:defRPr>
            </a:pPr>
            <a:r>
              <a:t>Pilot targets and future work—not existing users, partners or revenue.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64B3A"/>
        </a:solidFill>
        <a:effectLst/>
      </p:bgPr>
    </p:bg>
    <p:spTree>
      <p:nvGrpSpPr>
        <p:cNvPr id="1" name=""/>
        <p:cNvGrpSpPr/>
        <p:nvPr/>
      </p:nvGrpSpPr>
      <p:grpSpPr/>
      <p:sp>
        <p:nvSpPr>
          <p:cNvPr id="2" name="Oval 1"/>
          <p:cNvSpPr/>
          <p:nvPr/>
        </p:nvSpPr>
        <p:spPr>
          <a:xfrm>
            <a:off x="548640" y="265176"/>
            <a:ext cx="256032" cy="256032"/>
          </a:xfrm>
          <a:prstGeom prst="ellipse">
            <a:avLst/>
          </a:prstGeom>
          <a:solidFill>
            <a:srgbClr val="264B3A"/>
          </a:solidFill>
          <a:ln w="20320">
            <a:solidFill>
              <a:srgbClr val="C6D8A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Diamond 2"/>
          <p:cNvSpPr/>
          <p:nvPr/>
        </p:nvSpPr>
        <p:spPr>
          <a:xfrm rot="2100000">
            <a:off x="638251" y="318942"/>
            <a:ext cx="76809" cy="148498"/>
          </a:xfrm>
          <a:prstGeom prst="diamond">
            <a:avLst/>
          </a:prstGeom>
          <a:solidFill>
            <a:srgbClr val="C6D8A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Oval 3"/>
          <p:cNvSpPr/>
          <p:nvPr/>
        </p:nvSpPr>
        <p:spPr>
          <a:xfrm>
            <a:off x="663854" y="380390"/>
            <a:ext cx="25603" cy="25603"/>
          </a:xfrm>
          <a:prstGeom prst="ellipse">
            <a:avLst/>
          </a:prstGeom>
          <a:solidFill>
            <a:srgbClr val="264B3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914400" y="292608"/>
            <a:ext cx="7955279" cy="237744"/>
          </a:xfrm>
          <a:prstGeom prst="rect">
            <a:avLst/>
          </a:prstGeom>
          <a:noFill/>
        </p:spPr>
        <p:txBody>
          <a:bodyPr wrap="square" lIns="9144" rIns="9144" tIns="9144" bIns="9144">
            <a:spAutoFit/>
          </a:bodyPr>
          <a:lstStyle/>
          <a:p>
            <a:pPr>
              <a:lnSpc>
                <a:spcPct val="105000"/>
              </a:lnSpc>
              <a:spcBef>
                <a:spcPts val="0"/>
              </a:spcBef>
              <a:spcAft>
                <a:spcPts val="0"/>
              </a:spcAft>
              <a:defRPr sz="1000" b="0" i="0">
                <a:solidFill>
                  <a:srgbClr val="C6D8AB"/>
                </a:solidFill>
                <a:latin typeface="Liberation Mono"/>
              </a:defRPr>
            </a:pPr>
            <a:r>
              <a:t>TRACERISK / THANK YOU</a:t>
            </a:r>
          </a:p>
        </p:txBody>
      </p:sp>
      <p:sp>
        <p:nvSpPr>
          <p:cNvPr id="6" name="TextBox 5"/>
          <p:cNvSpPr txBox="1"/>
          <p:nvPr/>
        </p:nvSpPr>
        <p:spPr>
          <a:xfrm>
            <a:off x="9774936" y="292608"/>
            <a:ext cx="1965960" cy="237744"/>
          </a:xfrm>
          <a:prstGeom prst="rect">
            <a:avLst/>
          </a:prstGeom>
          <a:noFill/>
        </p:spPr>
        <p:txBody>
          <a:bodyPr wrap="square" lIns="9144" rIns="9144" tIns="9144" bIns="9144">
            <a:spAutoFit/>
          </a:bodyPr>
          <a:lstStyle/>
          <a:p>
            <a:pPr>
              <a:lnSpc>
                <a:spcPct val="105000"/>
              </a:lnSpc>
              <a:spcBef>
                <a:spcPts val="0"/>
              </a:spcBef>
              <a:spcAft>
                <a:spcPts val="0"/>
              </a:spcAft>
              <a:defRPr sz="1000" b="0" i="0">
                <a:solidFill>
                  <a:srgbClr val="C6D8AB"/>
                </a:solidFill>
                <a:latin typeface="Liberation Mono"/>
              </a:defRPr>
            </a:pPr>
            <a:r>
              <a:t>AZINHACK 2026</a:t>
            </a:r>
          </a:p>
        </p:txBody>
      </p:sp>
      <p:cxnSp>
        <p:nvCxnSpPr>
          <p:cNvPr id="7" name="Connector 6"/>
          <p:cNvCxnSpPr/>
          <p:nvPr/>
        </p:nvCxnSpPr>
        <p:spPr>
          <a:xfrm>
            <a:off x="548640" y="6345936"/>
            <a:ext cx="11091672" cy="0"/>
          </a:xfrm>
          <a:prstGeom prst="line">
            <a:avLst/>
          </a:prstGeom>
          <a:ln w="10160">
            <a:solidFill>
              <a:srgbClr val="506D59"/>
            </a:solidFill>
          </a:ln>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85216" y="6492240"/>
            <a:ext cx="7315200" cy="237744"/>
          </a:xfrm>
          <a:prstGeom prst="rect">
            <a:avLst/>
          </a:prstGeom>
          <a:noFill/>
        </p:spPr>
        <p:txBody>
          <a:bodyPr wrap="square" lIns="9144" rIns="9144" tIns="9144" bIns="9144">
            <a:spAutoFit/>
          </a:bodyPr>
          <a:lstStyle/>
          <a:p>
            <a:pPr>
              <a:lnSpc>
                <a:spcPct val="105000"/>
              </a:lnSpc>
              <a:spcBef>
                <a:spcPts val="0"/>
              </a:spcBef>
              <a:spcAft>
                <a:spcPts val="0"/>
              </a:spcAft>
              <a:defRPr sz="800" b="0" i="0">
                <a:solidFill>
                  <a:srgbClr val="C6D8AB"/>
                </a:solidFill>
                <a:latin typeface="Liberation Mono"/>
              </a:defRPr>
            </a:pPr>
            <a:r>
              <a:t>THE TRAVEL FIELD GUIDE FOR INDIA</a:t>
            </a:r>
          </a:p>
        </p:txBody>
      </p:sp>
      <p:sp>
        <p:nvSpPr>
          <p:cNvPr id="9" name="TextBox 8"/>
          <p:cNvSpPr txBox="1"/>
          <p:nvPr/>
        </p:nvSpPr>
        <p:spPr>
          <a:xfrm>
            <a:off x="10963656" y="6492240"/>
            <a:ext cx="731520" cy="237744"/>
          </a:xfrm>
          <a:prstGeom prst="rect">
            <a:avLst/>
          </a:prstGeom>
          <a:noFill/>
        </p:spPr>
        <p:txBody>
          <a:bodyPr wrap="square" lIns="9144" rIns="9144" tIns="9144" bIns="9144">
            <a:spAutoFit/>
          </a:bodyPr>
          <a:lstStyle/>
          <a:p>
            <a:pPr>
              <a:lnSpc>
                <a:spcPct val="105000"/>
              </a:lnSpc>
              <a:spcBef>
                <a:spcPts val="0"/>
              </a:spcBef>
              <a:spcAft>
                <a:spcPts val="0"/>
              </a:spcAft>
              <a:defRPr sz="800" b="0" i="0">
                <a:solidFill>
                  <a:srgbClr val="C6D8AB"/>
                </a:solidFill>
                <a:latin typeface="Liberation Mono"/>
              </a:defRPr>
            </a:pPr>
            <a:r>
              <a:t>12 / 12</a:t>
            </a:r>
          </a:p>
        </p:txBody>
      </p:sp>
      <p:sp>
        <p:nvSpPr>
          <p:cNvPr id="10" name="TextBox 9"/>
          <p:cNvSpPr txBox="1"/>
          <p:nvPr/>
        </p:nvSpPr>
        <p:spPr>
          <a:xfrm>
            <a:off x="685800" y="1417320"/>
            <a:ext cx="10789920" cy="237744"/>
          </a:xfrm>
          <a:prstGeom prst="rect">
            <a:avLst/>
          </a:prstGeom>
          <a:noFill/>
        </p:spPr>
        <p:txBody>
          <a:bodyPr wrap="square" lIns="9144" rIns="9144" tIns="9144" bIns="9144">
            <a:spAutoFit/>
          </a:bodyPr>
          <a:lstStyle/>
          <a:p>
            <a:pPr>
              <a:lnSpc>
                <a:spcPct val="105000"/>
              </a:lnSpc>
              <a:spcBef>
                <a:spcPts val="0"/>
              </a:spcBef>
              <a:spcAft>
                <a:spcPts val="0"/>
              </a:spcAft>
              <a:defRPr sz="1100" b="0" i="0">
                <a:solidFill>
                  <a:srgbClr val="C6D8AB"/>
                </a:solidFill>
                <a:latin typeface="Liberation Mono"/>
              </a:defRPr>
            </a:pPr>
            <a:r>
              <a:t>EXPLORE WITH CURIOSITY. TRAVEL WITH CONTEXT.</a:t>
            </a:r>
          </a:p>
        </p:txBody>
      </p:sp>
      <p:sp>
        <p:nvSpPr>
          <p:cNvPr id="11" name="TextBox 10"/>
          <p:cNvSpPr txBox="1"/>
          <p:nvPr/>
        </p:nvSpPr>
        <p:spPr>
          <a:xfrm>
            <a:off x="640080" y="2039112"/>
            <a:ext cx="9692640" cy="1682496"/>
          </a:xfrm>
          <a:prstGeom prst="rect">
            <a:avLst/>
          </a:prstGeom>
          <a:noFill/>
        </p:spPr>
        <p:txBody>
          <a:bodyPr wrap="square" lIns="9144" rIns="9144" tIns="9144" bIns="9144">
            <a:spAutoFit/>
          </a:bodyPr>
          <a:lstStyle/>
          <a:p>
            <a:pPr>
              <a:lnSpc>
                <a:spcPct val="105000"/>
              </a:lnSpc>
              <a:spcBef>
                <a:spcPts val="0"/>
              </a:spcBef>
              <a:spcAft>
                <a:spcPts val="0"/>
              </a:spcAft>
              <a:defRPr sz="5000" b="0" i="0">
                <a:solidFill>
                  <a:srgbClr val="F6F4ED"/>
                </a:solidFill>
                <a:latin typeface="Liberation Serif"/>
              </a:defRPr>
            </a:pPr>
            <a:r>
              <a:t>Good journeys start</a:t>
            </a:r>
          </a:p>
          <a:p>
            <a:pPr>
              <a:lnSpc>
                <a:spcPct val="105000"/>
              </a:lnSpc>
              <a:spcBef>
                <a:spcPts val="0"/>
              </a:spcBef>
              <a:spcAft>
                <a:spcPts val="0"/>
              </a:spcAft>
              <a:defRPr sz="5000" b="0" i="0">
                <a:solidFill>
                  <a:srgbClr val="F6F4ED"/>
                </a:solidFill>
                <a:latin typeface="Liberation Serif"/>
              </a:defRPr>
            </a:pPr>
            <a:r>
              <a:t>with better context.</a:t>
            </a:r>
          </a:p>
        </p:txBody>
      </p:sp>
      <p:sp>
        <p:nvSpPr>
          <p:cNvPr id="12" name="TextBox 11"/>
          <p:cNvSpPr txBox="1"/>
          <p:nvPr/>
        </p:nvSpPr>
        <p:spPr>
          <a:xfrm>
            <a:off x="685800" y="4178808"/>
            <a:ext cx="7589520" cy="630936"/>
          </a:xfrm>
          <a:prstGeom prst="rect">
            <a:avLst/>
          </a:prstGeom>
          <a:noFill/>
        </p:spPr>
        <p:txBody>
          <a:bodyPr wrap="square" lIns="9144" rIns="9144" tIns="9144" bIns="9144">
            <a:spAutoFit/>
          </a:bodyPr>
          <a:lstStyle/>
          <a:p>
            <a:pPr>
              <a:lnSpc>
                <a:spcPct val="105000"/>
              </a:lnSpc>
              <a:spcBef>
                <a:spcPts val="0"/>
              </a:spcBef>
              <a:spcAft>
                <a:spcPts val="0"/>
              </a:spcAft>
              <a:defRPr sz="3100" b="0" i="0">
                <a:solidFill>
                  <a:srgbClr val="F6F4ED"/>
                </a:solidFill>
                <a:latin typeface="Liberation Serif"/>
              </a:defRPr>
            </a:pPr>
            <a:r>
              <a:t>TraceRisk</a:t>
            </a:r>
          </a:p>
        </p:txBody>
      </p:sp>
      <p:sp>
        <p:nvSpPr>
          <p:cNvPr id="13" name="TextBox 12"/>
          <p:cNvSpPr txBox="1"/>
          <p:nvPr/>
        </p:nvSpPr>
        <p:spPr>
          <a:xfrm>
            <a:off x="713232" y="4919472"/>
            <a:ext cx="8229600" cy="448056"/>
          </a:xfrm>
          <a:prstGeom prst="rect">
            <a:avLst/>
          </a:prstGeom>
          <a:noFill/>
        </p:spPr>
        <p:txBody>
          <a:bodyPr wrap="square" lIns="9144" rIns="9144" tIns="9144" bIns="9144">
            <a:spAutoFit/>
          </a:bodyPr>
          <a:lstStyle/>
          <a:p>
            <a:pPr>
              <a:lnSpc>
                <a:spcPct val="105000"/>
              </a:lnSpc>
              <a:spcBef>
                <a:spcPts val="0"/>
              </a:spcBef>
              <a:spcAft>
                <a:spcPts val="0"/>
              </a:spcAft>
              <a:defRPr sz="2400" b="0" i="0">
                <a:solidFill>
                  <a:srgbClr val="C6D8AB"/>
                </a:solidFill>
                <a:latin typeface="Liberation Sans"/>
              </a:defRPr>
            </a:pPr>
            <a:r>
              <a:t>Thank you. Questions?</a:t>
            </a:r>
          </a:p>
        </p:txBody>
      </p:sp>
      <p:sp>
        <p:nvSpPr>
          <p:cNvPr id="14" name="TextBox 13"/>
          <p:cNvSpPr txBox="1"/>
          <p:nvPr/>
        </p:nvSpPr>
        <p:spPr>
          <a:xfrm>
            <a:off x="722376" y="5641848"/>
            <a:ext cx="9966960" cy="365760"/>
          </a:xfrm>
          <a:prstGeom prst="rect">
            <a:avLst/>
          </a:prstGeom>
          <a:noFill/>
        </p:spPr>
        <p:txBody>
          <a:bodyPr wrap="square" lIns="9144" rIns="9144" tIns="9144" bIns="9144">
            <a:spAutoFit/>
          </a:bodyPr>
          <a:lstStyle/>
          <a:p>
            <a:pPr>
              <a:lnSpc>
                <a:spcPct val="105000"/>
              </a:lnSpc>
              <a:spcBef>
                <a:spcPts val="0"/>
              </a:spcBef>
              <a:spcAft>
                <a:spcPts val="0"/>
              </a:spcAft>
              <a:defRPr sz="1800" b="0" i="0">
                <a:solidFill>
                  <a:srgbClr val="F6F4ED"/>
                </a:solidFill>
                <a:latin typeface="Liberation Sans"/>
              </a:defRPr>
            </a:pPr>
            <a:r>
              <a:rPr>
                <a:hlinkClick r:id="rId2"/>
              </a:rPr>
              <a:t>github.com/codeby-irFAN/TraceRisk</a:t>
            </a:r>
          </a:p>
        </p:txBody>
      </p:sp>
      <p:sp>
        <p:nvSpPr>
          <p:cNvPr id="15" name="Oval 14"/>
          <p:cNvSpPr/>
          <p:nvPr/>
        </p:nvSpPr>
        <p:spPr>
          <a:xfrm>
            <a:off x="10094976" y="4059936"/>
            <a:ext cx="1097280" cy="1097280"/>
          </a:xfrm>
          <a:prstGeom prst="ellipse">
            <a:avLst/>
          </a:prstGeom>
          <a:solidFill>
            <a:srgbClr val="264B3A"/>
          </a:solidFill>
          <a:ln w="20320">
            <a:solidFill>
              <a:srgbClr val="C6D8A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Diamond 15"/>
          <p:cNvSpPr/>
          <p:nvPr/>
        </p:nvSpPr>
        <p:spPr>
          <a:xfrm rot="2100000">
            <a:off x="10479024" y="4290364"/>
            <a:ext cx="329184" cy="636422"/>
          </a:xfrm>
          <a:prstGeom prst="diamond">
            <a:avLst/>
          </a:prstGeom>
          <a:solidFill>
            <a:srgbClr val="C6D8A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Oval 16"/>
          <p:cNvSpPr/>
          <p:nvPr/>
        </p:nvSpPr>
        <p:spPr>
          <a:xfrm>
            <a:off x="10588752" y="4553712"/>
            <a:ext cx="109728" cy="109728"/>
          </a:xfrm>
          <a:prstGeom prst="ellipse">
            <a:avLst/>
          </a:prstGeom>
          <a:solidFill>
            <a:srgbClr val="264B3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C6D8AB"/>
      </a:hlink>
      <a:folHlink>
        <a:srgbClr val="C6D8A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TraceRisk | Azinhack 2026</dc:title>
  <dc:subject>A simple travel-awareness pitch and proposed hotel monetization model</dc:subject>
  <dc:creator>TraceRisk</dc:creator>
  <cp:keywords>TraceRisk, Azinhack 2026, travel, sponsored hotels</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